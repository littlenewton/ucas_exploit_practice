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7"/>
  </p:handoutMasterIdLst>
  <p:sldIdLst>
    <p:sldId id="405" r:id="rId3"/>
    <p:sldId id="406" r:id="rId5"/>
    <p:sldId id="404" r:id="rId6"/>
    <p:sldId id="415" r:id="rId7"/>
    <p:sldId id="420" r:id="rId8"/>
    <p:sldId id="409" r:id="rId9"/>
    <p:sldId id="448" r:id="rId10"/>
    <p:sldId id="419" r:id="rId11"/>
    <p:sldId id="412" r:id="rId12"/>
    <p:sldId id="416" r:id="rId13"/>
    <p:sldId id="449" r:id="rId14"/>
    <p:sldId id="431" r:id="rId15"/>
    <p:sldId id="315" r:id="rId16"/>
    <p:sldId id="451" r:id="rId17"/>
    <p:sldId id="453" r:id="rId18"/>
    <p:sldId id="454" r:id="rId19"/>
    <p:sldId id="461" r:id="rId20"/>
    <p:sldId id="430" r:id="rId21"/>
    <p:sldId id="432" r:id="rId22"/>
    <p:sldId id="437" r:id="rId23"/>
    <p:sldId id="455" r:id="rId24"/>
    <p:sldId id="411" r:id="rId25"/>
    <p:sldId id="422" r:id="rId26"/>
    <p:sldId id="426" r:id="rId27"/>
    <p:sldId id="427" r:id="rId28"/>
    <p:sldId id="429" r:id="rId29"/>
    <p:sldId id="434" r:id="rId30"/>
    <p:sldId id="450" r:id="rId31"/>
    <p:sldId id="444" r:id="rId32"/>
    <p:sldId id="439" r:id="rId33"/>
    <p:sldId id="443" r:id="rId34"/>
    <p:sldId id="445" r:id="rId35"/>
    <p:sldId id="326" r:id="rId3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黑体" panose="02010609060101010101" pitchFamily="49"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黑体" panose="02010609060101010101" pitchFamily="49"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黑体" panose="02010609060101010101" pitchFamily="49"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黑体" panose="02010609060101010101" pitchFamily="49"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黑体" panose="02010609060101010101"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黑体" panose="02010609060101010101"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黑体" panose="02010609060101010101"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黑体" panose="02010609060101010101"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黑体" panose="02010609060101010101"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622820"/>
    <a:srgbClr val="D8F6F8"/>
    <a:srgbClr val="E1F8F7"/>
    <a:srgbClr val="92D050"/>
    <a:srgbClr val="2795A4"/>
    <a:srgbClr val="FFFFCC"/>
    <a:srgbClr val="FF7C8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85106" autoAdjust="0"/>
  </p:normalViewPr>
  <p:slideViewPr>
    <p:cSldViewPr>
      <p:cViewPr varScale="1">
        <p:scale>
          <a:sx n="73" d="100"/>
          <a:sy n="73" d="100"/>
        </p:scale>
        <p:origin x="1723" y="72"/>
      </p:cViewPr>
      <p:guideLst>
        <p:guide orient="horz" pos="2160"/>
        <p:guide pos="2802"/>
      </p:guideLst>
    </p:cSldViewPr>
  </p:slideViewPr>
  <p:outlineViewPr>
    <p:cViewPr>
      <p:scale>
        <a:sx n="33" d="100"/>
        <a:sy n="33" d="100"/>
      </p:scale>
      <p:origin x="72" y="5133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2" d="100"/>
          <a:sy n="52" d="100"/>
        </p:scale>
        <p:origin x="2674" y="5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5F99A4-3D89-426B-9B10-9124F9AB426E}"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729F7B-682B-4325-B612-281EF025469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fld id="{F6B0E6E8-EC68-4B94-BECB-01FE5843A22C}"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fld id="{A6E2E758-AF5E-403E-8886-D2B0E2F05021}"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今天先对涉及到的堆的基本知识进行介绍，包括数据结构、</a:t>
            </a:r>
            <a:r>
              <a:rPr lang="en-US" altLang="zh-CN" dirty="0"/>
              <a:t>Chunk</a:t>
            </a:r>
            <a:r>
              <a:rPr lang="zh-CN" altLang="en-US" dirty="0"/>
              <a:t>、管理方式以及内存分配和释放函数。再对基础简单的堆漏洞进行讲解，包括堆溢出、</a:t>
            </a:r>
            <a:r>
              <a:rPr lang="en-US" altLang="zh-CN" dirty="0"/>
              <a:t>Double free()</a:t>
            </a:r>
            <a:r>
              <a:rPr lang="zh-CN" altLang="en-US" dirty="0"/>
              <a:t>、</a:t>
            </a:r>
            <a:r>
              <a:rPr lang="en-US" altLang="zh-CN" dirty="0"/>
              <a:t>User After free()</a:t>
            </a:r>
            <a:r>
              <a:rPr lang="zh-CN" altLang="en-US" dirty="0"/>
              <a:t>、</a:t>
            </a:r>
            <a:r>
              <a:rPr lang="en-US" altLang="zh-CN" dirty="0"/>
              <a:t>Unlink</a:t>
            </a:r>
            <a:r>
              <a:rPr lang="zh-CN" altLang="en-US" dirty="0"/>
              <a:t>四种漏洞，并在实验中演示对漏洞的利用。</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堆在内存中的位置如图</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回顾堆创建过程，最开始</a:t>
            </a:r>
            <a:r>
              <a:rPr lang="en-US" altLang="zh-CN" dirty="0"/>
              <a:t>Arena</a:t>
            </a:r>
            <a:r>
              <a:rPr lang="zh-CN" altLang="en-US" dirty="0"/>
              <a:t>里就一个</a:t>
            </a:r>
            <a:r>
              <a:rPr lang="en-US" altLang="zh-CN" dirty="0"/>
              <a:t>Top chunk</a:t>
            </a:r>
            <a:r>
              <a:rPr lang="zh-CN" altLang="en-US" dirty="0"/>
              <a:t>，用户申请一块内存，从</a:t>
            </a:r>
            <a:r>
              <a:rPr lang="en-US" altLang="zh-CN" dirty="0"/>
              <a:t>Top chunk</a:t>
            </a:r>
            <a:r>
              <a:rPr lang="zh-CN" altLang="en-US" dirty="0"/>
              <a:t>分出一块</a:t>
            </a:r>
            <a:r>
              <a:rPr lang="en-US" altLang="zh-CN" dirty="0"/>
              <a:t>Allocated chunk</a:t>
            </a:r>
            <a:r>
              <a:rPr lang="zh-CN" altLang="en-US" dirty="0"/>
              <a:t>，释放申请的内存，出现</a:t>
            </a:r>
            <a:r>
              <a:rPr lang="en-US" altLang="zh-CN" dirty="0"/>
              <a:t>Free chunk</a:t>
            </a:r>
            <a:r>
              <a:rPr lang="zh-CN" altLang="en-US" dirty="0"/>
              <a:t>。</a:t>
            </a:r>
            <a:r>
              <a:rPr lang="en-US" altLang="zh-CN" dirty="0"/>
              <a:t>Last remainder chunk</a:t>
            </a:r>
            <a:r>
              <a:rPr lang="zh-CN" altLang="en-US" dirty="0"/>
              <a:t>暂时用不到，可以参考老师的</a:t>
            </a:r>
            <a:r>
              <a:rPr lang="en-US" altLang="zh-CN" dirty="0"/>
              <a:t>PPT</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前两个本次实验用不到，参考老师</a:t>
            </a:r>
            <a:r>
              <a:rPr lang="en-US" altLang="zh-CN" dirty="0"/>
              <a:t>PPT</a:t>
            </a:r>
            <a:r>
              <a:rPr lang="zh-CN" altLang="en-US" dirty="0"/>
              <a:t>和参考文献</a:t>
            </a:r>
            <a:r>
              <a:rPr lang="en-US" altLang="zh-CN" dirty="0"/>
              <a:t>1</a:t>
            </a:r>
            <a:r>
              <a:rPr lang="zh-CN" altLang="en-US" dirty="0"/>
              <a:t>，</a:t>
            </a:r>
            <a:r>
              <a:rPr lang="en-US" altLang="zh-CN" dirty="0" err="1"/>
              <a:t>malloc_chunk</a:t>
            </a:r>
            <a:r>
              <a:rPr lang="zh-CN" altLang="en-US" dirty="0"/>
              <a:t>是非常重要的结构体，在堆漏洞的理解与利用中应用广泛。且在不同类的</a:t>
            </a:r>
            <a:r>
              <a:rPr lang="en-US" altLang="zh-CN" dirty="0"/>
              <a:t>chunk</a:t>
            </a:r>
            <a:r>
              <a:rPr lang="zh-CN" altLang="en-US" dirty="0"/>
              <a:t>中</a:t>
            </a:r>
            <a:r>
              <a:rPr lang="en-US" altLang="zh-CN" dirty="0"/>
              <a:t>chunk</a:t>
            </a:r>
            <a:r>
              <a:rPr lang="zh-CN" altLang="en-US" dirty="0"/>
              <a:t>的具体结构不同。</a:t>
            </a:r>
            <a:r>
              <a:rPr lang="zh-CN" altLang="en-US">
                <a:sym typeface="+mn-ea"/>
              </a:rPr>
              <a:t>主线程没有多个堆，因此没有</a:t>
            </a:r>
            <a:r>
              <a:rPr lang="en-US" altLang="zh-CN">
                <a:sym typeface="+mn-ea"/>
              </a:rPr>
              <a:t>heap_info</a:t>
            </a:r>
            <a:r>
              <a:rPr lang="zh-CN" altLang="en-US">
                <a:sym typeface="+mn-ea"/>
              </a:rPr>
              <a:t>结构；</a:t>
            </a:r>
            <a:r>
              <a:rPr lang="en-US" altLang="zh-CN">
                <a:sym typeface="+mn-ea"/>
              </a:rPr>
              <a:t>malloc_state</a:t>
            </a:r>
            <a:r>
              <a:rPr lang="zh-CN" altLang="en-US">
                <a:sym typeface="+mn-ea"/>
              </a:rPr>
              <a:t>也就是</a:t>
            </a:r>
            <a:r>
              <a:rPr lang="en-US" altLang="zh-CN">
                <a:sym typeface="+mn-ea"/>
              </a:rPr>
              <a:t>arena header</a:t>
            </a:r>
            <a:r>
              <a:rPr lang="zh-CN" altLang="en-US">
                <a:sym typeface="+mn-ea"/>
              </a:rPr>
              <a:t>，包含</a:t>
            </a:r>
            <a:r>
              <a:rPr lang="en-US" altLang="zh-CN">
                <a:sym typeface="+mn-ea"/>
              </a:rPr>
              <a:t>bins</a:t>
            </a:r>
            <a:r>
              <a:rPr lang="zh-CN" altLang="en-US">
                <a:sym typeface="+mn-ea"/>
              </a:rPr>
              <a:t>、互斥锁、</a:t>
            </a:r>
            <a:r>
              <a:rPr lang="en-US" altLang="zh-CN">
                <a:sym typeface="+mn-ea"/>
              </a:rPr>
              <a:t>top chunk</a:t>
            </a:r>
            <a:r>
              <a:rPr lang="zh-CN" altLang="en-US">
                <a:sym typeface="+mn-ea"/>
              </a:rPr>
              <a:t>以及</a:t>
            </a:r>
            <a:r>
              <a:rPr lang="en-US" altLang="zh-CN">
                <a:sym typeface="+mn-ea"/>
              </a:rPr>
              <a:t>last remainder chunk</a:t>
            </a:r>
            <a:r>
              <a:rPr lang="zh-CN" altLang="en-US">
                <a:sym typeface="+mn-ea"/>
              </a:rPr>
              <a:t>的信息</a:t>
            </a:r>
            <a:endParaRPr lang="zh-CN" altLang="en-US"/>
          </a:p>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：是否不属于主线程 </a:t>
            </a:r>
            <a:r>
              <a:rPr lang="en-US" altLang="zh-CN" dirty="0"/>
              <a:t>M</a:t>
            </a:r>
            <a:r>
              <a:rPr lang="zh-CN" altLang="en-US" dirty="0"/>
              <a:t>：是否由</a:t>
            </a:r>
            <a:r>
              <a:rPr lang="en-US" altLang="zh-CN" dirty="0" err="1"/>
              <a:t>mmap</a:t>
            </a:r>
            <a:r>
              <a:rPr lang="zh-CN" altLang="en-US" dirty="0"/>
              <a:t>分配 </a:t>
            </a:r>
            <a:r>
              <a:rPr lang="en-US" altLang="zh-CN" dirty="0"/>
              <a:t>P</a:t>
            </a:r>
            <a:r>
              <a:rPr lang="zh-CN" altLang="en-US" dirty="0"/>
              <a:t>：</a:t>
            </a:r>
            <a:r>
              <a:rPr lang="zh-CN" altLang="en-US" sz="1200" b="0" i="0" kern="1200" dirty="0">
                <a:solidFill>
                  <a:schemeClr val="tx1"/>
                </a:solidFill>
                <a:effectLst/>
                <a:latin typeface="+mn-lt"/>
                <a:ea typeface="+mn-ea"/>
                <a:cs typeface="+mn-cs"/>
              </a:rPr>
              <a:t>记录前一个 </a:t>
            </a:r>
            <a:r>
              <a:rPr lang="en-US" altLang="zh-CN" sz="1200" b="0" i="0" kern="1200" dirty="0">
                <a:solidFill>
                  <a:schemeClr val="tx1"/>
                </a:solidFill>
                <a:effectLst/>
                <a:latin typeface="+mn-lt"/>
                <a:ea typeface="+mn-ea"/>
                <a:cs typeface="+mn-cs"/>
              </a:rPr>
              <a:t>chunk </a:t>
            </a:r>
            <a:r>
              <a:rPr lang="zh-CN" altLang="en-US" sz="1200" b="0" i="0" kern="1200" dirty="0">
                <a:solidFill>
                  <a:schemeClr val="tx1"/>
                </a:solidFill>
                <a:effectLst/>
                <a:latin typeface="+mn-lt"/>
                <a:ea typeface="+mn-ea"/>
                <a:cs typeface="+mn-cs"/>
              </a:rPr>
              <a:t>块是否被分配。</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一般来说，堆中第一个被分配的内存块的 </a:t>
            </a:r>
            <a:r>
              <a:rPr lang="en-US" altLang="zh-CN" sz="1200" b="0" i="0" kern="1200" dirty="0">
                <a:solidFill>
                  <a:schemeClr val="tx1"/>
                </a:solidFill>
                <a:effectLst/>
                <a:latin typeface="+mn-lt"/>
                <a:ea typeface="+mn-ea"/>
                <a:cs typeface="+mn-cs"/>
              </a:rPr>
              <a:t>size </a:t>
            </a:r>
            <a:r>
              <a:rPr lang="zh-CN" altLang="en-US" sz="1200" b="0" i="0" kern="1200" dirty="0">
                <a:solidFill>
                  <a:schemeClr val="tx1"/>
                </a:solidFill>
                <a:effectLst/>
                <a:latin typeface="+mn-lt"/>
                <a:ea typeface="+mn-ea"/>
                <a:cs typeface="+mn-cs"/>
              </a:rPr>
              <a:t>字段的</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位都会被设置为</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，以便于防止访问前面的非法内存。</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在用</a:t>
            </a:r>
            <a:r>
              <a:rPr lang="en-US" altLang="zh-CN" sz="1200" b="0" i="0" kern="1200" dirty="0">
                <a:solidFill>
                  <a:schemeClr val="tx1"/>
                </a:solidFill>
                <a:effectLst/>
                <a:latin typeface="+mn-lt"/>
                <a:ea typeface="+mn-ea"/>
                <a:cs typeface="+mn-cs"/>
              </a:rPr>
              <a:t>malloc</a:t>
            </a:r>
            <a:r>
              <a:rPr lang="zh-CN" altLang="en-US" sz="1200" b="0" i="0" kern="1200" dirty="0">
                <a:solidFill>
                  <a:schemeClr val="tx1"/>
                </a:solidFill>
                <a:effectLst/>
                <a:latin typeface="+mn-lt"/>
                <a:ea typeface="+mn-ea"/>
                <a:cs typeface="+mn-cs"/>
              </a:rPr>
              <a:t>申请内存时，返回的指针为</a:t>
            </a:r>
            <a:r>
              <a:rPr lang="en-US" altLang="zh-CN" sz="1200" b="0" i="0" kern="1200" dirty="0">
                <a:solidFill>
                  <a:schemeClr val="tx1"/>
                </a:solidFill>
                <a:effectLst/>
                <a:latin typeface="+mn-lt"/>
                <a:ea typeface="+mn-ea"/>
                <a:cs typeface="+mn-cs"/>
              </a:rPr>
              <a:t>”mem”</a:t>
            </a:r>
            <a:r>
              <a:rPr lang="zh-CN" altLang="en-US" sz="1200" b="0" i="0" kern="1200" dirty="0">
                <a:solidFill>
                  <a:schemeClr val="tx1"/>
                </a:solidFill>
                <a:effectLst/>
                <a:latin typeface="+mn-lt"/>
                <a:ea typeface="+mn-ea"/>
                <a:cs typeface="+mn-cs"/>
              </a:rPr>
              <a:t>，所以要找到块的首地址，需要减掉</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倍的</a:t>
            </a:r>
            <a:r>
              <a:rPr lang="en-US" altLang="zh-CN" sz="1200" b="0" i="0" kern="1200" dirty="0">
                <a:solidFill>
                  <a:schemeClr val="tx1"/>
                </a:solidFill>
                <a:effectLst/>
                <a:latin typeface="+mn-lt"/>
                <a:ea typeface="+mn-ea"/>
                <a:cs typeface="+mn-cs"/>
              </a:rPr>
              <a:t>size</a:t>
            </a:r>
            <a:r>
              <a:rPr lang="zh-CN" altLang="en-US"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堆用“箱”来管理，四种</a:t>
            </a:r>
            <a:r>
              <a:rPr lang="en-US" altLang="zh-CN" dirty="0"/>
              <a:t>bin</a:t>
            </a:r>
            <a:r>
              <a:rPr lang="zh-CN" altLang="en-US" dirty="0"/>
              <a:t>，</a:t>
            </a:r>
            <a:r>
              <a:rPr lang="en-US" altLang="zh-CN" dirty="0" err="1"/>
              <a:t>Fastbin</a:t>
            </a:r>
            <a:r>
              <a:rPr lang="zh-CN" altLang="en-US" dirty="0"/>
              <a:t>、</a:t>
            </a:r>
            <a:r>
              <a:rPr lang="en-US" altLang="zh-CN" dirty="0" err="1"/>
              <a:t>Smallbin</a:t>
            </a:r>
            <a:r>
              <a:rPr lang="zh-CN" altLang="en-US" dirty="0"/>
              <a:t>、</a:t>
            </a:r>
            <a:r>
              <a:rPr lang="en-US" altLang="zh-CN" dirty="0" err="1"/>
              <a:t>Largebin</a:t>
            </a:r>
            <a:r>
              <a:rPr lang="zh-CN" altLang="en-US" dirty="0"/>
              <a:t>、</a:t>
            </a:r>
            <a:r>
              <a:rPr lang="en-US" altLang="zh-CN" dirty="0" err="1"/>
              <a:t>Unsortedbin</a:t>
            </a:r>
            <a:r>
              <a:rPr lang="zh-CN" altLang="en-US" dirty="0"/>
              <a:t>，</a:t>
            </a:r>
            <a:r>
              <a:rPr lang="zh-CN" altLang="en-US">
                <a:sym typeface="+mn-ea"/>
              </a:rPr>
              <a:t>每个</a:t>
            </a:r>
            <a:r>
              <a:rPr lang="en-US" altLang="zh-CN">
                <a:sym typeface="+mn-ea"/>
              </a:rPr>
              <a:t>fastbin</a:t>
            </a:r>
            <a:r>
              <a:rPr lang="zh-CN" altLang="en-US">
                <a:sym typeface="+mn-ea"/>
              </a:rPr>
              <a:t>都是一个单链表，只使用</a:t>
            </a:r>
            <a:r>
              <a:rPr lang="en-US" altLang="zh-CN">
                <a:sym typeface="+mn-ea"/>
              </a:rPr>
              <a:t>fd</a:t>
            </a:r>
            <a:r>
              <a:rPr lang="zh-CN" altLang="en-US">
                <a:sym typeface="+mn-ea"/>
              </a:rPr>
              <a:t>指针，采用后入先出的算法，并且不会对</a:t>
            </a:r>
            <a:r>
              <a:rPr lang="en-US" altLang="zh-CN">
                <a:sym typeface="+mn-ea"/>
              </a:rPr>
              <a:t>free chunk</a:t>
            </a:r>
            <a:r>
              <a:rPr lang="zh-CN" altLang="en-US">
                <a:sym typeface="+mn-ea"/>
              </a:rPr>
              <a:t>进行合并操作，因为他的设计初衷就是为了进行快速的小内存分配和释放，所以他的</a:t>
            </a:r>
            <a:r>
              <a:rPr lang="en-US" altLang="zh-CN">
                <a:sym typeface="+mn-ea"/>
              </a:rPr>
              <a:t>pre_inuse</a:t>
            </a:r>
            <a:r>
              <a:rPr lang="zh-CN" altLang="en-US">
                <a:sym typeface="+mn-ea"/>
              </a:rPr>
              <a:t>总是设置为</a:t>
            </a:r>
            <a:r>
              <a:rPr lang="en-US" altLang="zh-CN">
                <a:sym typeface="+mn-ea"/>
              </a:rPr>
              <a:t>1</a:t>
            </a:r>
            <a:r>
              <a:rPr lang="zh-CN" altLang="en-US">
                <a:sym typeface="+mn-ea"/>
              </a:rPr>
              <a:t>的；</a:t>
            </a:r>
            <a:r>
              <a:rPr lang="zh-CN" altLang="en-US" dirty="0">
                <a:sym typeface="+mn-ea"/>
              </a:rPr>
              <a:t>剩下的三个</a:t>
            </a:r>
            <a:r>
              <a:rPr lang="en-US" altLang="zh-CN" dirty="0">
                <a:sym typeface="+mn-ea"/>
              </a:rPr>
              <a:t>Bin</a:t>
            </a:r>
            <a:r>
              <a:rPr lang="zh-CN" altLang="en-US" dirty="0">
                <a:sym typeface="+mn-ea"/>
              </a:rPr>
              <a:t>用双向链表管理</a:t>
            </a:r>
            <a:r>
              <a:rPr lang="en-US" altLang="zh-CN" dirty="0">
                <a:sym typeface="+mn-ea"/>
              </a:rPr>
              <a:t>,</a:t>
            </a:r>
            <a:r>
              <a:rPr lang="en-US" altLang="zh-CN">
                <a:sym typeface="+mn-ea"/>
              </a:rPr>
              <a:t>small bin</a:t>
            </a:r>
            <a:r>
              <a:rPr lang="zh-CN" altLang="en-US">
                <a:sym typeface="+mn-ea"/>
              </a:rPr>
              <a:t>采用先入先出算法，同一个</a:t>
            </a:r>
            <a:r>
              <a:rPr lang="en-US" altLang="zh-CN">
                <a:sym typeface="+mn-ea"/>
              </a:rPr>
              <a:t>small bin</a:t>
            </a:r>
            <a:r>
              <a:rPr lang="zh-CN" altLang="en-US">
                <a:sym typeface="+mn-ea"/>
              </a:rPr>
              <a:t>中所有的</a:t>
            </a:r>
            <a:r>
              <a:rPr lang="en-US" altLang="zh-CN">
                <a:sym typeface="+mn-ea"/>
              </a:rPr>
              <a:t>chunk</a:t>
            </a:r>
            <a:r>
              <a:rPr lang="zh-CN" altLang="en-US">
                <a:sym typeface="+mn-ea"/>
              </a:rPr>
              <a:t>大小都是一样的，且第一个</a:t>
            </a:r>
            <a:r>
              <a:rPr lang="en-US" altLang="zh-CN">
                <a:sym typeface="+mn-ea"/>
              </a:rPr>
              <a:t>small bin</a:t>
            </a:r>
            <a:r>
              <a:rPr lang="zh-CN" altLang="en-US">
                <a:sym typeface="+mn-ea"/>
              </a:rPr>
              <a:t>中的</a:t>
            </a:r>
            <a:r>
              <a:rPr lang="en-US" altLang="zh-CN">
                <a:sym typeface="+mn-ea"/>
              </a:rPr>
              <a:t>chunk</a:t>
            </a:r>
            <a:r>
              <a:rPr lang="zh-CN" altLang="en-US">
                <a:sym typeface="+mn-ea"/>
              </a:rPr>
              <a:t>大小为</a:t>
            </a:r>
            <a:r>
              <a:rPr lang="en-US" altLang="zh-CN">
                <a:sym typeface="+mn-ea"/>
              </a:rPr>
              <a:t>16</a:t>
            </a:r>
            <a:r>
              <a:rPr lang="zh-CN" altLang="en-US">
                <a:sym typeface="+mn-ea"/>
              </a:rPr>
              <a:t>字节，后续每个依次增加</a:t>
            </a:r>
            <a:r>
              <a:rPr lang="en-US" altLang="zh-CN">
                <a:sym typeface="+mn-ea"/>
              </a:rPr>
              <a:t>8</a:t>
            </a:r>
            <a:r>
              <a:rPr lang="zh-CN" altLang="en-US">
                <a:sym typeface="+mn-ea"/>
              </a:rPr>
              <a:t>字节，直到增加到</a:t>
            </a:r>
            <a:r>
              <a:rPr lang="en-US" altLang="zh-CN">
                <a:sym typeface="+mn-ea"/>
              </a:rPr>
              <a:t>512</a:t>
            </a:r>
            <a:r>
              <a:rPr lang="zh-CN" altLang="en-US">
                <a:sym typeface="+mn-ea"/>
              </a:rPr>
              <a:t>字节；同一个</a:t>
            </a:r>
            <a:r>
              <a:rPr lang="en-US" altLang="zh-CN">
                <a:sym typeface="+mn-ea"/>
              </a:rPr>
              <a:t>large bin</a:t>
            </a:r>
            <a:r>
              <a:rPr lang="zh-CN" altLang="en-US">
                <a:sym typeface="+mn-ea"/>
              </a:rPr>
              <a:t>中的</a:t>
            </a:r>
            <a:r>
              <a:rPr lang="en-US" altLang="zh-CN">
                <a:sym typeface="+mn-ea"/>
              </a:rPr>
              <a:t>chunk</a:t>
            </a:r>
            <a:r>
              <a:rPr lang="zh-CN" altLang="en-US">
                <a:sym typeface="+mn-ea"/>
              </a:rPr>
              <a:t>按大小排列，最大的放在前面，最小的放在末尾</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内存分配和释放的函数主要有</a:t>
            </a:r>
            <a:r>
              <a:rPr lang="en-US" altLang="zh-CN" dirty="0"/>
              <a:t>malloc</a:t>
            </a:r>
            <a:r>
              <a:rPr lang="zh-CN" altLang="en-US" dirty="0"/>
              <a:t>、</a:t>
            </a:r>
            <a:r>
              <a:rPr lang="en-US" altLang="zh-CN" dirty="0" err="1"/>
              <a:t>calloc</a:t>
            </a:r>
            <a:r>
              <a:rPr lang="zh-CN" altLang="en-US" dirty="0"/>
              <a:t>、</a:t>
            </a:r>
            <a:r>
              <a:rPr lang="en-US" altLang="zh-CN" dirty="0" err="1"/>
              <a:t>realloc</a:t>
            </a:r>
            <a:r>
              <a:rPr lang="zh-CN" altLang="en-US" dirty="0"/>
              <a:t>、</a:t>
            </a:r>
            <a:r>
              <a:rPr lang="en-US" altLang="zh-CN" dirty="0"/>
              <a:t>free</a:t>
            </a:r>
            <a:r>
              <a:rPr lang="zh-CN" altLang="en-US" dirty="0"/>
              <a:t>。</a:t>
            </a:r>
            <a:r>
              <a:rPr lang="en-US" altLang="zh-CN" dirty="0" err="1"/>
              <a:t>Alloca</a:t>
            </a:r>
            <a:r>
              <a:rPr lang="zh-CN" altLang="en-US" dirty="0"/>
              <a:t>虽然长得和他们很相似，但是是分配在栈上的内存，使用</a:t>
            </a:r>
            <a:r>
              <a:rPr lang="en-US" altLang="zh-CN" dirty="0"/>
              <a:t>free</a:t>
            </a:r>
            <a:r>
              <a:rPr lang="zh-CN" altLang="en-US" dirty="0"/>
              <a:t>释放会出段错误。</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Malloc</a:t>
            </a:r>
            <a:r>
              <a:rPr lang="zh-CN" altLang="en-US" dirty="0"/>
              <a:t>用于申请一定字节数的内存，但分配给用户可使用的内存不一定是用户申请的内存大小。因为有</a:t>
            </a:r>
            <a:r>
              <a:rPr lang="en-US" altLang="zh-CN" dirty="0"/>
              <a:t>size</a:t>
            </a:r>
            <a:r>
              <a:rPr lang="zh-CN" altLang="en-US" dirty="0"/>
              <a:t>、</a:t>
            </a:r>
            <a:r>
              <a:rPr lang="en-US" altLang="zh-CN" dirty="0" err="1"/>
              <a:t>presize</a:t>
            </a:r>
            <a:r>
              <a:rPr lang="zh-CN" altLang="en-US" dirty="0"/>
              <a:t>和对齐原则的约束。</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Calloc</a:t>
            </a:r>
            <a:r>
              <a:rPr lang="zh-CN" altLang="en-US" dirty="0"/>
              <a:t>，申请一定的内存空间并将内存初始化为</a:t>
            </a:r>
            <a:r>
              <a:rPr lang="en-US" altLang="zh-CN" dirty="0"/>
              <a:t>0</a:t>
            </a:r>
            <a:r>
              <a:rPr lang="zh-CN" altLang="en-US" dirty="0"/>
              <a:t>。第一行代码就相当于用</a:t>
            </a:r>
            <a:r>
              <a:rPr lang="en-US" altLang="zh-CN" dirty="0"/>
              <a:t>malloc</a:t>
            </a:r>
            <a:r>
              <a:rPr lang="zh-CN" altLang="en-US" dirty="0"/>
              <a:t>申请后在用</a:t>
            </a:r>
            <a:r>
              <a:rPr lang="en-US" altLang="zh-CN" dirty="0" err="1"/>
              <a:t>memset</a:t>
            </a:r>
            <a:r>
              <a:rPr lang="zh-CN" altLang="en-US" dirty="0"/>
              <a:t>初始化为</a:t>
            </a:r>
            <a:r>
              <a:rPr lang="en-US" altLang="zh-CN" dirty="0"/>
              <a:t>0</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Realloc</a:t>
            </a:r>
            <a:r>
              <a:rPr lang="zh-CN" altLang="en-US" dirty="0"/>
              <a:t>，重新分配新大小的内存</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Free</a:t>
            </a:r>
            <a:r>
              <a:rPr lang="zh-CN" altLang="en-US" dirty="0"/>
              <a:t>，释放动态申请的内存空间。</a:t>
            </a:r>
            <a:r>
              <a:rPr lang="en-US" altLang="zh-CN" dirty="0"/>
              <a:t>Free</a:t>
            </a:r>
            <a:r>
              <a:rPr lang="zh-CN" altLang="en-US" dirty="0"/>
              <a:t>给</a:t>
            </a:r>
            <a:r>
              <a:rPr lang="en-US" altLang="zh-CN" dirty="0" err="1"/>
              <a:t>ptr</a:t>
            </a:r>
            <a:r>
              <a:rPr lang="zh-CN" altLang="en-US" dirty="0"/>
              <a:t>指向的内存变为无效内存，但</a:t>
            </a:r>
            <a:r>
              <a:rPr lang="en-US" altLang="zh-CN" dirty="0" err="1"/>
              <a:t>ptr</a:t>
            </a:r>
            <a:r>
              <a:rPr lang="zh-CN" altLang="en-US" dirty="0"/>
              <a:t>仍指向该无效内存，所以应将置</a:t>
            </a:r>
            <a:r>
              <a:rPr lang="en-US" altLang="zh-CN" dirty="0"/>
              <a:t>NULL</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简单讲一下分配和释放内存的过程，可能并不是十分严谨。重点在于大概理解这个过程。具体细节可以参考老师的</a:t>
            </a:r>
            <a:r>
              <a:rPr lang="en-US" altLang="zh-CN" dirty="0"/>
              <a:t>PPT</a:t>
            </a:r>
            <a:r>
              <a:rPr lang="zh-CN" altLang="en-US" dirty="0"/>
              <a:t>。第一次申请四块内存，从</a:t>
            </a:r>
            <a:r>
              <a:rPr lang="en-US" altLang="zh-CN" dirty="0"/>
              <a:t>Top chunk</a:t>
            </a:r>
            <a:r>
              <a:rPr lang="zh-CN" altLang="en-US" dirty="0"/>
              <a:t>中分出</a:t>
            </a:r>
            <a:r>
              <a:rPr lang="en-US" altLang="zh-CN" dirty="0"/>
              <a:t>Chunk1-4</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按顺序释放</a:t>
            </a:r>
            <a:r>
              <a:rPr lang="en-US" altLang="zh-CN" dirty="0"/>
              <a:t>chunk1</a:t>
            </a:r>
            <a:r>
              <a:rPr lang="zh-CN" altLang="en-US" dirty="0"/>
              <a:t>，</a:t>
            </a:r>
            <a:r>
              <a:rPr lang="en-US" altLang="zh-CN" dirty="0"/>
              <a:t>chunk1(24</a:t>
            </a:r>
            <a:r>
              <a:rPr lang="zh-CN" altLang="en-US" dirty="0"/>
              <a:t>字节</a:t>
            </a:r>
            <a:r>
              <a:rPr lang="en-US" altLang="zh-CN" dirty="0"/>
              <a:t>)</a:t>
            </a:r>
            <a:r>
              <a:rPr lang="zh-CN" altLang="en-US" dirty="0"/>
              <a:t>小于</a:t>
            </a:r>
            <a:r>
              <a:rPr lang="en-US" altLang="zh-CN" dirty="0" err="1"/>
              <a:t>max_fast</a:t>
            </a:r>
            <a:r>
              <a:rPr lang="zh-CN" altLang="en-US" dirty="0"/>
              <a:t>且不与</a:t>
            </a:r>
            <a:r>
              <a:rPr lang="en-US" altLang="zh-CN" dirty="0"/>
              <a:t>Top chunk</a:t>
            </a:r>
            <a:r>
              <a:rPr lang="zh-CN" altLang="en-US" dirty="0"/>
              <a:t>相邻，</a:t>
            </a:r>
            <a:r>
              <a:rPr lang="en-US" altLang="zh-CN" dirty="0"/>
              <a:t>chunk1</a:t>
            </a:r>
            <a:r>
              <a:rPr lang="zh-CN" altLang="en-US" dirty="0"/>
              <a:t>被放入</a:t>
            </a:r>
            <a:r>
              <a:rPr lang="en-US" altLang="zh-CN" dirty="0" err="1"/>
              <a:t>Fastbin</a:t>
            </a:r>
            <a:r>
              <a:rPr lang="zh-CN" altLang="en-US" dirty="0"/>
              <a:t>，释放</a:t>
            </a:r>
            <a:r>
              <a:rPr lang="en-US" altLang="zh-CN" dirty="0"/>
              <a:t>chunk3</a:t>
            </a:r>
            <a:r>
              <a:rPr lang="zh-CN" altLang="en-US" dirty="0"/>
              <a:t>，同理</a:t>
            </a:r>
            <a:r>
              <a:rPr lang="en-US" altLang="zh-CN" dirty="0"/>
              <a:t>chunk3</a:t>
            </a:r>
            <a:r>
              <a:rPr lang="zh-CN" altLang="en-US" dirty="0"/>
              <a:t>被放入</a:t>
            </a:r>
            <a:r>
              <a:rPr lang="en-US" altLang="zh-CN" dirty="0" err="1"/>
              <a:t>Fastbin</a:t>
            </a:r>
            <a:r>
              <a:rPr lang="zh-CN" altLang="en-US" dirty="0"/>
              <a:t>，释放</a:t>
            </a:r>
            <a:r>
              <a:rPr lang="en-US" altLang="zh-CN" dirty="0"/>
              <a:t>chunk4</a:t>
            </a:r>
            <a:r>
              <a:rPr lang="zh-CN" altLang="en-US" dirty="0"/>
              <a:t>，小于</a:t>
            </a:r>
            <a:r>
              <a:rPr lang="en-US" altLang="zh-CN" dirty="0" err="1"/>
              <a:t>max_fast</a:t>
            </a:r>
            <a:r>
              <a:rPr lang="zh-CN" altLang="en-US" dirty="0"/>
              <a:t>，但下一个块与</a:t>
            </a:r>
            <a:r>
              <a:rPr lang="en-US" altLang="zh-CN" dirty="0"/>
              <a:t>Top chunk</a:t>
            </a:r>
            <a:r>
              <a:rPr lang="zh-CN" altLang="en-US" dirty="0"/>
              <a:t>相邻，所以合并到</a:t>
            </a:r>
            <a:r>
              <a:rPr lang="en-US" altLang="zh-CN" dirty="0"/>
              <a:t>Top chunk</a:t>
            </a:r>
            <a:r>
              <a:rPr lang="zh-CN" altLang="en-US" dirty="0"/>
              <a:t>中</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申请内存，首先在</a:t>
            </a:r>
            <a:r>
              <a:rPr lang="en-US" altLang="zh-CN" dirty="0" err="1"/>
              <a:t>Fastbin</a:t>
            </a:r>
            <a:r>
              <a:rPr lang="zh-CN" altLang="en-US" dirty="0"/>
              <a:t>中寻找是否有大小匹配的块，后入先出，所以</a:t>
            </a:r>
            <a:r>
              <a:rPr lang="en-US" altLang="zh-CN" dirty="0"/>
              <a:t>chunk5</a:t>
            </a:r>
            <a:r>
              <a:rPr lang="zh-CN" altLang="en-US" dirty="0"/>
              <a:t>在</a:t>
            </a:r>
            <a:r>
              <a:rPr lang="en-US" altLang="zh-CN" dirty="0" err="1"/>
              <a:t>fastbin</a:t>
            </a:r>
            <a:r>
              <a:rPr lang="zh-CN" altLang="en-US" dirty="0"/>
              <a:t>的</a:t>
            </a:r>
            <a:r>
              <a:rPr lang="en-US" altLang="zh-CN" dirty="0"/>
              <a:t>(2)</a:t>
            </a:r>
            <a:r>
              <a:rPr lang="zh-CN" altLang="en-US" dirty="0"/>
              <a:t>位置，</a:t>
            </a:r>
            <a:r>
              <a:rPr lang="en-US" altLang="zh-CN" dirty="0"/>
              <a:t>chunk6</a:t>
            </a:r>
            <a:r>
              <a:rPr lang="zh-CN" altLang="en-US" dirty="0"/>
              <a:t>对应</a:t>
            </a:r>
            <a:r>
              <a:rPr lang="en-US" altLang="zh-CN" dirty="0" err="1"/>
              <a:t>Fastbin</a:t>
            </a:r>
            <a:r>
              <a:rPr lang="en-US" altLang="zh-CN" dirty="0"/>
              <a:t>(1)</a:t>
            </a:r>
            <a:r>
              <a:rPr lang="zh-CN" altLang="en-US" dirty="0"/>
              <a:t>位置。</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堆可利用的漏洞和利用方式由这个表列出，今天进行入门级讲解，主要讲堆溢出、</a:t>
            </a:r>
            <a:r>
              <a:rPr lang="en-US" altLang="zh-CN" dirty="0"/>
              <a:t>double free</a:t>
            </a:r>
            <a:r>
              <a:rPr lang="zh-CN" altLang="en-US" dirty="0"/>
              <a:t>、</a:t>
            </a:r>
            <a:r>
              <a:rPr lang="en-US" altLang="zh-CN" dirty="0"/>
              <a:t>use after free</a:t>
            </a:r>
            <a:r>
              <a:rPr lang="zh-CN" altLang="en-US" dirty="0"/>
              <a:t>、</a:t>
            </a:r>
            <a:r>
              <a:rPr lang="en-US" altLang="zh-CN" dirty="0"/>
              <a:t>unlink</a:t>
            </a:r>
            <a:r>
              <a:rPr lang="zh-CN" altLang="en-US" dirty="0"/>
              <a:t>漏洞。</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堆溢出是程序向某个堆块中写入的字节数超过了堆块本身可使用的字节数。一般利用堆溢出和堆中的机制相结合来控制程序的执行流。</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堆溢出一般先寻找与堆有关的分配函数，再寻找危险函数。</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举个例子，这个程序先申请了一块空间，然后输入字符串。</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先查看内存，查看分配了多少字节，分配了</a:t>
            </a:r>
            <a:r>
              <a:rPr lang="en-US" altLang="zh-CN" dirty="0"/>
              <a:t>32</a:t>
            </a:r>
            <a:r>
              <a:rPr lang="zh-CN" altLang="en-US" dirty="0"/>
              <a:t>字节，去掉</a:t>
            </a:r>
            <a:r>
              <a:rPr lang="en-US" altLang="zh-CN" dirty="0"/>
              <a:t>16</a:t>
            </a:r>
            <a:r>
              <a:rPr lang="zh-CN" altLang="en-US" dirty="0"/>
              <a:t>字节</a:t>
            </a:r>
            <a:r>
              <a:rPr lang="en-US" altLang="zh-CN" dirty="0"/>
              <a:t>size</a:t>
            </a:r>
            <a:r>
              <a:rPr lang="zh-CN" altLang="en-US" dirty="0"/>
              <a:t>，我们实际可使用的空间为</a:t>
            </a:r>
            <a:r>
              <a:rPr lang="en-US" altLang="zh-CN" dirty="0"/>
              <a:t>16</a:t>
            </a:r>
            <a:r>
              <a:rPr lang="zh-CN" altLang="en-US" dirty="0"/>
              <a:t>字节，我们再输入字符串的时候输入了非常多的</a:t>
            </a:r>
            <a:r>
              <a:rPr lang="en-US" altLang="zh-CN" dirty="0"/>
              <a:t>A</a:t>
            </a:r>
            <a:r>
              <a:rPr lang="zh-CN" altLang="en-US" dirty="0"/>
              <a:t>，超出了</a:t>
            </a:r>
            <a:r>
              <a:rPr lang="en-US" altLang="zh-CN" dirty="0"/>
              <a:t>16</a:t>
            </a:r>
            <a:r>
              <a:rPr lang="zh-CN" altLang="en-US" dirty="0"/>
              <a:t>字节的用户数据范围，可以看到</a:t>
            </a:r>
            <a:r>
              <a:rPr lang="en-US" altLang="zh-CN" dirty="0"/>
              <a:t>0x602030</a:t>
            </a:r>
            <a:r>
              <a:rPr lang="zh-CN" altLang="en-US" dirty="0"/>
              <a:t>以后的内存空间也被写入了‘</a:t>
            </a:r>
            <a:r>
              <a:rPr lang="en-US" altLang="zh-CN" dirty="0"/>
              <a:t>A’</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Double free()</a:t>
            </a:r>
            <a:r>
              <a:rPr lang="zh-CN" altLang="en-US" dirty="0"/>
              <a:t>即释放一个指针两次，这个样例程序申请了</a:t>
            </a:r>
            <a:r>
              <a:rPr lang="en-US" altLang="zh-CN" dirty="0"/>
              <a:t>a</a:t>
            </a:r>
            <a:r>
              <a:rPr lang="zh-CN" altLang="en-US" dirty="0"/>
              <a:t>，然后释放了</a:t>
            </a:r>
            <a:r>
              <a:rPr lang="en-US" altLang="zh-CN" dirty="0"/>
              <a:t>a</a:t>
            </a:r>
            <a:r>
              <a:rPr lang="zh-CN" altLang="en-US" dirty="0"/>
              <a:t>两次，运行以后发现出现</a:t>
            </a:r>
            <a:r>
              <a:rPr lang="en-US" altLang="zh-CN" dirty="0"/>
              <a:t>double free ERROR</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为什么会出现</a:t>
            </a:r>
            <a:r>
              <a:rPr lang="en-US" altLang="zh-CN" dirty="0"/>
              <a:t>Double free() error</a:t>
            </a:r>
            <a:r>
              <a:rPr lang="zh-CN" altLang="en-US" dirty="0"/>
              <a:t>呢，因为有</a:t>
            </a:r>
            <a:r>
              <a:rPr lang="en-US" altLang="zh-CN" dirty="0"/>
              <a:t>double free</a:t>
            </a:r>
            <a:r>
              <a:rPr lang="zh-CN" altLang="en-US" dirty="0"/>
              <a:t>检查机制，正在释放的指针不能是</a:t>
            </a:r>
            <a:r>
              <a:rPr lang="en-US" altLang="zh-CN" dirty="0" err="1"/>
              <a:t>Fastbin</a:t>
            </a:r>
            <a:r>
              <a:rPr lang="zh-CN" altLang="en-US" dirty="0"/>
              <a:t>链表的最后一项，所以我们在两次</a:t>
            </a:r>
            <a:r>
              <a:rPr lang="en-US" altLang="zh-CN" dirty="0"/>
              <a:t>free(a)</a:t>
            </a:r>
            <a:r>
              <a:rPr lang="zh-CN" altLang="en-US" dirty="0"/>
              <a:t>之间，加一个</a:t>
            </a:r>
            <a:r>
              <a:rPr lang="en-US" altLang="zh-CN" dirty="0"/>
              <a:t>b</a:t>
            </a:r>
            <a:r>
              <a:rPr lang="zh-CN" altLang="en-US" dirty="0"/>
              <a:t>的释放，来绕过这个检查机制，看看会发生什么。我们申请了三块内存</a:t>
            </a:r>
            <a:r>
              <a:rPr lang="en-US" altLang="zh-CN" dirty="0"/>
              <a:t>a</a:t>
            </a:r>
            <a:r>
              <a:rPr lang="zh-CN" altLang="en-US" dirty="0"/>
              <a:t>、</a:t>
            </a:r>
            <a:r>
              <a:rPr lang="en-US" altLang="zh-CN" dirty="0"/>
              <a:t>b</a:t>
            </a:r>
            <a:r>
              <a:rPr lang="zh-CN" altLang="en-US" dirty="0"/>
              <a:t>、</a:t>
            </a:r>
            <a:r>
              <a:rPr lang="en-US" altLang="zh-CN" dirty="0"/>
              <a:t>c</a:t>
            </a:r>
            <a:r>
              <a:rPr lang="zh-CN" altLang="en-US" dirty="0"/>
              <a:t>，然后释放</a:t>
            </a:r>
            <a:r>
              <a:rPr lang="en-US" altLang="zh-CN" dirty="0"/>
              <a:t>a</a:t>
            </a:r>
            <a:r>
              <a:rPr lang="zh-CN" altLang="en-US" dirty="0"/>
              <a:t>、</a:t>
            </a:r>
            <a:r>
              <a:rPr lang="en-US" altLang="zh-CN" dirty="0"/>
              <a:t>b</a:t>
            </a:r>
            <a:r>
              <a:rPr lang="zh-CN" altLang="en-US" dirty="0"/>
              <a:t>，再释放</a:t>
            </a:r>
            <a:r>
              <a:rPr lang="en-US" altLang="zh-CN" dirty="0"/>
              <a:t>a</a:t>
            </a:r>
            <a:r>
              <a:rPr lang="zh-CN" altLang="en-US" dirty="0"/>
              <a:t>；释放后再申请</a:t>
            </a:r>
            <a:r>
              <a:rPr lang="en-US" altLang="zh-CN" dirty="0"/>
              <a:t>3</a:t>
            </a:r>
            <a:r>
              <a:rPr lang="zh-CN" altLang="en-US" dirty="0"/>
              <a:t>块内存，查看一下这两次的地址。</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查看运行结果，发现</a:t>
            </a:r>
            <a:r>
              <a:rPr lang="en-US" altLang="zh-CN" dirty="0"/>
              <a:t>d</a:t>
            </a:r>
            <a:r>
              <a:rPr lang="zh-CN" altLang="en-US" dirty="0"/>
              <a:t>和</a:t>
            </a:r>
            <a:r>
              <a:rPr lang="en-US" altLang="zh-CN" dirty="0"/>
              <a:t>f</a:t>
            </a:r>
            <a:r>
              <a:rPr lang="zh-CN" altLang="en-US" dirty="0"/>
              <a:t>的地址相同，他们为什么会相同啊？因为</a:t>
            </a:r>
            <a:r>
              <a:rPr lang="en-US" altLang="zh-CN" dirty="0"/>
              <a:t>a free</a:t>
            </a:r>
            <a:r>
              <a:rPr lang="zh-CN" altLang="en-US" dirty="0"/>
              <a:t>了两次，第一次</a:t>
            </a:r>
            <a:r>
              <a:rPr lang="en-US" altLang="zh-CN" dirty="0"/>
              <a:t>free a</a:t>
            </a:r>
            <a:r>
              <a:rPr lang="zh-CN" altLang="en-US" dirty="0"/>
              <a:t>，</a:t>
            </a:r>
            <a:r>
              <a:rPr lang="en-US" altLang="zh-CN" dirty="0"/>
              <a:t>0x01048010</a:t>
            </a:r>
            <a:r>
              <a:rPr lang="zh-CN" altLang="en-US" dirty="0"/>
              <a:t>被加入到</a:t>
            </a:r>
            <a:r>
              <a:rPr lang="en-US" altLang="zh-CN" dirty="0" err="1"/>
              <a:t>Fastbin</a:t>
            </a:r>
            <a:r>
              <a:rPr lang="zh-CN" altLang="en-US" dirty="0"/>
              <a:t>中，</a:t>
            </a:r>
            <a:r>
              <a:rPr lang="en-US" altLang="zh-CN" dirty="0"/>
              <a:t>free b</a:t>
            </a:r>
            <a:r>
              <a:rPr lang="zh-CN" altLang="en-US" dirty="0"/>
              <a:t>，</a:t>
            </a:r>
            <a:r>
              <a:rPr lang="en-US" altLang="zh-CN" dirty="0"/>
              <a:t>0x01048030</a:t>
            </a:r>
            <a:r>
              <a:rPr lang="zh-CN" altLang="en-US" dirty="0"/>
              <a:t>被加入到</a:t>
            </a:r>
            <a:r>
              <a:rPr lang="en-US" altLang="zh-CN" dirty="0" err="1"/>
              <a:t>Fastbin</a:t>
            </a:r>
            <a:r>
              <a:rPr lang="zh-CN" altLang="en-US" dirty="0"/>
              <a:t>中，第二次</a:t>
            </a:r>
            <a:r>
              <a:rPr lang="en-US" altLang="zh-CN" dirty="0"/>
              <a:t>free a</a:t>
            </a:r>
            <a:r>
              <a:rPr lang="zh-CN" altLang="en-US" dirty="0"/>
              <a:t>，</a:t>
            </a:r>
            <a:r>
              <a:rPr lang="en-US" altLang="zh-CN" dirty="0"/>
              <a:t>0x01048010</a:t>
            </a:r>
            <a:r>
              <a:rPr lang="zh-CN" altLang="en-US" dirty="0"/>
              <a:t>再一次被加入到</a:t>
            </a:r>
            <a:r>
              <a:rPr lang="en-US" altLang="zh-CN" dirty="0" err="1"/>
              <a:t>Fastbin</a:t>
            </a:r>
            <a:r>
              <a:rPr lang="zh-CN" altLang="en-US" dirty="0"/>
              <a:t>中。当</a:t>
            </a:r>
            <a:r>
              <a:rPr lang="en-US" altLang="zh-CN" dirty="0"/>
              <a:t>d</a:t>
            </a:r>
            <a:r>
              <a:rPr lang="zh-CN" altLang="en-US" dirty="0"/>
              <a:t>申请的时候，从</a:t>
            </a:r>
            <a:r>
              <a:rPr lang="en-US" altLang="zh-CN" dirty="0" err="1"/>
              <a:t>fastbin</a:t>
            </a:r>
            <a:r>
              <a:rPr lang="zh-CN" altLang="en-US" dirty="0"/>
              <a:t>中找合适大小的块，绿色框中的</a:t>
            </a:r>
            <a:r>
              <a:rPr lang="en-US" altLang="zh-CN" dirty="0"/>
              <a:t>0x01048010</a:t>
            </a:r>
            <a:r>
              <a:rPr lang="zh-CN" altLang="en-US" dirty="0"/>
              <a:t>被分配给</a:t>
            </a:r>
            <a:r>
              <a:rPr lang="en-US" altLang="zh-CN" dirty="0"/>
              <a:t>d</a:t>
            </a:r>
            <a:r>
              <a:rPr lang="zh-CN" altLang="en-US" dirty="0"/>
              <a:t>，当申请</a:t>
            </a:r>
            <a:r>
              <a:rPr lang="en-US" altLang="zh-CN" dirty="0"/>
              <a:t>e</a:t>
            </a:r>
            <a:r>
              <a:rPr lang="zh-CN" altLang="en-US" dirty="0"/>
              <a:t>的时候，</a:t>
            </a:r>
            <a:r>
              <a:rPr lang="en-US" altLang="zh-CN" dirty="0"/>
              <a:t>0x01048030</a:t>
            </a:r>
            <a:r>
              <a:rPr lang="zh-CN" altLang="en-US" dirty="0"/>
              <a:t>被分配给</a:t>
            </a:r>
            <a:r>
              <a:rPr lang="en-US" altLang="zh-CN" dirty="0"/>
              <a:t>b</a:t>
            </a:r>
            <a:r>
              <a:rPr lang="zh-CN" altLang="en-US" dirty="0"/>
              <a:t>，当</a:t>
            </a:r>
            <a:r>
              <a:rPr lang="en-US" altLang="zh-CN" dirty="0"/>
              <a:t>f</a:t>
            </a:r>
            <a:r>
              <a:rPr lang="zh-CN" altLang="en-US" dirty="0"/>
              <a:t>申请的时候，</a:t>
            </a:r>
            <a:r>
              <a:rPr lang="en-US" altLang="zh-CN" dirty="0"/>
              <a:t>0x01048010</a:t>
            </a:r>
            <a:r>
              <a:rPr lang="zh-CN" altLang="en-US" dirty="0"/>
              <a:t>被分配给</a:t>
            </a:r>
            <a:r>
              <a:rPr lang="en-US" altLang="zh-CN" dirty="0"/>
              <a:t>f</a:t>
            </a:r>
            <a:r>
              <a:rPr lang="zh-CN" altLang="en-US" dirty="0"/>
              <a:t>，所以</a:t>
            </a:r>
            <a:r>
              <a:rPr lang="en-US" altLang="zh-CN" dirty="0"/>
              <a:t>d</a:t>
            </a:r>
            <a:r>
              <a:rPr lang="zh-CN" altLang="en-US"/>
              <a:t>和指向了同一块空间。</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分配了</a:t>
            </a:r>
            <a:r>
              <a:rPr lang="en-US" altLang="zh-CN" dirty="0"/>
              <a:t>24</a:t>
            </a:r>
            <a:r>
              <a:rPr lang="zh-CN" altLang="en-US" dirty="0"/>
              <a:t>字节，</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%08x</a:t>
            </a:r>
            <a:r>
              <a:rPr lang="zh-CN" altLang="en-US" dirty="0"/>
              <a:t>可以输出地址值，为什么</a:t>
            </a:r>
            <a:r>
              <a:rPr lang="en-US" altLang="zh-CN" dirty="0"/>
              <a:t>%s</a:t>
            </a:r>
            <a:r>
              <a:rPr lang="zh-CN" altLang="en-US" dirty="0"/>
              <a:t>可以输出字符串值。内部实现时，“</a:t>
            </a:r>
            <a:r>
              <a:rPr lang="en-US" altLang="zh-CN" dirty="0"/>
              <a:t>%x</a:t>
            </a:r>
            <a:r>
              <a:rPr lang="zh-CN" altLang="en-US" dirty="0"/>
              <a:t>”设置</a:t>
            </a:r>
            <a:r>
              <a:rPr lang="en-US" altLang="zh-CN" dirty="0"/>
              <a:t>base=16</a:t>
            </a:r>
            <a:r>
              <a:rPr lang="zh-CN" altLang="en-US" dirty="0"/>
              <a:t>，即以</a:t>
            </a:r>
            <a:r>
              <a:rPr lang="en-US" altLang="zh-CN" dirty="0"/>
              <a:t>16</a:t>
            </a:r>
            <a:r>
              <a:rPr lang="zh-CN" altLang="en-US" dirty="0"/>
              <a:t>进制输出。“</a:t>
            </a:r>
            <a:r>
              <a:rPr lang="en-US" altLang="zh-CN" dirty="0"/>
              <a:t>%s</a:t>
            </a:r>
            <a:r>
              <a:rPr lang="zh-CN" altLang="en-US" dirty="0"/>
              <a:t>”表示将这个参数当作字符串来对待，也就是把这个参数当作字符数组的首地址，然后输出其后的字符，直到遇到</a:t>
            </a:r>
            <a:r>
              <a:rPr lang="en-US" altLang="zh-CN" dirty="0"/>
              <a:t>\0</a:t>
            </a:r>
            <a:r>
              <a:rPr lang="zh-CN" altLang="en-US" dirty="0"/>
              <a:t>为止。</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%08x</a:t>
            </a:r>
            <a:r>
              <a:rPr lang="zh-CN" altLang="en-US" dirty="0"/>
              <a:t>可以输出地址值，为什么</a:t>
            </a:r>
            <a:r>
              <a:rPr lang="en-US" altLang="zh-CN" dirty="0"/>
              <a:t>%s</a:t>
            </a:r>
            <a:r>
              <a:rPr lang="zh-CN" altLang="en-US" dirty="0"/>
              <a:t>可以输出字符串值。内部实现时，“</a:t>
            </a:r>
            <a:r>
              <a:rPr lang="en-US" altLang="zh-CN" dirty="0"/>
              <a:t>%x</a:t>
            </a:r>
            <a:r>
              <a:rPr lang="zh-CN" altLang="en-US" dirty="0"/>
              <a:t>”设置</a:t>
            </a:r>
            <a:r>
              <a:rPr lang="en-US" altLang="zh-CN" dirty="0"/>
              <a:t>base=16</a:t>
            </a:r>
            <a:r>
              <a:rPr lang="zh-CN" altLang="en-US" dirty="0"/>
              <a:t>，即以</a:t>
            </a:r>
            <a:r>
              <a:rPr lang="en-US" altLang="zh-CN" dirty="0"/>
              <a:t>16</a:t>
            </a:r>
            <a:r>
              <a:rPr lang="zh-CN" altLang="en-US" dirty="0"/>
              <a:t>进制输出。“</a:t>
            </a:r>
            <a:r>
              <a:rPr lang="en-US" altLang="zh-CN" dirty="0"/>
              <a:t>%s</a:t>
            </a:r>
            <a:r>
              <a:rPr lang="zh-CN" altLang="en-US" dirty="0"/>
              <a:t>”表示将这个参数当作字符串来对待，也就是把这个参数当作字符数组的首地址，然后输出其后的字符，直到遇到</a:t>
            </a:r>
            <a:r>
              <a:rPr lang="en-US" altLang="zh-CN" dirty="0"/>
              <a:t>\0</a:t>
            </a:r>
            <a:r>
              <a:rPr lang="zh-CN" altLang="en-US" dirty="0"/>
              <a:t>为止。</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调用</a:t>
            </a:r>
            <a:r>
              <a:rPr lang="en-US" altLang="zh-CN" dirty="0"/>
              <a:t>unlink</a:t>
            </a:r>
            <a:r>
              <a:rPr lang="zh-CN" altLang="en-US" dirty="0"/>
              <a:t>以后合并</a:t>
            </a:r>
            <a:r>
              <a:rPr lang="en-US" altLang="zh-CN" dirty="0"/>
              <a:t>BK</a:t>
            </a:r>
            <a:r>
              <a:rPr lang="zh-CN" altLang="en-US" dirty="0"/>
              <a:t>和</a:t>
            </a:r>
            <a:r>
              <a:rPr lang="en-US" altLang="zh-CN" dirty="0"/>
              <a:t>P</a:t>
            </a:r>
            <a:r>
              <a:rPr lang="zh-CN" altLang="en-US" dirty="0"/>
              <a:t>。</a:t>
            </a:r>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nvSpPr>
        <p:spPr>
          <a:xfrm>
            <a:off x="0" y="0"/>
            <a:ext cx="9144000" cy="6572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Slide Number Placeholder 5"/>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fld>
            <a:endParaRPr lang="zh-CN" altLang="en-US" dirty="0"/>
          </a:p>
        </p:txBody>
      </p:sp>
      <p:cxnSp>
        <p:nvCxnSpPr>
          <p:cNvPr id="11" name="直接连接符 10"/>
          <p:cNvCxnSpPr/>
          <p:nvPr userDrawn="1"/>
        </p:nvCxnSpPr>
        <p:spPr>
          <a:xfrm>
            <a:off x="12032" y="550994"/>
            <a:ext cx="9144000" cy="0"/>
          </a:xfrm>
          <a:prstGeom prst="line">
            <a:avLst/>
          </a:prstGeom>
          <a:ln w="38100" cmpd="thickThin"/>
        </p:spPr>
        <p:style>
          <a:lnRef idx="1">
            <a:schemeClr val="accent1"/>
          </a:lnRef>
          <a:fillRef idx="0">
            <a:schemeClr val="accent1"/>
          </a:fillRef>
          <a:effectRef idx="0">
            <a:schemeClr val="accent1"/>
          </a:effectRef>
          <a:fontRef idx="minor">
            <a:schemeClr val="tx1"/>
          </a:fontRef>
        </p:style>
      </p:cxnSp>
      <p:sp>
        <p:nvSpPr>
          <p:cNvPr id="13" name="文本框 12"/>
          <p:cNvSpPr txBox="1"/>
          <p:nvPr userDrawn="1"/>
        </p:nvSpPr>
        <p:spPr>
          <a:xfrm>
            <a:off x="1988" y="4616"/>
            <a:ext cx="9142012" cy="523220"/>
          </a:xfrm>
          <a:prstGeom prst="rect">
            <a:avLst/>
          </a:prstGeom>
          <a:solidFill>
            <a:srgbClr val="E1F8F7"/>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charset="0"/>
                <a:ea typeface="隶书" charset="0"/>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charset="0"/>
              <a:ea typeface="隶书" charset="0"/>
              <a:sym typeface="+mn-ea"/>
            </a:endParaRPr>
          </a:p>
        </p:txBody>
      </p:sp>
      <p:sp>
        <p:nvSpPr>
          <p:cNvPr id="14" name="Date Placeholder 3"/>
          <p:cNvSpPr>
            <a:spLocks noGrp="1"/>
          </p:cNvSpPr>
          <p:nvPr>
            <p:ph type="dt" sz="quarter" idx="15"/>
          </p:nvPr>
        </p:nvSpPr>
        <p:spPr>
          <a:xfrm>
            <a:off x="12032"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10" name="Footer Placeholder 4"/>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二页">
    <p:bg>
      <p:bgPr>
        <a:solidFill>
          <a:schemeClr val="bg1"/>
        </a:solidFill>
        <a:effectLst/>
      </p:bgPr>
    </p:bg>
    <p:spTree>
      <p:nvGrpSpPr>
        <p:cNvPr id="1" name=""/>
        <p:cNvGrpSpPr/>
        <p:nvPr/>
      </p:nvGrpSpPr>
      <p:grpSpPr>
        <a:xfrm>
          <a:off x="0" y="0"/>
          <a:ext cx="0" cy="0"/>
          <a:chOff x="0" y="0"/>
          <a:chExt cx="0" cy="0"/>
        </a:xfrm>
      </p:grpSpPr>
      <p:sp>
        <p:nvSpPr>
          <p:cNvPr id="5" name="圆角矩形 4"/>
          <p:cNvSpPr/>
          <p:nvPr/>
        </p:nvSpPr>
        <p:spPr>
          <a:xfrm>
            <a:off x="395288" y="1052965"/>
            <a:ext cx="8353425" cy="5327650"/>
          </a:xfrm>
          <a:prstGeom prst="roundRect">
            <a:avLst>
              <a:gd name="adj" fmla="val 2624"/>
            </a:avLst>
          </a:prstGeom>
          <a:solidFill>
            <a:schemeClr val="bg2"/>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 name="Text Placeholder 2"/>
          <p:cNvSpPr>
            <a:spLocks noGrp="1"/>
          </p:cNvSpPr>
          <p:nvPr>
            <p:ph type="body" idx="1" hasCustomPrompt="1"/>
          </p:nvPr>
        </p:nvSpPr>
        <p:spPr>
          <a:xfrm>
            <a:off x="1691800" y="764815"/>
            <a:ext cx="5760400" cy="432030"/>
          </a:xfrm>
          <a:prstGeom prst="roundRect">
            <a:avLst>
              <a:gd name="adj" fmla="val 50000"/>
            </a:avLst>
          </a:prstGeom>
          <a:solidFill>
            <a:schemeClr val="accent1">
              <a:lumMod val="20000"/>
              <a:lumOff val="80000"/>
            </a:schemeClr>
          </a:solidFill>
          <a:ln w="9525">
            <a:solidFill>
              <a:srgbClr val="002060"/>
            </a:solidFill>
          </a:ln>
        </p:spPr>
        <p:txBody>
          <a:bodyPr anchor="ctr"/>
          <a:lstStyle>
            <a:lvl1pPr marL="0" indent="0" algn="ctr">
              <a:buNone/>
              <a:defRPr sz="2800" b="1" baseline="0">
                <a:solidFill>
                  <a:schemeClr val="tx1"/>
                </a:solidFill>
                <a:effectLst/>
                <a:latin typeface="Arial Narrow" pitchFamily="34" charset="0"/>
                <a:ea typeface="微软雅黑"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7" name="Content Placeholder 2"/>
          <p:cNvSpPr>
            <a:spLocks noGrp="1"/>
          </p:cNvSpPr>
          <p:nvPr>
            <p:ph idx="13" hasCustomPrompt="1"/>
          </p:nvPr>
        </p:nvSpPr>
        <p:spPr>
          <a:xfrm>
            <a:off x="628650" y="1412860"/>
            <a:ext cx="7886700" cy="4870903"/>
          </a:xfrm>
        </p:spPr>
        <p:txBody>
          <a:bodyPr/>
          <a:lstStyle>
            <a:lvl1pPr>
              <a:lnSpc>
                <a:spcPct val="100000"/>
              </a:lnSpc>
              <a:defRPr lang="zh-CN" altLang="en-US" sz="2400" b="1" kern="1200" baseline="0" noProof="1" dirty="0" smtClean="0">
                <a:solidFill>
                  <a:schemeClr val="tx1"/>
                </a:solidFill>
                <a:latin typeface="Arial Narrow" pitchFamily="34" charset="0"/>
                <a:ea typeface="微软雅黑" panose="020B0503020204020204" pitchFamily="34" charset="-122"/>
                <a:cs typeface="+mn-cs"/>
              </a:defRPr>
            </a:lvl1pPr>
            <a:lvl2pPr marL="685800" indent="-228600">
              <a:lnSpc>
                <a:spcPct val="100000"/>
              </a:lnSpc>
              <a:defRPr lang="zh-CN" altLang="en-US" sz="2000" b="1" kern="1200" baseline="0" noProof="1" dirty="0" smtClean="0">
                <a:solidFill>
                  <a:schemeClr val="accent2">
                    <a:lumMod val="50000"/>
                  </a:schemeClr>
                </a:solidFill>
                <a:latin typeface="Arial Narrow" pitchFamily="34" charset="0"/>
                <a:ea typeface="微软雅黑" panose="020B0503020204020204" pitchFamily="34" charset="-122"/>
                <a:cs typeface="+mn-cs"/>
              </a:defRPr>
            </a:lvl2pPr>
          </a:lstStyle>
          <a:p>
            <a:pPr lvl="0"/>
            <a:r>
              <a:rPr lang="zh-CN" altLang="en-US" noProof="1"/>
              <a:t>编辑母版文本样式</a:t>
            </a:r>
            <a:endParaRPr lang="zh-CN" altLang="en-US" noProof="1"/>
          </a:p>
          <a:p>
            <a:pPr lvl="1"/>
            <a:r>
              <a:rPr lang="zh-CN" altLang="en-US" noProof="1"/>
              <a:t>第二级</a:t>
            </a:r>
            <a:endParaRPr lang="zh-CN" altLang="en-US" noProof="1"/>
          </a:p>
        </p:txBody>
      </p:sp>
      <p:sp>
        <p:nvSpPr>
          <p:cNvPr id="13" name="Slide Number Placeholder 5"/>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fld>
            <a:endParaRPr lang="zh-CN" altLang="en-US" dirty="0"/>
          </a:p>
        </p:txBody>
      </p:sp>
      <p:cxnSp>
        <p:nvCxnSpPr>
          <p:cNvPr id="11" name="直接连接符 10"/>
          <p:cNvCxnSpPr/>
          <p:nvPr userDrawn="1"/>
        </p:nvCxnSpPr>
        <p:spPr>
          <a:xfrm>
            <a:off x="24064" y="490837"/>
            <a:ext cx="9144000" cy="0"/>
          </a:xfrm>
          <a:prstGeom prst="line">
            <a:avLst/>
          </a:prstGeom>
          <a:ln w="38100" cmpd="thickThin"/>
        </p:spPr>
        <p:style>
          <a:lnRef idx="1">
            <a:schemeClr val="accent1"/>
          </a:lnRef>
          <a:fillRef idx="0">
            <a:schemeClr val="accent1"/>
          </a:fillRef>
          <a:effectRef idx="0">
            <a:schemeClr val="accent1"/>
          </a:effectRef>
          <a:fontRef idx="minor">
            <a:schemeClr val="tx1"/>
          </a:fontRef>
        </p:style>
      </p:cxnSp>
      <p:sp>
        <p:nvSpPr>
          <p:cNvPr id="16" name="Date Placeholder 3"/>
          <p:cNvSpPr>
            <a:spLocks noGrp="1"/>
          </p:cNvSpPr>
          <p:nvPr>
            <p:ph type="dt" sz="quarter" idx="15"/>
          </p:nvPr>
        </p:nvSpPr>
        <p:spPr>
          <a:xfrm>
            <a:off x="24064" y="6543648"/>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12" name="Footer Placeholder 4"/>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endParaRPr lang="zh-CN" altLang="en-US" dirty="0"/>
          </a:p>
        </p:txBody>
      </p:sp>
      <p:sp>
        <p:nvSpPr>
          <p:cNvPr id="4" name="标题 3"/>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
    <p:bg>
      <p:bgPr>
        <a:solidFill>
          <a:schemeClr val="bg1"/>
        </a:solidFill>
        <a:effectLst/>
      </p:bgPr>
    </p:bg>
    <p:spTree>
      <p:nvGrpSpPr>
        <p:cNvPr id="1" name=""/>
        <p:cNvGrpSpPr/>
        <p:nvPr/>
      </p:nvGrpSpPr>
      <p:grpSpPr>
        <a:xfrm>
          <a:off x="0" y="0"/>
          <a:ext cx="0" cy="0"/>
          <a:chOff x="0" y="0"/>
          <a:chExt cx="0" cy="0"/>
        </a:xfrm>
      </p:grpSpPr>
      <p:sp>
        <p:nvSpPr>
          <p:cNvPr id="7" name="Footer Placeholder 4"/>
          <p:cNvSpPr>
            <a:spLocks noGrp="1"/>
          </p:cNvSpPr>
          <p:nvPr>
            <p:ph type="ftr" sz="quarter" idx="16"/>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a:t>201M6022H </a:t>
            </a:r>
            <a:r>
              <a:rPr lang="zh-CN" altLang="en-US"/>
              <a:t>漏洞利用与攻防实践 霍玮                 </a:t>
            </a:r>
            <a:endParaRPr lang="zh-CN" altLang="en-US" dirty="0"/>
          </a:p>
        </p:txBody>
      </p:sp>
      <p:sp>
        <p:nvSpPr>
          <p:cNvPr id="8" name="Date Placeholder 3"/>
          <p:cNvSpPr>
            <a:spLocks noGrp="1"/>
          </p:cNvSpPr>
          <p:nvPr>
            <p:ph type="dt" sz="quarter" idx="15"/>
          </p:nvPr>
        </p:nvSpPr>
        <p:spPr>
          <a:xfrm>
            <a:off x="1988"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9" name="Slide Number Placeholder 5"/>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fld>
            <a:endParaRPr lang="zh-CN" altLang="en-US" dirty="0"/>
          </a:p>
        </p:txBody>
      </p:sp>
      <p:cxnSp>
        <p:nvCxnSpPr>
          <p:cNvPr id="3" name="直接连接符 2"/>
          <p:cNvCxnSpPr/>
          <p:nvPr userDrawn="1"/>
        </p:nvCxnSpPr>
        <p:spPr>
          <a:xfrm>
            <a:off x="0" y="6572250"/>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idx="13" hasCustomPrompt="1"/>
          </p:nvPr>
        </p:nvSpPr>
        <p:spPr>
          <a:xfrm>
            <a:off x="251520" y="764704"/>
            <a:ext cx="8640960" cy="5616624"/>
          </a:xfrm>
        </p:spPr>
        <p:txBody>
          <a:bodyPr/>
          <a:lstStyle>
            <a:lvl1pPr>
              <a:lnSpc>
                <a:spcPct val="100000"/>
              </a:lnSpc>
              <a:defRPr lang="zh-CN" altLang="en-US" sz="2400" b="1" kern="1200" baseline="0" noProof="1" dirty="0" smtClean="0">
                <a:solidFill>
                  <a:schemeClr val="tx1"/>
                </a:solidFill>
                <a:latin typeface="Arial Narrow" pitchFamily="34" charset="0"/>
                <a:ea typeface="微软雅黑" panose="020B0503020204020204" pitchFamily="34" charset="-122"/>
                <a:cs typeface="+mn-cs"/>
              </a:defRPr>
            </a:lvl1pPr>
            <a:lvl2pPr marL="685800" indent="-228600">
              <a:lnSpc>
                <a:spcPct val="100000"/>
              </a:lnSpc>
              <a:defRPr lang="zh-CN" altLang="en-US" sz="2000" b="1" kern="1200" baseline="0" noProof="1" dirty="0" smtClean="0">
                <a:solidFill>
                  <a:schemeClr val="accent2">
                    <a:lumMod val="50000"/>
                  </a:schemeClr>
                </a:solidFill>
                <a:latin typeface="Arial Narrow" pitchFamily="34" charset="0"/>
                <a:ea typeface="微软雅黑" panose="020B0503020204020204" pitchFamily="34" charset="-122"/>
                <a:cs typeface="+mn-cs"/>
              </a:defRPr>
            </a:lvl2pPr>
          </a:lstStyle>
          <a:p>
            <a:pPr lvl="0"/>
            <a:r>
              <a:rPr lang="zh-CN" altLang="en-US" noProof="1"/>
              <a:t>编辑母版文本样式</a:t>
            </a:r>
            <a:endParaRPr lang="zh-CN" altLang="en-US" noProof="1"/>
          </a:p>
          <a:p>
            <a:pPr lvl="1"/>
            <a:r>
              <a:rPr lang="zh-CN" altLang="en-US" noProof="1"/>
              <a:t>第二级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7" name="矩形 16"/>
          <p:cNvSpPr/>
          <p:nvPr userDrawn="1"/>
        </p:nvSpPr>
        <p:spPr>
          <a:xfrm>
            <a:off x="0" y="0"/>
            <a:ext cx="9144000" cy="6572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0" name="Title Placeholder 1"/>
          <p:cNvSpPr>
            <a:spLocks noGrp="1" noChangeArrowheads="1"/>
          </p:cNvSpPr>
          <p:nvPr>
            <p:ph type="title" idx="4294967295"/>
            <p:custDataLst>
              <p:tags r:id="rId4"/>
            </p:custDataLst>
          </p:nvPr>
        </p:nvSpPr>
        <p:spPr bwMode="auto">
          <a:xfrm>
            <a:off x="107950" y="48006"/>
            <a:ext cx="8928100" cy="467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noProof="1"/>
              <a:t>单击此处编辑母版标题样式</a:t>
            </a:r>
            <a:endParaRPr lang="en-US" altLang="en-US" noProof="1"/>
          </a:p>
        </p:txBody>
      </p:sp>
      <p:sp>
        <p:nvSpPr>
          <p:cNvPr id="1028" name="Text Placeholder 2"/>
          <p:cNvSpPr>
            <a:spLocks noGrp="1" noChangeArrowheads="1"/>
          </p:cNvSpPr>
          <p:nvPr>
            <p:ph type="body" idx="9"/>
            <p:custDataLst>
              <p:tags r:id="rId5"/>
            </p:custDataLst>
          </p:nvPr>
        </p:nvSpPr>
        <p:spPr bwMode="auto">
          <a:xfrm>
            <a:off x="628650" y="908721"/>
            <a:ext cx="7886700" cy="5544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en-US" altLang="en-US" dirty="0"/>
          </a:p>
        </p:txBody>
      </p:sp>
      <p:sp>
        <p:nvSpPr>
          <p:cNvPr id="14" name="Footer Placeholder 4"/>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endParaRPr lang="zh-CN" altLang="en-US" dirty="0"/>
          </a:p>
        </p:txBody>
      </p:sp>
      <p:sp>
        <p:nvSpPr>
          <p:cNvPr id="18" name="Date Placeholder 3"/>
          <p:cNvSpPr>
            <a:spLocks noGrp="1"/>
          </p:cNvSpPr>
          <p:nvPr>
            <p:ph type="dt" sz="quarter" idx="2"/>
          </p:nvPr>
        </p:nvSpPr>
        <p:spPr>
          <a:xfrm>
            <a:off x="1988"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cxnSp>
        <p:nvCxnSpPr>
          <p:cNvPr id="3" name="直接连接符 2"/>
          <p:cNvCxnSpPr/>
          <p:nvPr userDrawn="1"/>
        </p:nvCxnSpPr>
        <p:spPr>
          <a:xfrm flipV="1">
            <a:off x="47792" y="517358"/>
            <a:ext cx="9060113" cy="2269"/>
          </a:xfrm>
          <a:prstGeom prst="line">
            <a:avLst/>
          </a:prstGeom>
          <a:ln w="38100" cmpd="thickThi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rtl="0" eaLnBrk="1" fontAlgn="base" hangingPunct="1">
        <a:lnSpc>
          <a:spcPct val="90000"/>
        </a:lnSpc>
        <a:spcBef>
          <a:spcPct val="0"/>
        </a:spcBef>
        <a:spcAft>
          <a:spcPct val="0"/>
        </a:spcAft>
        <a:defRPr lang="en-US" altLang="en-US" sz="2800" b="1" kern="1200" dirty="0">
          <a:solidFill>
            <a:srgbClr val="622820"/>
          </a:solidFill>
          <a:effectLst>
            <a:outerShdw blurRad="38100" dist="38100" dir="2700000" algn="tl">
              <a:srgbClr val="000000">
                <a:alpha val="43137"/>
              </a:srgbClr>
            </a:outerShdw>
          </a:effectLst>
          <a:latin typeface="Bodoni MT Condensed" pitchFamily="18" charset="0"/>
          <a:ea typeface="华文中宋"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5pPr>
      <a:lvl6pPr marL="4572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6pPr>
      <a:lvl7pPr marL="9144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9pPr>
    </p:titleStyle>
    <p:bodyStyle>
      <a:lvl1pPr marL="228600" indent="-228600" algn="l" rtl="0" eaLnBrk="1" fontAlgn="base" hangingPunct="1">
        <a:lnSpc>
          <a:spcPct val="90000"/>
        </a:lnSpc>
        <a:spcBef>
          <a:spcPts val="1000"/>
        </a:spcBef>
        <a:spcAft>
          <a:spcPct val="0"/>
        </a:spcAft>
        <a:buClr>
          <a:schemeClr val="accent1"/>
        </a:buClr>
        <a:buFont typeface="Wingdings" panose="05000000000000000000" pitchFamily="2" charset="2"/>
        <a:buChar char="m"/>
        <a:defRPr lang="zh-CN" altLang="en-US" sz="2400" b="1" kern="1200" dirty="0">
          <a:solidFill>
            <a:schemeClr val="tx1"/>
          </a:solidFill>
          <a:latin typeface="Arial Narrow" pitchFamily="34" charset="0"/>
          <a:ea typeface="微软雅黑" panose="020B0503020204020204"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anose="05000000000000000000" pitchFamily="2" charset="2"/>
        <a:buChar char="m"/>
        <a:defRPr lang="en-US" altLang="en-US" sz="2000" b="1" kern="1200" dirty="0">
          <a:solidFill>
            <a:schemeClr val="tx1"/>
          </a:solidFill>
          <a:latin typeface="Arial Narrow" pitchFamily="34" charset="0"/>
          <a:ea typeface="微软雅黑" panose="020B0503020204020204"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anose="05000000000000000000"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anose="05000000000000000000"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anose="05000000000000000000"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3.xml"/><Relationship Id="rId3" Type="http://schemas.openxmlformats.org/officeDocument/2006/relationships/image" Target="../media/image4.png"/><Relationship Id="rId2" Type="http://schemas.openxmlformats.org/officeDocument/2006/relationships/hyperlink" Target="https://blog.csdn.net/lalor/article/details/7426184" TargetMode="External"/><Relationship Id="rId1" Type="http://schemas.openxmlformats.org/officeDocument/2006/relationships/hyperlink" Target="https://blog.csdn.net/leisure512/article/details/4788467"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hyperlink" Target="https://blog.csdn.net/lalor/article/details/7426184" TargetMode="External"/><Relationship Id="rId1" Type="http://schemas.openxmlformats.org/officeDocument/2006/relationships/hyperlink" Target="https://blog.csdn.net/leisure512/article/details/4788467" TargetMode="Externa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hyperlink" Target="https://blog.csdn.net/lalor/article/details/7426184" TargetMode="External"/><Relationship Id="rId1" Type="http://schemas.openxmlformats.org/officeDocument/2006/relationships/hyperlink" Target="https://blog.csdn.net/leisure512/article/details/4788467" TargetMode="Externa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hyperlink" Target="https://blog.csdn.net/lalor/article/details/7426184" TargetMode="External"/><Relationship Id="rId1" Type="http://schemas.openxmlformats.org/officeDocument/2006/relationships/hyperlink" Target="https://blog.csdn.net/leisure512/article/details/4788467"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hyperlink" Target="http://eternalsakura13.com/2018/02/28/heap_exp1/" TargetMode="Externa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hyperlink" Target="https://wiki.x10sec.org/pwn/heap/heapoverflow_basic/" TargetMode="Externa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hyperlink" Target="https://heap-exploitation.dhavalkapil.com/attacks/double_free.html" TargetMode="Externa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hyperlink" Target="https://blog.csdn.net/qq_27312943/article/details/53152244" TargetMode="External"/><Relationship Id="rId1" Type="http://schemas.openxmlformats.org/officeDocument/2006/relationships/hyperlink" Target="https://blog.csdn.net/guilanl/article/details/64906474" TargetMode="Externa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xml"/><Relationship Id="rId3" Type="http://schemas.openxmlformats.org/officeDocument/2006/relationships/hyperlink" Target="https://blog.csdn.net/qq_27312943/article/details/53152244" TargetMode="External"/><Relationship Id="rId2" Type="http://schemas.openxmlformats.org/officeDocument/2006/relationships/hyperlink" Target="https://blog.csdn.net/guilanl/article/details/64906474" TargetMode="Externa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hyperlink" Target="https://wiki.x10sec.org/pwn/heap/unlink/" TargetMode="Externa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p:cNvSpPr>
            <a:spLocks noGrp="1"/>
          </p:cNvSpPr>
          <p:nvPr/>
        </p:nvSpPr>
        <p:spPr>
          <a:xfrm>
            <a:off x="2748065" y="4293096"/>
            <a:ext cx="6359525" cy="1119187"/>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defRPr/>
            </a:pPr>
            <a:r>
              <a:rPr lang="zh-CN" altLang="en-US"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rPr>
              <a:t>报告：李玉冰、李玥珺</a:t>
            </a:r>
            <a:endParaRPr lang="en-US" altLang="zh-CN"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endParaRPr>
          </a:p>
          <a:p>
            <a:pPr algn="l">
              <a:defRPr/>
            </a:pPr>
            <a:r>
              <a:rPr lang="zh-CN" altLang="en-US"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rPr>
              <a:t>实验：任泽众、范雨琳</a:t>
            </a:r>
            <a:endParaRPr lang="zh-CN" altLang="en-US"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endParaRPr>
          </a:p>
        </p:txBody>
      </p:sp>
      <p:sp>
        <p:nvSpPr>
          <p:cNvPr id="7" name="副标题 2"/>
          <p:cNvSpPr>
            <a:spLocks noGrp="1"/>
          </p:cNvSpPr>
          <p:nvPr/>
        </p:nvSpPr>
        <p:spPr>
          <a:xfrm>
            <a:off x="11750" y="1020212"/>
            <a:ext cx="9143999" cy="536580"/>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altLang="zh-CN" sz="2800" b="1" noProof="1">
                <a:solidFill>
                  <a:schemeClr val="accent5">
                    <a:lumMod val="50000"/>
                  </a:schemeClr>
                </a:solidFill>
                <a:effectLst>
                  <a:outerShdw blurRad="38100" dist="38100" dir="2700000" algn="tl">
                    <a:srgbClr val="000000">
                      <a:alpha val="43137"/>
                    </a:srgbClr>
                  </a:outerShdw>
                </a:effectLst>
                <a:latin typeface="华文中宋" pitchFamily="2" charset="-122"/>
                <a:ea typeface="华文中宋" pitchFamily="2" charset="-122"/>
              </a:rPr>
              <a:t>2019-2020</a:t>
            </a:r>
            <a:r>
              <a:rPr lang="zh-CN" altLang="en-US" sz="2800" b="1" noProof="1">
                <a:solidFill>
                  <a:schemeClr val="accent5">
                    <a:lumMod val="50000"/>
                  </a:schemeClr>
                </a:solidFill>
                <a:effectLst>
                  <a:outerShdw blurRad="38100" dist="38100" dir="2700000" algn="tl">
                    <a:srgbClr val="000000">
                      <a:alpha val="43137"/>
                    </a:srgbClr>
                  </a:outerShdw>
                </a:effectLst>
                <a:latin typeface="华文中宋" pitchFamily="2" charset="-122"/>
                <a:ea typeface="华文中宋" pitchFamily="2" charset="-122"/>
              </a:rPr>
              <a:t>学年秋季学期</a:t>
            </a:r>
            <a:endParaRPr lang="zh-CN" altLang="en-US" sz="2800" b="1" noProof="1">
              <a:solidFill>
                <a:schemeClr val="accent5">
                  <a:lumMod val="50000"/>
                </a:schemeClr>
              </a:solidFill>
              <a:effectLst>
                <a:outerShdw blurRad="38100" dist="38100" dir="2700000" algn="tl">
                  <a:srgbClr val="000000">
                    <a:alpha val="43137"/>
                  </a:srgbClr>
                </a:outerShdw>
              </a:effectLst>
              <a:latin typeface="华文中宋" pitchFamily="2" charset="-122"/>
              <a:ea typeface="华文中宋" pitchFamily="2" charset="-122"/>
            </a:endParaRPr>
          </a:p>
        </p:txBody>
      </p:sp>
      <p:sp>
        <p:nvSpPr>
          <p:cNvPr id="13" name="文本占位符 2"/>
          <p:cNvSpPr txBox="1"/>
          <p:nvPr/>
        </p:nvSpPr>
        <p:spPr bwMode="auto">
          <a:xfrm>
            <a:off x="1393231" y="2067030"/>
            <a:ext cx="6359525" cy="1521147"/>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noAutofit/>
          </a:bodyPr>
          <a:lstStyle>
            <a:lvl1pPr marL="0" indent="0" algn="ctr" rtl="0" eaLnBrk="1" fontAlgn="base" hangingPunct="1">
              <a:lnSpc>
                <a:spcPct val="90000"/>
              </a:lnSpc>
              <a:spcBef>
                <a:spcPts val="1000"/>
              </a:spcBef>
              <a:spcAft>
                <a:spcPct val="0"/>
              </a:spcAft>
              <a:buClr>
                <a:schemeClr val="accent1"/>
              </a:buClr>
              <a:buFont typeface="Wingdings" panose="05000000000000000000" pitchFamily="2" charset="2"/>
              <a:buNone/>
              <a:defRPr lang="zh-CN" altLang="en-US" sz="2800" b="1" kern="1200" baseline="0">
                <a:solidFill>
                  <a:schemeClr val="tx1"/>
                </a:solidFill>
                <a:effectLst/>
                <a:latin typeface="Arial Narrow" pitchFamily="34" charset="0"/>
                <a:ea typeface="微软雅黑" panose="020B0503020204020204" pitchFamily="34" charset="-122"/>
                <a:cs typeface="+mn-cs"/>
              </a:defRPr>
            </a:lvl1pPr>
            <a:lvl2pPr marL="457200" indent="0" algn="l" rtl="0" eaLnBrk="1" fontAlgn="base" hangingPunct="1">
              <a:lnSpc>
                <a:spcPct val="90000"/>
              </a:lnSpc>
              <a:spcBef>
                <a:spcPts val="500"/>
              </a:spcBef>
              <a:spcAft>
                <a:spcPct val="0"/>
              </a:spcAft>
              <a:buClr>
                <a:schemeClr val="accent1"/>
              </a:buClr>
              <a:buFont typeface="Wingdings" panose="05000000000000000000" pitchFamily="2" charset="2"/>
              <a:buNone/>
              <a:defRPr lang="en-US" altLang="en-US" sz="2000" b="1" kern="1200">
                <a:solidFill>
                  <a:schemeClr val="tx1">
                    <a:tint val="75000"/>
                  </a:schemeClr>
                </a:solidFill>
                <a:latin typeface="+mn-lt"/>
                <a:ea typeface="+mn-ea"/>
                <a:cs typeface="+mn-cs"/>
              </a:defRPr>
            </a:lvl2pPr>
            <a:lvl3pPr marL="914400" indent="0" algn="l" rtl="0" eaLnBrk="1" fontAlgn="base" hangingPunct="1">
              <a:lnSpc>
                <a:spcPct val="90000"/>
              </a:lnSpc>
              <a:spcBef>
                <a:spcPts val="500"/>
              </a:spcBef>
              <a:spcAft>
                <a:spcPct val="0"/>
              </a:spcAft>
              <a:buClr>
                <a:schemeClr val="accent1"/>
              </a:buClr>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rtl="0" eaLnBrk="1" fontAlgn="base" hangingPunct="1">
              <a:lnSpc>
                <a:spcPct val="90000"/>
              </a:lnSpc>
              <a:spcBef>
                <a:spcPts val="500"/>
              </a:spcBef>
              <a:spcAft>
                <a:spcPct val="0"/>
              </a:spcAft>
              <a:buClr>
                <a:schemeClr val="accent1"/>
              </a:buClr>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rtl="0" eaLnBrk="1" fontAlgn="base" hangingPunct="1">
              <a:lnSpc>
                <a:spcPct val="90000"/>
              </a:lnSpc>
              <a:spcBef>
                <a:spcPts val="500"/>
              </a:spcBef>
              <a:spcAft>
                <a:spcPct val="0"/>
              </a:spcAft>
              <a:buClr>
                <a:schemeClr val="accent1"/>
              </a:buClr>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fontAlgn="auto">
              <a:defRPr/>
            </a:pPr>
            <a:r>
              <a:rPr lang="zh-CN" altLang="en-US" sz="3200" noProof="1">
                <a:effectLst>
                  <a:outerShdw blurRad="38100" dist="38100" dir="2700000" algn="tl">
                    <a:srgbClr val="000000">
                      <a:alpha val="43137"/>
                    </a:srgbClr>
                  </a:outerShdw>
                </a:effectLst>
                <a:latin typeface="华文中宋" pitchFamily="2" charset="-122"/>
                <a:ea typeface="华文中宋" pitchFamily="2" charset="-122"/>
                <a:sym typeface="+mn-ea"/>
              </a:rPr>
              <a:t>漏洞利用与攻防实践</a:t>
            </a:r>
            <a:endParaRPr lang="zh-CN" altLang="en-US" sz="3200" noProof="1">
              <a:effectLst>
                <a:outerShdw blurRad="38100" dist="38100" dir="2700000" algn="tl">
                  <a:srgbClr val="000000">
                    <a:alpha val="43137"/>
                  </a:srgbClr>
                </a:outerShdw>
              </a:effectLst>
              <a:latin typeface="华文中宋" pitchFamily="2" charset="-122"/>
              <a:ea typeface="华文中宋" pitchFamily="2" charset="-122"/>
              <a:sym typeface="+mn-ea"/>
            </a:endParaRPr>
          </a:p>
          <a:p>
            <a:pPr fontAlgn="auto">
              <a:defRPr/>
            </a:pPr>
            <a:r>
              <a:rPr lang="en-US" altLang="zh-CN" sz="2400" i="1" noProof="1">
                <a:effectLst>
                  <a:outerShdw blurRad="38100" dist="38100" dir="2700000" algn="tl">
                    <a:srgbClr val="000000">
                      <a:alpha val="43137"/>
                    </a:srgbClr>
                  </a:outerShdw>
                </a:effectLst>
                <a:latin typeface="华文中宋" pitchFamily="2" charset="-122"/>
                <a:ea typeface="华文中宋" pitchFamily="2" charset="-122"/>
                <a:sym typeface="+mn-ea"/>
              </a:rPr>
              <a:t>E</a:t>
            </a:r>
            <a:r>
              <a:rPr sz="2400" i="1">
                <a:effectLst>
                  <a:outerShdw blurRad="38100" dist="38100" dir="2700000" algn="tl">
                    <a:srgbClr val="000000">
                      <a:alpha val="43137"/>
                    </a:srgbClr>
                  </a:outerShdw>
                </a:effectLst>
                <a:latin typeface="华文中宋" pitchFamily="2" charset="-122"/>
                <a:ea typeface="华文中宋" pitchFamily="2" charset="-122"/>
                <a:sym typeface="+mn-ea"/>
              </a:rPr>
              <a:t>xploiting Software Vulnerability-Techniques and Practice</a:t>
            </a:r>
            <a:endParaRPr lang="en-US" altLang="zh-CN" sz="2400" i="1" noProof="1">
              <a:effectLst>
                <a:outerShdw blurRad="38100" dist="38100" dir="2700000" algn="tl">
                  <a:srgbClr val="000000">
                    <a:alpha val="43137"/>
                  </a:srgbClr>
                </a:outerShdw>
              </a:effectLst>
              <a:latin typeface="华文中宋" pitchFamily="2" charset="-122"/>
              <a:ea typeface="华文中宋" pitchFamily="2" charset="-122"/>
              <a:sym typeface="+mn-ea"/>
            </a:endParaRPr>
          </a:p>
        </p:txBody>
      </p:sp>
      <p:cxnSp>
        <p:nvCxnSpPr>
          <p:cNvPr id="14" name="直接连接符 13"/>
          <p:cNvCxnSpPr/>
          <p:nvPr/>
        </p:nvCxnSpPr>
        <p:spPr>
          <a:xfrm>
            <a:off x="0" y="6381328"/>
            <a:ext cx="9110546" cy="41774"/>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691640" y="692785"/>
            <a:ext cx="5760085" cy="1082675"/>
          </a:xfrm>
        </p:spPr>
        <p:style>
          <a:lnRef idx="1">
            <a:schemeClr val="accent6"/>
          </a:lnRef>
          <a:fillRef idx="2">
            <a:schemeClr val="accent6"/>
          </a:fillRef>
          <a:effectRef idx="1">
            <a:schemeClr val="accent6"/>
          </a:effectRef>
          <a:fontRef idx="minor">
            <a:schemeClr val="dk1"/>
          </a:fontRef>
        </p:style>
        <p:txBody>
          <a:bodyPr rtlCol="0">
            <a:noAutofit/>
          </a:bodyPr>
          <a:lstStyle/>
          <a:p>
            <a:pPr fontAlgn="auto">
              <a:defRPr/>
            </a:pPr>
            <a:r>
              <a:rPr sz="2700">
                <a:effectLst>
                  <a:outerShdw blurRad="38100" dist="38100" dir="2700000" algn="tl">
                    <a:srgbClr val="000000">
                      <a:alpha val="43137"/>
                    </a:srgbClr>
                  </a:outerShdw>
                </a:effectLst>
                <a:latin typeface="华文中宋" pitchFamily="2" charset="-122"/>
                <a:ea typeface="华文中宋" pitchFamily="2" charset="-122"/>
                <a:sym typeface="+mn-ea"/>
              </a:rPr>
              <a:t>漏洞利用与攻防实践</a:t>
            </a:r>
            <a:endParaRPr lang="zh-CN" altLang="en-US" sz="2700" noProof="1">
              <a:effectLst>
                <a:outerShdw blurRad="38100" dist="38100" dir="2700000" algn="tl">
                  <a:srgbClr val="000000">
                    <a:alpha val="43137"/>
                  </a:srgbClr>
                </a:outerShdw>
              </a:effectLst>
              <a:latin typeface="华文中宋" pitchFamily="2" charset="-122"/>
              <a:ea typeface="华文中宋" pitchFamily="2" charset="-122"/>
              <a:sym typeface="+mn-ea"/>
            </a:endParaRPr>
          </a:p>
          <a:p>
            <a:pPr fontAlgn="auto">
              <a:defRPr/>
            </a:pPr>
            <a:r>
              <a:rPr sz="2000" i="1">
                <a:latin typeface="Times New Roman" panose="02020603050405020304" pitchFamily="18" charset="0"/>
                <a:sym typeface="+mn-ea"/>
              </a:rPr>
              <a:t>Exploiting Software Vulnerability-Techniques and Practice</a:t>
            </a:r>
            <a:endParaRPr lang="en-US" altLang="zh-CN" sz="2000" i="1" noProof="1">
              <a:latin typeface="Times New Roman" panose="02020603050405020304" pitchFamily="18" charset="0"/>
              <a:sym typeface="+mn-ea"/>
            </a:endParaRPr>
          </a:p>
        </p:txBody>
      </p:sp>
      <p:sp>
        <p:nvSpPr>
          <p:cNvPr id="7" name="副标题 2"/>
          <p:cNvSpPr>
            <a:spLocks noGrp="1"/>
          </p:cNvSpPr>
          <p:nvPr/>
        </p:nvSpPr>
        <p:spPr>
          <a:xfrm>
            <a:off x="3419475" y="6021388"/>
            <a:ext cx="2432050" cy="425450"/>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endParaRPr lang="en-US" altLang="zh-CN" sz="2800" b="1" noProof="1">
              <a:solidFill>
                <a:schemeClr val="accent1">
                  <a:lumMod val="50000"/>
                </a:schemeClr>
              </a:solidFill>
              <a:effectLst>
                <a:outerShdw blurRad="38100" dist="38100" dir="2700000" algn="tl">
                  <a:srgbClr val="000000">
                    <a:alpha val="43137"/>
                  </a:srgbClr>
                </a:outerShdw>
              </a:effectLst>
              <a:latin typeface="Californian FB" panose="0207040306080B030204" pitchFamily="18" charset="0"/>
              <a:ea typeface="方正姚体" panose="02010601030101010101" charset="-122"/>
            </a:endParaRPr>
          </a:p>
        </p:txBody>
      </p:sp>
      <p:sp>
        <p:nvSpPr>
          <p:cNvPr id="9" name="文本框 8"/>
          <p:cNvSpPr txBox="1"/>
          <p:nvPr/>
        </p:nvSpPr>
        <p:spPr>
          <a:xfrm>
            <a:off x="1988" y="-36000"/>
            <a:ext cx="9166396" cy="523220"/>
          </a:xfrm>
          <a:prstGeom prst="rect">
            <a:avLst/>
          </a:prstGeom>
          <a:solidFill>
            <a:srgbClr val="D8F6F8"/>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panose="02010509060101010101" charset="-122"/>
                <a:ea typeface="隶书" panose="02010509060101010101" charset="-122"/>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panose="02010509060101010101" charset="-122"/>
              <a:ea typeface="隶书" panose="02010509060101010101" charset="-122"/>
              <a:sym typeface="+mn-ea"/>
            </a:endParaRPr>
          </a:p>
        </p:txBody>
      </p:sp>
      <p:sp>
        <p:nvSpPr>
          <p:cNvPr id="15" name="标题 1"/>
          <p:cNvSpPr txBox="1"/>
          <p:nvPr/>
        </p:nvSpPr>
        <p:spPr bwMode="auto">
          <a:xfrm>
            <a:off x="639430" y="2338584"/>
            <a:ext cx="7886700"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Autofit/>
          </a:bodyPr>
          <a:lstStyle>
            <a:lvl1pPr algn="l" rtl="0" eaLnBrk="1" fontAlgn="base" hangingPunct="1">
              <a:lnSpc>
                <a:spcPct val="90000"/>
              </a:lnSpc>
              <a:spcBef>
                <a:spcPct val="0"/>
              </a:spcBef>
              <a:spcAft>
                <a:spcPct val="0"/>
              </a:spcAft>
              <a:defRPr lang="en-US" altLang="en-US" sz="3200" b="1" kern="1200" baseline="0">
                <a:solidFill>
                  <a:schemeClr val="tx1"/>
                </a:solidFill>
                <a:effectLst>
                  <a:outerShdw blurRad="38100" dist="38100" dir="2700000" algn="tl">
                    <a:srgbClr val="000000">
                      <a:alpha val="43137"/>
                    </a:srgbClr>
                  </a:outerShdw>
                </a:effectLst>
                <a:latin typeface="Bodoni MT Condensed" pitchFamily="18" charset="0"/>
                <a:ea typeface="华文中宋"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5pPr>
            <a:lvl6pPr marL="4572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6pPr>
            <a:lvl7pPr marL="9144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9pPr>
          </a:lstStyle>
          <a:p>
            <a:pPr algn="ctr" fontAlgn="auto">
              <a:lnSpc>
                <a:spcPct val="150000"/>
              </a:lnSpc>
              <a:defRPr/>
            </a:pPr>
            <a:r>
              <a:rPr lang="en-US" altLang="zh-CN" sz="3600" noProof="1">
                <a:solidFill>
                  <a:schemeClr val="accent3">
                    <a:lumMod val="50000"/>
                  </a:schemeClr>
                </a:solidFill>
                <a:latin typeface="微软雅黑" panose="020B0503020204020204" pitchFamily="34" charset="-122"/>
                <a:ea typeface="微软雅黑" panose="020B0503020204020204" pitchFamily="34" charset="-122"/>
                <a:sym typeface="+mn-ea"/>
              </a:rPr>
              <a:t>[</a:t>
            </a:r>
            <a:r>
              <a:rPr lang="zh-CN" altLang="en-US" sz="3600" noProof="1">
                <a:solidFill>
                  <a:schemeClr val="accent3">
                    <a:lumMod val="50000"/>
                  </a:schemeClr>
                </a:solidFill>
                <a:latin typeface="微软雅黑" panose="020B0503020204020204" pitchFamily="34" charset="-122"/>
                <a:ea typeface="微软雅黑" panose="020B0503020204020204" pitchFamily="34" charset="-122"/>
                <a:sym typeface="+mn-ea"/>
              </a:rPr>
              <a:t>第三次课</a:t>
            </a:r>
            <a:r>
              <a:rPr lang="en-US" altLang="zh-CN" sz="3600" noProof="1">
                <a:solidFill>
                  <a:schemeClr val="accent3">
                    <a:lumMod val="50000"/>
                  </a:schemeClr>
                </a:solidFill>
                <a:latin typeface="微软雅黑" panose="020B0503020204020204" pitchFamily="34" charset="-122"/>
                <a:ea typeface="微软雅黑" panose="020B0503020204020204" pitchFamily="34" charset="-122"/>
                <a:sym typeface="+mn-ea"/>
              </a:rPr>
              <a:t>]</a:t>
            </a:r>
            <a:r>
              <a:rPr lang="zh-CN" altLang="en-US" sz="3600" noProof="1">
                <a:solidFill>
                  <a:schemeClr val="accent3">
                    <a:lumMod val="50000"/>
                  </a:schemeClr>
                </a:solidFill>
                <a:latin typeface="微软雅黑" panose="020B0503020204020204" pitchFamily="34" charset="-122"/>
                <a:ea typeface="微软雅黑" panose="020B0503020204020204" pitchFamily="34" charset="-122"/>
                <a:sym typeface="+mn-ea"/>
              </a:rPr>
              <a:t>堆利用</a:t>
            </a:r>
            <a:endParaRPr lang="zh-CN" altLang="en-US" sz="3600" noProof="1">
              <a:solidFill>
                <a:schemeClr val="accent3">
                  <a:lumMod val="50000"/>
                </a:schemeClr>
              </a:solidFill>
              <a:latin typeface="微软雅黑" panose="020B0503020204020204" pitchFamily="34" charset="-122"/>
              <a:ea typeface="微软雅黑" panose="020B0503020204020204" pitchFamily="34" charset="-122"/>
              <a:sym typeface="+mn-ea"/>
            </a:endParaRPr>
          </a:p>
        </p:txBody>
      </p:sp>
      <p:sp>
        <p:nvSpPr>
          <p:cNvPr id="5" name="灯片编号占位符 4"/>
          <p:cNvSpPr>
            <a:spLocks noGrp="1"/>
          </p:cNvSpPr>
          <p:nvPr>
            <p:ph type="sldNum" sz="quarter" idx="10"/>
          </p:nvPr>
        </p:nvSpPr>
        <p:spPr/>
        <p:txBody>
          <a:bodyPr/>
          <a:lstStyle/>
          <a:p>
            <a:fld id="{8A6D26B4-866C-4665-A6B1-E1D86A7FEB5A}" type="slidenum">
              <a:rPr lang="zh-CN" altLang="en-US" smtClean="0"/>
            </a:fld>
            <a:endParaRPr lang="zh-CN" altLang="en-US"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内容占位符 3"/>
          <p:cNvSpPr>
            <a:spLocks noGrp="1"/>
          </p:cNvSpPr>
          <p:nvPr>
            <p:ph type="body" idx="1"/>
          </p:nvPr>
        </p:nvSpPr>
        <p:spPr>
          <a:xfrm>
            <a:off x="1691800" y="755316"/>
            <a:ext cx="5760400" cy="527018"/>
          </a:xfrm>
        </p:spPr>
        <p:txBody>
          <a:bodyPr/>
          <a:lstStyle/>
          <a:p>
            <a:pPr marL="0" indent="0">
              <a:lnSpc>
                <a:spcPct val="150000"/>
              </a:lnSpc>
              <a:buNone/>
            </a:pPr>
            <a:endParaRPr lang="en-US" altLang="zh-CN" dirty="0"/>
          </a:p>
          <a:p>
            <a:pPr>
              <a:lnSpc>
                <a:spcPct val="150000"/>
              </a:lnSpc>
            </a:pPr>
            <a:r>
              <a:rPr lang="zh-CN" altLang="en-US" dirty="0"/>
              <a:t>概 要</a:t>
            </a:r>
            <a:endParaRPr lang="zh-CN" altLang="en-US" dirty="0"/>
          </a:p>
          <a:p>
            <a:pPr>
              <a:lnSpc>
                <a:spcPct val="150000"/>
              </a:lnSpc>
            </a:pPr>
            <a:endParaRPr lang="zh-CN" altLang="en-US" dirty="0"/>
          </a:p>
        </p:txBody>
      </p:sp>
      <p:sp>
        <p:nvSpPr>
          <p:cNvPr id="3" name="文本占位符 2"/>
          <p:cNvSpPr>
            <a:spLocks noGrp="1"/>
          </p:cNvSpPr>
          <p:nvPr>
            <p:ph idx="13"/>
          </p:nvPr>
        </p:nvSpPr>
        <p:spPr>
          <a:xfrm>
            <a:off x="755576" y="1628800"/>
            <a:ext cx="7886700" cy="4870903"/>
          </a:xfrm>
        </p:spPr>
        <p:txBody>
          <a:bodyPr/>
          <a:lstStyle/>
          <a:p>
            <a:r>
              <a:rPr lang="zh-CN" altLang="en-US" dirty="0"/>
              <a:t>堆的基本知识</a:t>
            </a:r>
            <a:endParaRPr lang="en-US" altLang="zh-CN" dirty="0"/>
          </a:p>
          <a:p>
            <a:pPr lvl="1"/>
            <a:r>
              <a:rPr lang="zh-CN" altLang="en-US" dirty="0"/>
              <a:t>数据结构</a:t>
            </a:r>
            <a:endParaRPr lang="en-US" altLang="zh-CN" dirty="0"/>
          </a:p>
          <a:p>
            <a:pPr lvl="1"/>
            <a:r>
              <a:rPr lang="en-US" altLang="zh-CN" dirty="0"/>
              <a:t>Chunk</a:t>
            </a:r>
            <a:endParaRPr lang="en-US" altLang="zh-CN" dirty="0"/>
          </a:p>
          <a:p>
            <a:pPr lvl="1"/>
            <a:r>
              <a:rPr lang="zh-CN" altLang="en-US" dirty="0"/>
              <a:t>管理方式</a:t>
            </a:r>
            <a:r>
              <a:rPr lang="en-US" altLang="zh-CN" dirty="0"/>
              <a:t>(bins)</a:t>
            </a:r>
            <a:endParaRPr lang="en-US" altLang="zh-CN" dirty="0"/>
          </a:p>
          <a:p>
            <a:pPr lvl="1"/>
            <a:r>
              <a:rPr lang="zh-CN" altLang="en-US" dirty="0"/>
              <a:t>内存分配和释放函数</a:t>
            </a:r>
            <a:endParaRPr lang="en-US" altLang="zh-CN" dirty="0"/>
          </a:p>
          <a:p>
            <a:r>
              <a:rPr lang="zh-CN" altLang="en-US" dirty="0"/>
              <a:t>堆利用</a:t>
            </a:r>
            <a:endParaRPr lang="en-US" altLang="zh-CN" dirty="0"/>
          </a:p>
          <a:p>
            <a:pPr lvl="1"/>
            <a:r>
              <a:rPr lang="zh-CN" altLang="en-US" dirty="0"/>
              <a:t>概述</a:t>
            </a:r>
            <a:endParaRPr lang="en-US" altLang="zh-CN" dirty="0"/>
          </a:p>
          <a:p>
            <a:pPr lvl="1"/>
            <a:r>
              <a:rPr lang="zh-CN" altLang="en-US" dirty="0"/>
              <a:t>堆溢出</a:t>
            </a:r>
            <a:endParaRPr lang="en-US" altLang="zh-CN" dirty="0"/>
          </a:p>
          <a:p>
            <a:pPr lvl="1"/>
            <a:r>
              <a:rPr lang="en-US" altLang="zh-CN" dirty="0"/>
              <a:t>Double free()</a:t>
            </a:r>
            <a:endParaRPr lang="en-US" altLang="zh-CN" dirty="0"/>
          </a:p>
          <a:p>
            <a:pPr lvl="1"/>
            <a:r>
              <a:rPr lang="en-US" altLang="zh-CN" dirty="0"/>
              <a:t>Use After free()</a:t>
            </a:r>
            <a:endParaRPr lang="en-US" altLang="zh-CN" dirty="0"/>
          </a:p>
          <a:p>
            <a:pPr lvl="1"/>
            <a:r>
              <a:rPr lang="en-US" altLang="zh-CN" dirty="0"/>
              <a:t>Unlink()</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9" name="标题 1"/>
          <p:cNvSpPr txBox="1"/>
          <p:nvPr/>
        </p:nvSpPr>
        <p:spPr bwMode="auto">
          <a:xfrm>
            <a:off x="59564" y="20517"/>
            <a:ext cx="7363921" cy="50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lang="en-US" altLang="en-US" sz="2800" b="1" kern="1200" dirty="0">
                <a:solidFill>
                  <a:srgbClr val="622820"/>
                </a:solidFill>
                <a:effectLst>
                  <a:outerShdw blurRad="38100" dist="38100" dir="2700000" algn="tl">
                    <a:srgbClr val="000000">
                      <a:alpha val="43137"/>
                    </a:srgbClr>
                  </a:outerShdw>
                </a:effectLst>
                <a:latin typeface="Bodoni MT Condensed" pitchFamily="18" charset="0"/>
                <a:ea typeface="华文中宋"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5pPr>
            <a:lvl6pPr marL="4572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6pPr>
            <a:lvl7pPr marL="9144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9pPr>
          </a:lstStyle>
          <a:p>
            <a:r>
              <a:rPr lang="en-US" altLang="zh-CN" noProof="1">
                <a:latin typeface="隶书" panose="02010509060101010101" charset="-122"/>
                <a:ea typeface="隶书" panose="02010509060101010101" charset="-122"/>
              </a:rPr>
              <a:t>[</a:t>
            </a:r>
            <a:r>
              <a:rPr lang="zh-CN" altLang="en-US" noProof="1">
                <a:latin typeface="隶书" panose="02010509060101010101" charset="-122"/>
                <a:ea typeface="隶书" panose="02010509060101010101" charset="-122"/>
              </a:rPr>
              <a:t>第</a:t>
            </a:r>
            <a:r>
              <a:rPr lang="en-US" altLang="zh-CN" i="1" noProof="1">
                <a:latin typeface="Times New Roman" panose="02020603050405020304" pitchFamily="18" charset="0"/>
                <a:ea typeface="隶书" panose="02010509060101010101" charset="-122"/>
                <a:cs typeface="Times New Roman" panose="02020603050405020304" pitchFamily="18" charset="0"/>
              </a:rPr>
              <a:t>3</a:t>
            </a:r>
            <a:r>
              <a:rPr lang="zh-CN" altLang="en-US" noProof="1">
                <a:latin typeface="隶书" panose="02010509060101010101" charset="-122"/>
                <a:ea typeface="隶书" panose="02010509060101010101" charset="-122"/>
              </a:rPr>
              <a:t>次课</a:t>
            </a:r>
            <a:r>
              <a:rPr lang="en-US" altLang="zh-CN" noProof="1">
                <a:latin typeface="隶书" panose="02010509060101010101" charset="-122"/>
                <a:ea typeface="隶书" panose="02010509060101010101" charset="-122"/>
              </a:rPr>
              <a:t>] </a:t>
            </a:r>
            <a:r>
              <a:rPr lang="zh-CN" altLang="en-US" noProof="1">
                <a:latin typeface="隶书" panose="02010509060101010101" charset="-122"/>
                <a:ea typeface="隶书" panose="02010509060101010101" charset="-122"/>
              </a:rPr>
              <a:t>堆利用</a:t>
            </a:r>
            <a:endParaRPr lang="zh-CN" altLang="en-US" noProof="1">
              <a:latin typeface="隶书" panose="02010509060101010101" charset="-122"/>
              <a:ea typeface="隶书" panose="02010509060101010101" charset="-122"/>
            </a:endParaRPr>
          </a:p>
        </p:txBody>
      </p:sp>
      <p:sp>
        <p:nvSpPr>
          <p:cNvPr id="12" name="灯片编号占位符 5"/>
          <p:cNvSpPr>
            <a:spLocks noGrp="1"/>
          </p:cNvSpPr>
          <p:nvPr>
            <p:ph type="sldNum" sz="quarter" idx="10"/>
          </p:nvPr>
        </p:nvSpPr>
        <p:spPr>
          <a:xfrm>
            <a:off x="8027988" y="6611938"/>
            <a:ext cx="1049337" cy="246062"/>
          </a:xfrm>
        </p:spPr>
        <p:txBody>
          <a:bodyPr/>
          <a:lstStyle/>
          <a:p>
            <a:fld id="{8A6D26B4-866C-4665-A6B1-E1D86A7FEB5A}" type="slidenum">
              <a:rPr lang="zh-CN" altLang="en-US" smtClean="0"/>
            </a:fld>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堆在内存中的位置</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r>
              <a:rPr kumimoji="1" lang="zh-CN" altLang="en-US" dirty="0">
                <a:latin typeface="隶书" panose="02010509060101010101" charset="-122"/>
                <a:ea typeface="隶书" panose="02010509060101010101" charset="-122"/>
              </a:rPr>
              <a:t>背景知识</a:t>
            </a:r>
            <a:endParaRPr kumimoji="1" lang="zh-CN" altLang="en-US" dirty="0">
              <a:latin typeface="隶书" panose="02010509060101010101" charset="-122"/>
              <a:ea typeface="隶书" panose="02010509060101010101" charset="-122"/>
            </a:endParaRPr>
          </a:p>
        </p:txBody>
      </p:sp>
      <p:pic>
        <p:nvPicPr>
          <p:cNvPr id="10" name="内容占位符 9"/>
          <p:cNvPicPr>
            <a:picLocks noGrp="1" noChangeAspect="1"/>
          </p:cNvPicPr>
          <p:nvPr>
            <p:ph idx="13"/>
          </p:nvPr>
        </p:nvPicPr>
        <p:blipFill>
          <a:blip r:embed="rId1">
            <a:extLst>
              <a:ext uri="{28A0092B-C50C-407E-A947-70E740481C1C}">
                <a14:useLocalDpi xmlns:a14="http://schemas.microsoft.com/office/drawing/2010/main" val="0"/>
              </a:ext>
            </a:extLst>
          </a:blip>
          <a:stretch>
            <a:fillRect/>
          </a:stretch>
        </p:blipFill>
        <p:spPr>
          <a:xfrm>
            <a:off x="2013037" y="1412776"/>
            <a:ext cx="5799323" cy="4762913"/>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en-US" altLang="zh-CN" dirty="0"/>
              <a:t>4</a:t>
            </a:r>
            <a:r>
              <a:rPr kumimoji="1" lang="zh-CN" altLang="en-US" dirty="0"/>
              <a:t>种</a:t>
            </a:r>
            <a:r>
              <a:rPr kumimoji="1" lang="en-US" altLang="zh-CN" dirty="0"/>
              <a:t>chunk</a:t>
            </a:r>
            <a:endParaRPr kumimoji="1" lang="zh-CN" altLang="en-US" dirty="0"/>
          </a:p>
        </p:txBody>
      </p:sp>
      <p:sp>
        <p:nvSpPr>
          <p:cNvPr id="3" name="内容占位符 2"/>
          <p:cNvSpPr>
            <a:spLocks noGrp="1"/>
          </p:cNvSpPr>
          <p:nvPr>
            <p:ph idx="13"/>
          </p:nvPr>
        </p:nvSpPr>
        <p:spPr>
          <a:xfrm>
            <a:off x="1043608" y="2564904"/>
            <a:ext cx="7886700" cy="4870903"/>
          </a:xfrm>
        </p:spPr>
        <p:txBody>
          <a:bodyPr/>
          <a:lstStyle/>
          <a:p>
            <a:r>
              <a:rPr kumimoji="1" lang="en-US" altLang="zh-CN" dirty="0"/>
              <a:t>allocated chunk</a:t>
            </a:r>
            <a:endParaRPr kumimoji="1" lang="en-US" altLang="zh-CN" dirty="0"/>
          </a:p>
          <a:p>
            <a:r>
              <a:rPr kumimoji="1" lang="en-US" altLang="zh-CN" dirty="0"/>
              <a:t>free chunk</a:t>
            </a:r>
            <a:endParaRPr kumimoji="1" lang="en-US" altLang="zh-CN" dirty="0"/>
          </a:p>
          <a:p>
            <a:r>
              <a:rPr kumimoji="1" lang="en-US" altLang="zh-CN" dirty="0"/>
              <a:t>top chunk</a:t>
            </a:r>
            <a:endParaRPr kumimoji="1" lang="en-US" altLang="zh-CN" dirty="0"/>
          </a:p>
          <a:p>
            <a:r>
              <a:rPr kumimoji="1" lang="en-US" altLang="zh-CN" dirty="0"/>
              <a:t>last remainder chunk</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r>
              <a:rPr kumimoji="1" lang="zh-CN" altLang="en-US" dirty="0"/>
              <a:t>背景知识</a:t>
            </a:r>
            <a:endParaRPr kumimoji="1"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44008" y="2001122"/>
            <a:ext cx="3726503" cy="36579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堆的数据结构</a:t>
            </a:r>
            <a:endParaRPr kumimoji="1" lang="zh-CN" altLang="en-US" dirty="0"/>
          </a:p>
        </p:txBody>
      </p:sp>
      <p:sp>
        <p:nvSpPr>
          <p:cNvPr id="3" name="内容占位符 2"/>
          <p:cNvSpPr>
            <a:spLocks noGrp="1"/>
          </p:cNvSpPr>
          <p:nvPr>
            <p:ph idx="13"/>
          </p:nvPr>
        </p:nvSpPr>
        <p:spPr/>
        <p:txBody>
          <a:bodyPr/>
          <a:lstStyle/>
          <a:p>
            <a:r>
              <a:rPr kumimoji="1" lang="en-US" altLang="zh-CN" dirty="0" err="1"/>
              <a:t>heap_info</a:t>
            </a:r>
            <a:endParaRPr kumimoji="1" lang="en-US" altLang="zh-CN" dirty="0"/>
          </a:p>
          <a:p>
            <a:pPr lvl="1"/>
            <a:r>
              <a:rPr kumimoji="1" lang="zh-CN" altLang="en-US" dirty="0"/>
              <a:t>指定堆的大小并提供指向</a:t>
            </a:r>
            <a:r>
              <a:rPr kumimoji="1" lang="en-US" altLang="zh-CN" dirty="0"/>
              <a:t>arena</a:t>
            </a:r>
            <a:r>
              <a:rPr kumimoji="1" lang="zh-CN" altLang="en-US" dirty="0"/>
              <a:t>数据结构的指针，主线程无此结构</a:t>
            </a:r>
            <a:endParaRPr kumimoji="1" lang="en-US" altLang="zh-CN" dirty="0"/>
          </a:p>
          <a:p>
            <a:r>
              <a:rPr kumimoji="1" lang="en-US" altLang="zh-CN" dirty="0" err="1"/>
              <a:t>malloc_state</a:t>
            </a:r>
            <a:endParaRPr kumimoji="1" lang="en-US" altLang="zh-CN" dirty="0"/>
          </a:p>
          <a:p>
            <a:pPr lvl="1"/>
            <a:r>
              <a:rPr kumimoji="1" lang="zh-CN" altLang="en-US" dirty="0"/>
              <a:t>一个线程包含一个此结构，存储互斥锁信息、</a:t>
            </a:r>
            <a:r>
              <a:rPr kumimoji="1" lang="en-US" altLang="zh-CN" dirty="0"/>
              <a:t>bins</a:t>
            </a:r>
            <a:r>
              <a:rPr kumimoji="1" lang="zh-CN" altLang="en-US" dirty="0"/>
              <a:t>信息等</a:t>
            </a:r>
            <a:endParaRPr kumimoji="1" lang="en-US" altLang="zh-CN" dirty="0"/>
          </a:p>
          <a:p>
            <a:r>
              <a:rPr kumimoji="1" lang="en-US" altLang="zh-CN" dirty="0" err="1"/>
              <a:t>malloc_chunk</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r>
              <a:rPr kumimoji="1" lang="zh-CN" altLang="en-US" dirty="0">
                <a:latin typeface="隶书" panose="02010509060101010101" charset="-122"/>
                <a:ea typeface="隶书" panose="02010509060101010101" charset="-122"/>
              </a:rPr>
              <a:t>背景知识</a:t>
            </a:r>
            <a:endParaRPr kumimoji="1" lang="zh-CN" altLang="en-US" dirty="0">
              <a:latin typeface="隶书" panose="02010509060101010101" charset="-122"/>
              <a:ea typeface="隶书" panose="02010509060101010101" charset="-122"/>
            </a:endParaRPr>
          </a:p>
        </p:txBody>
      </p:sp>
      <p:sp>
        <p:nvSpPr>
          <p:cNvPr id="8" name="矩形 7"/>
          <p:cNvSpPr/>
          <p:nvPr/>
        </p:nvSpPr>
        <p:spPr>
          <a:xfrm>
            <a:off x="1331640" y="3848311"/>
            <a:ext cx="5976664" cy="2523768"/>
          </a:xfrm>
          <a:prstGeom prst="rect">
            <a:avLst/>
          </a:prstGeom>
        </p:spPr>
        <p:txBody>
          <a:bodyPr wrap="square">
            <a:spAutoFit/>
          </a:bodyPr>
          <a:lstStyle/>
          <a:p>
            <a:pPr>
              <a:spcAft>
                <a:spcPts val="0"/>
              </a:spcAft>
            </a:pPr>
            <a:r>
              <a:rPr lang="en-US" altLang="zh-CN" kern="0" dirty="0">
                <a:solidFill>
                  <a:srgbClr val="0000FF"/>
                </a:solidFill>
                <a:latin typeface="Bahnschrift" panose="020B0502040204020203" pitchFamily="34" charset="0"/>
                <a:ea typeface="等线" panose="02010600030101010101" pitchFamily="2" charset="-122"/>
                <a:cs typeface="新宋体" panose="02010609030101010101" pitchFamily="49" charset="-122"/>
              </a:rPr>
              <a:t>struct</a:t>
            </a: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a:t>
            </a:r>
            <a:r>
              <a:rPr lang="en-US" altLang="zh-CN" kern="0" dirty="0" err="1">
                <a:solidFill>
                  <a:srgbClr val="2B91AF"/>
                </a:solidFill>
                <a:latin typeface="Bahnschrift" panose="020B0502040204020203" pitchFamily="34" charset="0"/>
                <a:ea typeface="等线" panose="02010600030101010101" pitchFamily="2" charset="-122"/>
                <a:cs typeface="新宋体" panose="02010609030101010101" pitchFamily="49" charset="-122"/>
              </a:rPr>
              <a:t>malloc_chunk</a:t>
            </a: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a:t>
            </a:r>
            <a:endParaRPr lang="zh-CN" altLang="zh-CN" sz="2000" kern="100" dirty="0">
              <a:latin typeface="Bahnschrift" panose="020B0502040204020203" pitchFamily="34" charset="0"/>
              <a:ea typeface="等线" panose="02010600030101010101" pitchFamily="2" charset="-122"/>
              <a:cs typeface="Times New Roman" panose="02020603050405020304" pitchFamily="18" charset="0"/>
            </a:endParaRPr>
          </a:p>
          <a:p>
            <a:pPr>
              <a:spcAft>
                <a:spcPts val="0"/>
              </a:spcAft>
            </a:pP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INTERNAL_SIZE_T </a:t>
            </a:r>
            <a:r>
              <a:rPr lang="en-US" altLang="zh-CN" kern="0" dirty="0" err="1">
                <a:solidFill>
                  <a:srgbClr val="000000"/>
                </a:solidFill>
                <a:latin typeface="Bahnschrift" panose="020B0502040204020203" pitchFamily="34" charset="0"/>
                <a:ea typeface="等线" panose="02010600030101010101" pitchFamily="2" charset="-122"/>
                <a:cs typeface="新宋体" panose="02010609030101010101" pitchFamily="49" charset="-122"/>
              </a:rPr>
              <a:t>prev_size</a:t>
            </a: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a:t>
            </a:r>
            <a:endParaRPr lang="zh-CN" altLang="zh-CN" sz="2000" kern="100" dirty="0">
              <a:latin typeface="Bahnschrift" panose="020B0502040204020203" pitchFamily="34" charset="0"/>
              <a:ea typeface="等线" panose="02010600030101010101" pitchFamily="2" charset="-122"/>
              <a:cs typeface="Times New Roman" panose="02020603050405020304" pitchFamily="18" charset="0"/>
            </a:endParaRPr>
          </a:p>
          <a:p>
            <a:pPr>
              <a:spcAft>
                <a:spcPts val="0"/>
              </a:spcAft>
            </a:pP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INTERNAL_SIZE_T size;</a:t>
            </a:r>
            <a:endParaRPr lang="zh-CN" altLang="zh-CN" sz="2000" kern="100" dirty="0">
              <a:latin typeface="Bahnschrift" panose="020B0502040204020203" pitchFamily="34" charset="0"/>
              <a:ea typeface="等线" panose="02010600030101010101" pitchFamily="2" charset="-122"/>
              <a:cs typeface="Times New Roman" panose="02020603050405020304" pitchFamily="18" charset="0"/>
            </a:endParaRPr>
          </a:p>
          <a:p>
            <a:pPr>
              <a:spcAft>
                <a:spcPts val="0"/>
              </a:spcAft>
            </a:pP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a:t>
            </a:r>
            <a:r>
              <a:rPr lang="en-US" altLang="zh-CN" kern="0" dirty="0">
                <a:solidFill>
                  <a:srgbClr val="0000FF"/>
                </a:solidFill>
                <a:latin typeface="Bahnschrift" panose="020B0502040204020203" pitchFamily="34" charset="0"/>
                <a:ea typeface="等线" panose="02010600030101010101" pitchFamily="2" charset="-122"/>
                <a:cs typeface="新宋体" panose="02010609030101010101" pitchFamily="49" charset="-122"/>
              </a:rPr>
              <a:t>struct</a:t>
            </a: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a:t>
            </a:r>
            <a:r>
              <a:rPr lang="en-US" altLang="zh-CN" kern="0" dirty="0" err="1">
                <a:solidFill>
                  <a:srgbClr val="2B91AF"/>
                </a:solidFill>
                <a:latin typeface="Bahnschrift" panose="020B0502040204020203" pitchFamily="34" charset="0"/>
                <a:ea typeface="等线" panose="02010600030101010101" pitchFamily="2" charset="-122"/>
                <a:cs typeface="新宋体" panose="02010609030101010101" pitchFamily="49" charset="-122"/>
              </a:rPr>
              <a:t>malloc_chunk</a:t>
            </a: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 </a:t>
            </a:r>
            <a:r>
              <a:rPr lang="en-US" altLang="zh-CN" kern="0" dirty="0" err="1">
                <a:solidFill>
                  <a:srgbClr val="000000"/>
                </a:solidFill>
                <a:latin typeface="Bahnschrift" panose="020B0502040204020203" pitchFamily="34" charset="0"/>
                <a:ea typeface="等线" panose="02010600030101010101" pitchFamily="2" charset="-122"/>
                <a:cs typeface="新宋体" panose="02010609030101010101" pitchFamily="49" charset="-122"/>
              </a:rPr>
              <a:t>fd</a:t>
            </a: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a:t>
            </a:r>
            <a:endParaRPr lang="zh-CN" altLang="zh-CN" sz="2000" kern="100" dirty="0">
              <a:latin typeface="Bahnschrift" panose="020B0502040204020203" pitchFamily="34" charset="0"/>
              <a:ea typeface="等线" panose="02010600030101010101" pitchFamily="2" charset="-122"/>
              <a:cs typeface="Times New Roman" panose="02020603050405020304" pitchFamily="18" charset="0"/>
            </a:endParaRPr>
          </a:p>
          <a:p>
            <a:pPr>
              <a:spcAft>
                <a:spcPts val="0"/>
              </a:spcAft>
            </a:pP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a:t>
            </a:r>
            <a:r>
              <a:rPr lang="en-US" altLang="zh-CN" kern="0" dirty="0">
                <a:solidFill>
                  <a:srgbClr val="0000FF"/>
                </a:solidFill>
                <a:latin typeface="Bahnschrift" panose="020B0502040204020203" pitchFamily="34" charset="0"/>
                <a:ea typeface="等线" panose="02010600030101010101" pitchFamily="2" charset="-122"/>
                <a:cs typeface="新宋体" panose="02010609030101010101" pitchFamily="49" charset="-122"/>
              </a:rPr>
              <a:t>struct</a:t>
            </a: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a:t>
            </a:r>
            <a:r>
              <a:rPr lang="en-US" altLang="zh-CN" kern="0" dirty="0" err="1">
                <a:solidFill>
                  <a:srgbClr val="2B91AF"/>
                </a:solidFill>
                <a:latin typeface="Bahnschrift" panose="020B0502040204020203" pitchFamily="34" charset="0"/>
                <a:ea typeface="等线" panose="02010600030101010101" pitchFamily="2" charset="-122"/>
                <a:cs typeface="新宋体" panose="02010609030101010101" pitchFamily="49" charset="-122"/>
              </a:rPr>
              <a:t>malloc_chunk</a:t>
            </a: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 * bk;</a:t>
            </a:r>
            <a:endPar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endParaRPr>
          </a:p>
          <a:p>
            <a:pPr>
              <a:spcAft>
                <a:spcPts val="0"/>
              </a:spcAft>
            </a:pPr>
            <a:r>
              <a:rPr lang="en-US" altLang="zh-CN" sz="2000" kern="0" dirty="0">
                <a:solidFill>
                  <a:srgbClr val="000000"/>
                </a:solidFill>
                <a:latin typeface="Bahnschrift" panose="020B0502040204020203" pitchFamily="34" charset="0"/>
                <a:ea typeface="等线" panose="02010600030101010101" pitchFamily="2" charset="-122"/>
                <a:cs typeface="Times New Roman" panose="02020603050405020304" pitchFamily="18" charset="0"/>
              </a:rPr>
              <a:t>	</a:t>
            </a:r>
            <a:r>
              <a:rPr lang="en-US" altLang="zh-CN" kern="0" dirty="0">
                <a:solidFill>
                  <a:srgbClr val="0000FF"/>
                </a:solidFill>
                <a:latin typeface="Bahnschrift" panose="020B0502040204020203" pitchFamily="34" charset="0"/>
                <a:ea typeface="等线" panose="02010600030101010101" pitchFamily="2" charset="-122"/>
              </a:rPr>
              <a:t>struct</a:t>
            </a:r>
            <a:r>
              <a:rPr lang="en-US" altLang="zh-CN" kern="0" dirty="0">
                <a:solidFill>
                  <a:srgbClr val="000000"/>
                </a:solidFill>
                <a:latin typeface="Bahnschrift" panose="020B0502040204020203" pitchFamily="34" charset="0"/>
                <a:ea typeface="等线" panose="02010600030101010101" pitchFamily="2" charset="-122"/>
              </a:rPr>
              <a:t> </a:t>
            </a:r>
            <a:r>
              <a:rPr lang="en-US" altLang="zh-CN" kern="0" dirty="0" err="1">
                <a:solidFill>
                  <a:schemeClr val="accent5">
                    <a:lumMod val="75000"/>
                  </a:schemeClr>
                </a:solidFill>
                <a:latin typeface="Bahnschrift" panose="020B0502040204020203" pitchFamily="34" charset="0"/>
                <a:ea typeface="等线" panose="02010600030101010101" pitchFamily="2" charset="-122"/>
              </a:rPr>
              <a:t>malloc_chunk</a:t>
            </a:r>
            <a:r>
              <a:rPr lang="en-US" altLang="zh-CN" kern="0" dirty="0">
                <a:solidFill>
                  <a:schemeClr val="accent5">
                    <a:lumMod val="75000"/>
                  </a:schemeClr>
                </a:solidFill>
                <a:latin typeface="Bahnschrift" panose="020B0502040204020203" pitchFamily="34" charset="0"/>
                <a:ea typeface="等线" panose="02010600030101010101" pitchFamily="2" charset="-122"/>
              </a:rPr>
              <a:t> </a:t>
            </a:r>
            <a:r>
              <a:rPr lang="en-US" altLang="zh-CN" kern="0" dirty="0">
                <a:solidFill>
                  <a:srgbClr val="000000"/>
                </a:solidFill>
                <a:latin typeface="Bahnschrift" panose="020B0502040204020203" pitchFamily="34" charset="0"/>
                <a:ea typeface="等线" panose="02010600030101010101" pitchFamily="2" charset="-122"/>
              </a:rPr>
              <a:t>*  </a:t>
            </a:r>
            <a:r>
              <a:rPr lang="en-US" altLang="zh-CN" kern="0" dirty="0" err="1">
                <a:solidFill>
                  <a:srgbClr val="000000"/>
                </a:solidFill>
                <a:latin typeface="Bahnschrift" panose="020B0502040204020203" pitchFamily="34" charset="0"/>
                <a:ea typeface="等线" panose="02010600030101010101" pitchFamily="2" charset="-122"/>
              </a:rPr>
              <a:t>fd_nextsize</a:t>
            </a:r>
            <a:r>
              <a:rPr lang="en-US" altLang="zh-CN" kern="0" dirty="0">
                <a:solidFill>
                  <a:srgbClr val="000000"/>
                </a:solidFill>
                <a:latin typeface="Bahnschrift" panose="020B0502040204020203" pitchFamily="34" charset="0"/>
                <a:ea typeface="等线" panose="02010600030101010101" pitchFamily="2" charset="-122"/>
              </a:rPr>
              <a:t>;</a:t>
            </a:r>
            <a:endParaRPr lang="en-US" altLang="zh-CN" kern="0" dirty="0">
              <a:solidFill>
                <a:srgbClr val="000000"/>
              </a:solidFill>
              <a:latin typeface="Bahnschrift" panose="020B0502040204020203" pitchFamily="34" charset="0"/>
              <a:ea typeface="等线" panose="02010600030101010101" pitchFamily="2" charset="-122"/>
            </a:endParaRPr>
          </a:p>
          <a:p>
            <a:pPr>
              <a:spcAft>
                <a:spcPts val="0"/>
              </a:spcAft>
            </a:pPr>
            <a:r>
              <a:rPr lang="en-US" altLang="zh-CN" kern="0" dirty="0">
                <a:solidFill>
                  <a:srgbClr val="000000"/>
                </a:solidFill>
                <a:latin typeface="Bahnschrift" panose="020B0502040204020203" pitchFamily="34" charset="0"/>
                <a:ea typeface="等线" panose="02010600030101010101" pitchFamily="2" charset="-122"/>
              </a:rPr>
              <a:t>	</a:t>
            </a:r>
            <a:r>
              <a:rPr lang="en-US" altLang="zh-CN" kern="0" dirty="0">
                <a:solidFill>
                  <a:srgbClr val="0000FF"/>
                </a:solidFill>
                <a:latin typeface="Bahnschrift" panose="020B0502040204020203" pitchFamily="34" charset="0"/>
                <a:ea typeface="等线" panose="02010600030101010101" pitchFamily="2" charset="-122"/>
              </a:rPr>
              <a:t>struct</a:t>
            </a:r>
            <a:r>
              <a:rPr lang="en-US" altLang="zh-CN" kern="0" dirty="0">
                <a:solidFill>
                  <a:srgbClr val="000000"/>
                </a:solidFill>
                <a:latin typeface="Bahnschrift" panose="020B0502040204020203" pitchFamily="34" charset="0"/>
                <a:ea typeface="等线" panose="02010600030101010101" pitchFamily="2" charset="-122"/>
              </a:rPr>
              <a:t> </a:t>
            </a:r>
            <a:r>
              <a:rPr lang="en-US" altLang="zh-CN" kern="0" dirty="0" err="1">
                <a:solidFill>
                  <a:schemeClr val="accent5">
                    <a:lumMod val="75000"/>
                  </a:schemeClr>
                </a:solidFill>
                <a:latin typeface="Bahnschrift" panose="020B0502040204020203" pitchFamily="34" charset="0"/>
                <a:ea typeface="等线" panose="02010600030101010101" pitchFamily="2" charset="-122"/>
              </a:rPr>
              <a:t>malloc_chunk</a:t>
            </a:r>
            <a:r>
              <a:rPr lang="en-US" altLang="zh-CN" kern="0" dirty="0">
                <a:solidFill>
                  <a:schemeClr val="accent5">
                    <a:lumMod val="75000"/>
                  </a:schemeClr>
                </a:solidFill>
                <a:latin typeface="Bahnschrift" panose="020B0502040204020203" pitchFamily="34" charset="0"/>
                <a:ea typeface="等线" panose="02010600030101010101" pitchFamily="2" charset="-122"/>
              </a:rPr>
              <a:t> </a:t>
            </a:r>
            <a:r>
              <a:rPr lang="en-US" altLang="zh-CN" kern="0" dirty="0">
                <a:solidFill>
                  <a:srgbClr val="000000"/>
                </a:solidFill>
                <a:latin typeface="Bahnschrift" panose="020B0502040204020203" pitchFamily="34" charset="0"/>
                <a:ea typeface="等线" panose="02010600030101010101" pitchFamily="2" charset="-122"/>
              </a:rPr>
              <a:t>* </a:t>
            </a:r>
            <a:r>
              <a:rPr lang="en-US" altLang="zh-CN" kern="0" dirty="0" err="1">
                <a:solidFill>
                  <a:srgbClr val="000000"/>
                </a:solidFill>
                <a:latin typeface="Bahnschrift" panose="020B0502040204020203" pitchFamily="34" charset="0"/>
                <a:ea typeface="等线" panose="02010600030101010101" pitchFamily="2" charset="-122"/>
              </a:rPr>
              <a:t>bk_nextsize</a:t>
            </a:r>
            <a:r>
              <a:rPr lang="en-US" altLang="zh-CN" kern="0" dirty="0">
                <a:solidFill>
                  <a:srgbClr val="000000"/>
                </a:solidFill>
                <a:latin typeface="Bahnschrift" panose="020B0502040204020203" pitchFamily="34" charset="0"/>
                <a:ea typeface="等线" panose="02010600030101010101" pitchFamily="2" charset="-122"/>
              </a:rPr>
              <a:t>;</a:t>
            </a:r>
            <a:endParaRPr lang="zh-CN" altLang="zh-CN" kern="0" dirty="0">
              <a:solidFill>
                <a:srgbClr val="000000"/>
              </a:solidFill>
              <a:latin typeface="Bahnschrift" panose="020B0502040204020203" pitchFamily="34" charset="0"/>
              <a:ea typeface="等线" panose="02010600030101010101" pitchFamily="2" charset="-122"/>
            </a:endParaRPr>
          </a:p>
          <a:p>
            <a:pPr algn="just">
              <a:spcAft>
                <a:spcPts val="0"/>
              </a:spcAft>
            </a:pPr>
            <a:r>
              <a:rPr lang="en-US" altLang="zh-CN" kern="0" dirty="0">
                <a:solidFill>
                  <a:srgbClr val="000000"/>
                </a:solidFill>
                <a:latin typeface="Bahnschrift" panose="020B0502040204020203" pitchFamily="34" charset="0"/>
                <a:ea typeface="等线" panose="02010600030101010101" pitchFamily="2" charset="-122"/>
                <a:cs typeface="新宋体" panose="02010609030101010101" pitchFamily="49" charset="-122"/>
              </a:rPr>
              <a:t>}</a:t>
            </a:r>
            <a:endParaRPr lang="zh-CN" altLang="zh-CN" sz="2000" kern="100" dirty="0">
              <a:effectLst/>
              <a:latin typeface="Bahnschrift" panose="020B0502040204020203" pitchFamily="34" charset="0"/>
              <a:ea typeface="等线" panose="02010600030101010101" pitchFamily="2"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堆的数据结构</a:t>
            </a:r>
            <a:endParaRPr kumimoji="1" lang="zh-CN" altLang="en-US" dirty="0"/>
          </a:p>
        </p:txBody>
      </p:sp>
      <p:sp>
        <p:nvSpPr>
          <p:cNvPr id="3" name="内容占位符 2"/>
          <p:cNvSpPr>
            <a:spLocks noGrp="1"/>
          </p:cNvSpPr>
          <p:nvPr>
            <p:ph idx="13"/>
          </p:nvPr>
        </p:nvSpPr>
        <p:spPr/>
        <p:txBody>
          <a:bodyPr/>
          <a:lstStyle/>
          <a:p>
            <a:pPr>
              <a:lnSpc>
                <a:spcPct val="150000"/>
              </a:lnSpc>
            </a:pPr>
            <a:r>
              <a:rPr kumimoji="1" lang="en-US" altLang="zh-CN" dirty="0"/>
              <a:t>allocated chunk</a:t>
            </a:r>
            <a:endParaRPr kumimoji="1" lang="en-US" altLang="zh-CN" dirty="0"/>
          </a:p>
          <a:p>
            <a:pPr>
              <a:lnSpc>
                <a:spcPct val="150000"/>
              </a:lnSpc>
            </a:pPr>
            <a:endParaRPr kumimoji="1" lang="en-US" altLang="zh-CN" dirty="0"/>
          </a:p>
          <a:p>
            <a:pPr marL="0" indent="0">
              <a:lnSpc>
                <a:spcPct val="150000"/>
              </a:lnSpc>
              <a:buNone/>
            </a:pPr>
            <a:endParaRPr kumimoji="1" lang="en-US" altLang="zh-CN" dirty="0"/>
          </a:p>
          <a:p>
            <a:pPr>
              <a:lnSpc>
                <a:spcPct val="150000"/>
              </a:lnSpc>
            </a:pPr>
            <a:r>
              <a:rPr kumimoji="1" lang="en-US" altLang="zh-CN" dirty="0"/>
              <a:t>free chunk</a:t>
            </a:r>
            <a:endParaRPr kumimoji="1" lang="en-US"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r>
              <a:rPr kumimoji="1" lang="zh-CN" altLang="en-US" dirty="0">
                <a:latin typeface="隶书" panose="02010509060101010101" charset="-122"/>
                <a:ea typeface="隶书" panose="02010509060101010101" charset="-122"/>
              </a:rPr>
              <a:t>背景知识</a:t>
            </a:r>
            <a:endParaRPr kumimoji="1" lang="zh-CN" altLang="en-US" dirty="0">
              <a:latin typeface="隶书" panose="02010509060101010101" charset="-122"/>
              <a:ea typeface="隶书" panose="02010509060101010101" charset="-122"/>
            </a:endParaRPr>
          </a:p>
        </p:txBody>
      </p:sp>
      <p:pic>
        <p:nvPicPr>
          <p:cNvPr id="7" name="图片 6"/>
          <p:cNvPicPr/>
          <p:nvPr/>
        </p:nvPicPr>
        <p:blipFill>
          <a:blip r:embed="rId1">
            <a:extLst>
              <a:ext uri="{28A0092B-C50C-407E-A947-70E740481C1C}">
                <a14:useLocalDpi xmlns:a14="http://schemas.microsoft.com/office/drawing/2010/main" val="0"/>
              </a:ext>
            </a:extLst>
          </a:blip>
          <a:stretch>
            <a:fillRect/>
          </a:stretch>
        </p:blipFill>
        <p:spPr>
          <a:xfrm>
            <a:off x="1948630" y="1989388"/>
            <a:ext cx="5071642" cy="1574126"/>
          </a:xfrm>
          <a:prstGeom prst="rect">
            <a:avLst/>
          </a:prstGeom>
        </p:spPr>
      </p:pic>
      <p:sp>
        <p:nvSpPr>
          <p:cNvPr id="8" name="矩形 7"/>
          <p:cNvSpPr/>
          <p:nvPr/>
        </p:nvSpPr>
        <p:spPr>
          <a:xfrm>
            <a:off x="1763688" y="2636912"/>
            <a:ext cx="936104" cy="3600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p:nvPr/>
        </p:nvPicPr>
        <p:blipFill>
          <a:blip r:embed="rId2">
            <a:extLst>
              <a:ext uri="{28A0092B-C50C-407E-A947-70E740481C1C}">
                <a14:useLocalDpi xmlns:a14="http://schemas.microsoft.com/office/drawing/2010/main" val="0"/>
              </a:ext>
            </a:extLst>
          </a:blip>
          <a:stretch>
            <a:fillRect/>
          </a:stretch>
        </p:blipFill>
        <p:spPr>
          <a:xfrm>
            <a:off x="2000175" y="4005064"/>
            <a:ext cx="4968552" cy="2166443"/>
          </a:xfrm>
          <a:prstGeom prst="rect">
            <a:avLst/>
          </a:prstGeom>
        </p:spPr>
      </p:pic>
      <p:sp>
        <p:nvSpPr>
          <p:cNvPr id="10" name="矩形 9"/>
          <p:cNvSpPr/>
          <p:nvPr/>
        </p:nvSpPr>
        <p:spPr>
          <a:xfrm>
            <a:off x="1763688" y="4581128"/>
            <a:ext cx="936104" cy="3600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堆的管理方式</a:t>
            </a:r>
            <a:r>
              <a:rPr kumimoji="1" lang="en-US" altLang="zh-CN" dirty="0"/>
              <a:t>(bins)</a:t>
            </a:r>
            <a:endParaRPr kumimoji="1" lang="zh-CN" altLang="en-US" dirty="0"/>
          </a:p>
        </p:txBody>
      </p:sp>
      <p:sp>
        <p:nvSpPr>
          <p:cNvPr id="3" name="内容占位符 2"/>
          <p:cNvSpPr>
            <a:spLocks noGrp="1"/>
          </p:cNvSpPr>
          <p:nvPr>
            <p:ph idx="13"/>
          </p:nvPr>
        </p:nvSpPr>
        <p:spPr/>
        <p:txBody>
          <a:bodyPr/>
          <a:lstStyle/>
          <a:p>
            <a:r>
              <a:rPr kumimoji="1" lang="en-US" altLang="zh-CN" dirty="0" err="1"/>
              <a:t>Fastbin</a:t>
            </a:r>
            <a:r>
              <a:rPr kumimoji="1" lang="en-US" altLang="zh-CN" dirty="0"/>
              <a:t>(</a:t>
            </a:r>
            <a:r>
              <a:rPr kumimoji="1" lang="zh-CN" altLang="en-US" dirty="0"/>
              <a:t>单向链表</a:t>
            </a:r>
            <a:r>
              <a:rPr kumimoji="1" lang="en-US" altLang="zh-CN" dirty="0"/>
              <a:t>)</a:t>
            </a:r>
            <a:endParaRPr kumimoji="1" lang="en-US" altLang="zh-CN" dirty="0"/>
          </a:p>
          <a:p>
            <a:pPr lvl="1"/>
            <a:r>
              <a:rPr kumimoji="1" lang="en-US" altLang="zh-CN" dirty="0"/>
              <a:t>Chunk 0~80</a:t>
            </a:r>
            <a:r>
              <a:rPr kumimoji="1" lang="zh-CN" altLang="en-US" dirty="0"/>
              <a:t>字节</a:t>
            </a:r>
            <a:endParaRPr kumimoji="1" lang="en-US" altLang="zh-CN" dirty="0"/>
          </a:p>
          <a:p>
            <a:pPr lvl="1"/>
            <a:r>
              <a:rPr kumimoji="1" lang="zh-CN" altLang="en-US" dirty="0"/>
              <a:t>共</a:t>
            </a:r>
            <a:r>
              <a:rPr kumimoji="1" lang="en-US" altLang="zh-CN" dirty="0"/>
              <a:t>10</a:t>
            </a:r>
            <a:r>
              <a:rPr kumimoji="1" lang="zh-CN" altLang="en-US" dirty="0"/>
              <a:t>个单向链表</a:t>
            </a:r>
            <a:endParaRPr kumimoji="1" lang="en-US" altLang="zh-CN" dirty="0"/>
          </a:p>
          <a:p>
            <a:pPr lvl="1"/>
            <a:endParaRPr kumimoji="1" lang="en-US" altLang="zh-CN" dirty="0"/>
          </a:p>
          <a:p>
            <a:pPr lvl="1"/>
            <a:endParaRPr kumimoji="1" lang="en-US" altLang="zh-CN" dirty="0"/>
          </a:p>
          <a:p>
            <a:pPr lvl="1"/>
            <a:endParaRPr kumimoji="1" lang="en-US" altLang="zh-CN" dirty="0"/>
          </a:p>
          <a:p>
            <a:pPr lvl="1"/>
            <a:endParaRPr kumimoji="1" lang="en-US" altLang="zh-CN" dirty="0"/>
          </a:p>
          <a:p>
            <a:r>
              <a:rPr kumimoji="1" lang="en-US" altLang="zh-CN" dirty="0"/>
              <a:t>Normal bin(</a:t>
            </a:r>
            <a:r>
              <a:rPr kumimoji="1" lang="zh-CN" altLang="en-US" dirty="0"/>
              <a:t>双向链表</a:t>
            </a:r>
            <a:r>
              <a:rPr kumimoji="1" lang="en-US" altLang="zh-CN" dirty="0"/>
              <a:t>)</a:t>
            </a:r>
            <a:endParaRPr kumimoji="1" lang="en-US" altLang="zh-CN" dirty="0"/>
          </a:p>
          <a:p>
            <a:pPr lvl="1"/>
            <a:r>
              <a:rPr kumimoji="1" lang="en-US" altLang="zh-CN" dirty="0"/>
              <a:t>small bin(chunk </a:t>
            </a:r>
            <a:r>
              <a:rPr kumimoji="1" lang="zh-CN" altLang="en-US" dirty="0"/>
              <a:t>小于</a:t>
            </a:r>
            <a:r>
              <a:rPr kumimoji="1" lang="en-US" altLang="zh-CN" dirty="0"/>
              <a:t>512</a:t>
            </a:r>
            <a:r>
              <a:rPr kumimoji="1" lang="zh-CN" altLang="en-US" dirty="0"/>
              <a:t>字节</a:t>
            </a:r>
            <a:r>
              <a:rPr kumimoji="1" lang="en-US" altLang="zh-CN" dirty="0"/>
              <a:t>)</a:t>
            </a:r>
            <a:endParaRPr kumimoji="1" lang="en-US" altLang="zh-CN" dirty="0"/>
          </a:p>
          <a:p>
            <a:pPr lvl="1"/>
            <a:r>
              <a:rPr kumimoji="1" lang="en-US" altLang="zh-CN" dirty="0"/>
              <a:t>large bin(chunk </a:t>
            </a:r>
            <a:r>
              <a:rPr kumimoji="1" lang="zh-CN" altLang="en-US" dirty="0"/>
              <a:t>大于</a:t>
            </a:r>
            <a:r>
              <a:rPr kumimoji="1" lang="en-US" altLang="zh-CN" dirty="0"/>
              <a:t>512</a:t>
            </a:r>
            <a:r>
              <a:rPr kumimoji="1" lang="zh-CN" altLang="en-US" dirty="0"/>
              <a:t>字节</a:t>
            </a:r>
            <a:r>
              <a:rPr kumimoji="1" lang="en-US" altLang="zh-CN" dirty="0"/>
              <a:t>)</a:t>
            </a:r>
            <a:endParaRPr kumimoji="1" lang="en-US" altLang="zh-CN" dirty="0"/>
          </a:p>
          <a:p>
            <a:pPr lvl="1"/>
            <a:r>
              <a:rPr kumimoji="1" lang="en-US" altLang="zh-CN" dirty="0"/>
              <a:t>unsorted bin(small bin </a:t>
            </a:r>
            <a:r>
              <a:rPr kumimoji="1" lang="zh-CN" altLang="en-US" dirty="0"/>
              <a:t>合并和</a:t>
            </a:r>
            <a:r>
              <a:rPr kumimoji="1" lang="en-US" altLang="zh-CN" dirty="0"/>
              <a:t>large bin</a:t>
            </a:r>
            <a:r>
              <a:rPr kumimoji="1" lang="zh-CN" altLang="en-US" dirty="0"/>
              <a:t>拆分后放入</a:t>
            </a:r>
            <a:r>
              <a:rPr kumimoji="1" lang="en-US" altLang="zh-CN" dirty="0"/>
              <a:t>unsorted bin)</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r>
              <a:rPr kumimoji="1" lang="zh-CN" altLang="en-US" dirty="0">
                <a:latin typeface="隶书" panose="02010509060101010101" charset="-122"/>
                <a:ea typeface="隶书" panose="02010509060101010101" charset="-122"/>
              </a:rPr>
              <a:t>背景知识</a:t>
            </a:r>
            <a:endParaRPr kumimoji="1" lang="zh-CN" altLang="en-US" dirty="0">
              <a:latin typeface="隶书" panose="02010509060101010101" charset="-122"/>
              <a:ea typeface="隶书" panose="02010509060101010101" charset="-122"/>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672173" y="1525020"/>
            <a:ext cx="4355815" cy="2989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4005175"/>
            <a:ext cx="7344816" cy="2160129"/>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idx="1"/>
          </p:nvPr>
        </p:nvSpPr>
        <p:spPr/>
        <p:txBody>
          <a:bodyPr/>
          <a:lstStyle/>
          <a:p>
            <a:r>
              <a:rPr kumimoji="1" lang="zh-CN" altLang="en-US" dirty="0"/>
              <a:t>内存分配及释放的函数</a:t>
            </a:r>
            <a:endParaRPr kumimoji="1" lang="zh-CN" altLang="en-US" dirty="0"/>
          </a:p>
        </p:txBody>
      </p:sp>
      <p:sp>
        <p:nvSpPr>
          <p:cNvPr id="3" name="内容占位符 2"/>
          <p:cNvSpPr>
            <a:spLocks noGrp="1"/>
          </p:cNvSpPr>
          <p:nvPr>
            <p:ph idx="13"/>
          </p:nvPr>
        </p:nvSpPr>
        <p:spPr/>
        <p:txBody>
          <a:bodyPr/>
          <a:lstStyle/>
          <a:p>
            <a:r>
              <a:rPr kumimoji="1" lang="en-US" altLang="zh-CN" dirty="0"/>
              <a:t>void * malloc(</a:t>
            </a:r>
            <a:r>
              <a:rPr kumimoji="1" lang="en-US" altLang="zh-CN" dirty="0" err="1"/>
              <a:t>size_t</a:t>
            </a:r>
            <a:r>
              <a:rPr kumimoji="1" lang="en-US" altLang="zh-CN" dirty="0"/>
              <a:t> num);</a:t>
            </a:r>
            <a:endParaRPr kumimoji="1" lang="en-US" altLang="zh-CN" dirty="0"/>
          </a:p>
          <a:p>
            <a:r>
              <a:rPr kumimoji="1" lang="en-US" altLang="zh-CN" dirty="0"/>
              <a:t>void * </a:t>
            </a:r>
            <a:r>
              <a:rPr kumimoji="1" lang="en-US" altLang="zh-CN" dirty="0" err="1"/>
              <a:t>calloc</a:t>
            </a:r>
            <a:r>
              <a:rPr kumimoji="1" lang="en-US" altLang="zh-CN" dirty="0"/>
              <a:t>(</a:t>
            </a:r>
            <a:r>
              <a:rPr kumimoji="1" lang="en-US" altLang="zh-CN" dirty="0" err="1"/>
              <a:t>size_t</a:t>
            </a:r>
            <a:r>
              <a:rPr kumimoji="1" lang="en-US" altLang="zh-CN" dirty="0"/>
              <a:t> num, </a:t>
            </a:r>
            <a:r>
              <a:rPr kumimoji="1" lang="en-US" altLang="zh-CN" dirty="0" err="1"/>
              <a:t>size_t</a:t>
            </a:r>
            <a:r>
              <a:rPr kumimoji="1" lang="en-US" altLang="zh-CN" dirty="0"/>
              <a:t> size);</a:t>
            </a:r>
            <a:endParaRPr kumimoji="1" lang="en-US" altLang="zh-CN" dirty="0"/>
          </a:p>
          <a:p>
            <a:r>
              <a:rPr kumimoji="1" lang="en-US" altLang="zh-CN" dirty="0"/>
              <a:t>void * </a:t>
            </a:r>
            <a:r>
              <a:rPr kumimoji="1" lang="en-US" altLang="zh-CN" dirty="0" err="1"/>
              <a:t>realloc</a:t>
            </a:r>
            <a:r>
              <a:rPr kumimoji="1" lang="en-US" altLang="zh-CN" dirty="0"/>
              <a:t>(void * old, </a:t>
            </a:r>
            <a:r>
              <a:rPr kumimoji="1" lang="en-US" altLang="zh-CN" dirty="0" err="1"/>
              <a:t>size_t</a:t>
            </a:r>
            <a:r>
              <a:rPr kumimoji="1" lang="en-US" altLang="zh-CN" dirty="0"/>
              <a:t> </a:t>
            </a:r>
            <a:r>
              <a:rPr kumimoji="1" lang="en-US" altLang="zh-CN" dirty="0" err="1"/>
              <a:t>new_size</a:t>
            </a:r>
            <a:r>
              <a:rPr kumimoji="1" lang="en-US" altLang="zh-CN" dirty="0"/>
              <a:t>);</a:t>
            </a:r>
            <a:endParaRPr kumimoji="1" lang="en-US" altLang="zh-CN" dirty="0"/>
          </a:p>
          <a:p>
            <a:r>
              <a:rPr kumimoji="1" lang="en-US" altLang="zh-CN" dirty="0"/>
              <a:t>void free(void * </a:t>
            </a:r>
            <a:r>
              <a:rPr kumimoji="1" lang="en-US" altLang="zh-CN" dirty="0" err="1"/>
              <a:t>ptr</a:t>
            </a:r>
            <a:r>
              <a:rPr kumimoji="1" lang="en-US" altLang="zh-CN" dirty="0"/>
              <a:t>);</a:t>
            </a:r>
            <a:endParaRPr kumimoji="1" lang="en-US" altLang="zh-CN" dirty="0"/>
          </a:p>
          <a:p>
            <a:r>
              <a:rPr kumimoji="1" lang="en-US" altLang="zh-CN" dirty="0">
                <a:solidFill>
                  <a:srgbClr val="FF0000"/>
                </a:solidFill>
              </a:rPr>
              <a:t>void * </a:t>
            </a:r>
            <a:r>
              <a:rPr kumimoji="1" lang="en-US" altLang="zh-CN" dirty="0" err="1">
                <a:solidFill>
                  <a:srgbClr val="FF0000"/>
                </a:solidFill>
              </a:rPr>
              <a:t>alloca</a:t>
            </a:r>
            <a:r>
              <a:rPr kumimoji="1" lang="en-US" altLang="zh-CN" dirty="0">
                <a:solidFill>
                  <a:srgbClr val="FF0000"/>
                </a:solidFill>
              </a:rPr>
              <a:t>(</a:t>
            </a:r>
            <a:r>
              <a:rPr kumimoji="1" lang="en-US" altLang="zh-CN" dirty="0" err="1">
                <a:solidFill>
                  <a:srgbClr val="FF0000"/>
                </a:solidFill>
              </a:rPr>
              <a:t>size_t</a:t>
            </a:r>
            <a:r>
              <a:rPr kumimoji="1" lang="en-US" altLang="zh-CN" dirty="0">
                <a:solidFill>
                  <a:srgbClr val="FF0000"/>
                </a:solidFill>
              </a:rPr>
              <a:t> size);</a:t>
            </a:r>
            <a:endParaRPr kumimoji="1" lang="en-US" altLang="zh-CN" dirty="0">
              <a:solidFill>
                <a:srgbClr val="FF0000"/>
              </a:solidFill>
            </a:endParaRPr>
          </a:p>
          <a:p>
            <a:pPr marL="0" indent="0">
              <a:buNone/>
            </a:pPr>
            <a:r>
              <a:rPr kumimoji="1" lang="en-US" altLang="zh-CN" dirty="0"/>
              <a:t>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dirty="0"/>
          </a:p>
        </p:txBody>
      </p:sp>
      <p:sp>
        <p:nvSpPr>
          <p:cNvPr id="5" name="对话气泡: 圆角矩形 4"/>
          <p:cNvSpPr/>
          <p:nvPr/>
        </p:nvSpPr>
        <p:spPr>
          <a:xfrm>
            <a:off x="4716016" y="2893093"/>
            <a:ext cx="3528392" cy="931955"/>
          </a:xfrm>
          <a:prstGeom prst="wedgeRoundRectCallout">
            <a:avLst>
              <a:gd name="adj1" fmla="val -66559"/>
              <a:gd name="adj2" fmla="val 40590"/>
              <a:gd name="adj3" fmla="val 16667"/>
            </a:avLst>
          </a:prstGeom>
          <a:solidFill>
            <a:schemeClr val="bg1"/>
          </a:solidFill>
          <a:ln w="1905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75000"/>
                  </a:schemeClr>
                </a:solidFill>
                <a:latin typeface="+mj-ea"/>
                <a:ea typeface="+mj-ea"/>
              </a:rPr>
              <a:t>分配的内存在</a:t>
            </a:r>
            <a:r>
              <a:rPr lang="zh-CN" altLang="en-US" b="1" dirty="0">
                <a:solidFill>
                  <a:schemeClr val="tx1">
                    <a:lumMod val="75000"/>
                  </a:schemeClr>
                </a:solidFill>
                <a:latin typeface="+mj-ea"/>
                <a:ea typeface="+mj-ea"/>
              </a:rPr>
              <a:t>栈</a:t>
            </a:r>
            <a:r>
              <a:rPr lang="zh-CN" altLang="en-US" dirty="0">
                <a:solidFill>
                  <a:schemeClr val="tx1">
                    <a:lumMod val="75000"/>
                  </a:schemeClr>
                </a:solidFill>
                <a:latin typeface="+mj-ea"/>
                <a:ea typeface="+mj-ea"/>
              </a:rPr>
              <a:t>上，且会自动释放，用</a:t>
            </a:r>
            <a:r>
              <a:rPr lang="en-US" altLang="zh-CN" dirty="0">
                <a:solidFill>
                  <a:schemeClr val="tx1">
                    <a:lumMod val="75000"/>
                  </a:schemeClr>
                </a:solidFill>
                <a:latin typeface="+mj-ea"/>
                <a:ea typeface="+mj-ea"/>
              </a:rPr>
              <a:t>free()</a:t>
            </a:r>
            <a:r>
              <a:rPr lang="zh-CN" altLang="en-US" dirty="0">
                <a:solidFill>
                  <a:schemeClr val="tx1">
                    <a:lumMod val="75000"/>
                  </a:schemeClr>
                </a:solidFill>
                <a:latin typeface="+mj-ea"/>
                <a:ea typeface="+mj-ea"/>
              </a:rPr>
              <a:t>释放会导致错误。</a:t>
            </a:r>
            <a:endParaRPr lang="zh-CN" altLang="en-US" dirty="0">
              <a:solidFill>
                <a:schemeClr val="tx1">
                  <a:lumMod val="75000"/>
                </a:schemeClr>
              </a:solidFill>
              <a:latin typeface="+mj-ea"/>
              <a:ea typeface="+mj-ea"/>
            </a:endParaRPr>
          </a:p>
        </p:txBody>
      </p:sp>
      <p:sp>
        <p:nvSpPr>
          <p:cNvPr id="7" name="矩形 6"/>
          <p:cNvSpPr/>
          <p:nvPr/>
        </p:nvSpPr>
        <p:spPr>
          <a:xfrm>
            <a:off x="1043608" y="4054187"/>
            <a:ext cx="4824536" cy="2062103"/>
          </a:xfrm>
          <a:prstGeom prst="rect">
            <a:avLst/>
          </a:prstGeom>
        </p:spPr>
        <p:txBody>
          <a:bodyPr wrap="square">
            <a:spAutoFit/>
          </a:bodyPr>
          <a:lstStyle/>
          <a:p>
            <a:r>
              <a:rPr lang="en-US" altLang="zh-CN" sz="1600" dirty="0">
                <a:solidFill>
                  <a:srgbClr val="808080"/>
                </a:solidFill>
                <a:latin typeface="Bahnschrift" panose="020B0502040204020203" pitchFamily="34" charset="0"/>
                <a:ea typeface="新宋体" panose="02010609030101010101" pitchFamily="49" charset="-122"/>
              </a:rPr>
              <a:t>#include</a:t>
            </a:r>
            <a:r>
              <a:rPr lang="en-US" altLang="zh-CN" sz="1600" dirty="0">
                <a:solidFill>
                  <a:srgbClr val="A31515"/>
                </a:solidFill>
                <a:latin typeface="Bahnschrift" panose="020B0502040204020203" pitchFamily="34" charset="0"/>
                <a:ea typeface="新宋体" panose="02010609030101010101" pitchFamily="49" charset="-122"/>
              </a:rPr>
              <a:t>&lt;</a:t>
            </a:r>
            <a:r>
              <a:rPr lang="en-US" altLang="zh-CN" sz="1600" dirty="0" err="1">
                <a:solidFill>
                  <a:srgbClr val="A31515"/>
                </a:solidFill>
                <a:latin typeface="Bahnschrift" panose="020B0502040204020203" pitchFamily="34" charset="0"/>
                <a:ea typeface="新宋体" panose="02010609030101010101" pitchFamily="49" charset="-122"/>
              </a:rPr>
              <a:t>stdio.h</a:t>
            </a:r>
            <a:r>
              <a:rPr lang="en-US" altLang="zh-CN" sz="1600" dirty="0">
                <a:solidFill>
                  <a:srgbClr val="A31515"/>
                </a:solidFill>
                <a:latin typeface="Bahnschrift" panose="020B0502040204020203" pitchFamily="34" charset="0"/>
                <a:ea typeface="新宋体" panose="02010609030101010101" pitchFamily="49" charset="-122"/>
              </a:rPr>
              <a:t>&gt;</a:t>
            </a:r>
            <a:endParaRPr lang="en-US" altLang="zh-CN" sz="1600" dirty="0">
              <a:solidFill>
                <a:srgbClr val="000000"/>
              </a:solidFill>
              <a:latin typeface="Bahnschrift" panose="020B0502040204020203" pitchFamily="34" charset="0"/>
              <a:ea typeface="新宋体" panose="02010609030101010101" pitchFamily="49" charset="-122"/>
            </a:endParaRPr>
          </a:p>
          <a:p>
            <a:r>
              <a:rPr lang="en-US" altLang="zh-CN" sz="1600" dirty="0">
                <a:solidFill>
                  <a:srgbClr val="808080"/>
                </a:solidFill>
                <a:latin typeface="Bahnschrift" panose="020B0502040204020203" pitchFamily="34" charset="0"/>
                <a:ea typeface="新宋体" panose="02010609030101010101" pitchFamily="49" charset="-122"/>
              </a:rPr>
              <a:t>#include</a:t>
            </a:r>
            <a:r>
              <a:rPr lang="en-US" altLang="zh-CN" sz="1600" dirty="0">
                <a:solidFill>
                  <a:srgbClr val="A31515"/>
                </a:solidFill>
                <a:latin typeface="Bahnschrift" panose="020B0502040204020203" pitchFamily="34" charset="0"/>
                <a:ea typeface="新宋体" panose="02010609030101010101" pitchFamily="49" charset="-122"/>
              </a:rPr>
              <a:t>&lt;</a:t>
            </a:r>
            <a:r>
              <a:rPr lang="en-US" altLang="zh-CN" sz="1600" dirty="0" err="1">
                <a:solidFill>
                  <a:srgbClr val="A31515"/>
                </a:solidFill>
                <a:latin typeface="Bahnschrift" panose="020B0502040204020203" pitchFamily="34" charset="0"/>
                <a:ea typeface="新宋体" panose="02010609030101010101" pitchFamily="49" charset="-122"/>
              </a:rPr>
              <a:t>stdlib.h</a:t>
            </a:r>
            <a:r>
              <a:rPr lang="en-US" altLang="zh-CN" sz="1600" dirty="0">
                <a:solidFill>
                  <a:srgbClr val="A31515"/>
                </a:solidFill>
                <a:latin typeface="Bahnschrift" panose="020B0502040204020203" pitchFamily="34" charset="0"/>
                <a:ea typeface="新宋体" panose="02010609030101010101" pitchFamily="49" charset="-122"/>
              </a:rPr>
              <a:t>&gt;</a:t>
            </a:r>
            <a:endParaRPr lang="en-US" altLang="zh-CN" sz="1600" dirty="0">
              <a:solidFill>
                <a:srgbClr val="000000"/>
              </a:solidFill>
              <a:latin typeface="Bahnschrift" panose="020B0502040204020203" pitchFamily="34" charset="0"/>
              <a:ea typeface="新宋体" panose="02010609030101010101" pitchFamily="49" charset="-122"/>
            </a:endParaRPr>
          </a:p>
          <a:p>
            <a:r>
              <a:rPr lang="en-US" altLang="zh-CN" sz="1600" dirty="0">
                <a:solidFill>
                  <a:srgbClr val="0000FF"/>
                </a:solidFill>
                <a:latin typeface="Bahnschrift" panose="020B0502040204020203" pitchFamily="34" charset="0"/>
                <a:ea typeface="新宋体" panose="02010609030101010101" pitchFamily="49" charset="-122"/>
              </a:rPr>
              <a:t>int</a:t>
            </a:r>
            <a:r>
              <a:rPr lang="en-US" altLang="zh-CN" sz="1600" dirty="0">
                <a:solidFill>
                  <a:srgbClr val="000000"/>
                </a:solidFill>
                <a:latin typeface="Bahnschrift" panose="020B0502040204020203" pitchFamily="34" charset="0"/>
                <a:ea typeface="新宋体" panose="02010609030101010101" pitchFamily="49" charset="-122"/>
              </a:rPr>
              <a:t> main()</a:t>
            </a:r>
            <a:endParaRPr lang="en-US" altLang="zh-CN" sz="1600" dirty="0">
              <a:solidFill>
                <a:srgbClr val="000000"/>
              </a:solidFill>
              <a:latin typeface="Bahnschrift" panose="020B0502040204020203" pitchFamily="34" charset="0"/>
              <a:ea typeface="新宋体" panose="02010609030101010101" pitchFamily="49" charset="-122"/>
            </a:endParaRPr>
          </a:p>
          <a:p>
            <a:r>
              <a:rPr lang="en-US" altLang="zh-CN" sz="1600" dirty="0">
                <a:solidFill>
                  <a:srgbClr val="000000"/>
                </a:solidFill>
                <a:latin typeface="Bahnschrift" panose="020B0502040204020203" pitchFamily="34" charset="0"/>
                <a:ea typeface="新宋体" panose="02010609030101010101" pitchFamily="49" charset="-122"/>
              </a:rPr>
              <a:t>{</a:t>
            </a:r>
            <a:endParaRPr lang="en-US" altLang="zh-CN" sz="1600" dirty="0">
              <a:solidFill>
                <a:srgbClr val="000000"/>
              </a:solidFill>
              <a:latin typeface="Bahnschrift" panose="020B0502040204020203" pitchFamily="34" charset="0"/>
              <a:ea typeface="新宋体" panose="02010609030101010101" pitchFamily="49" charset="-122"/>
            </a:endParaRPr>
          </a:p>
          <a:p>
            <a:r>
              <a:rPr lang="en-US" altLang="zh-CN" sz="1600" dirty="0">
                <a:solidFill>
                  <a:srgbClr val="0000FF"/>
                </a:solidFill>
                <a:latin typeface="Bahnschrift" panose="020B0502040204020203" pitchFamily="34" charset="0"/>
                <a:ea typeface="新宋体" panose="02010609030101010101" pitchFamily="49" charset="-122"/>
              </a:rPr>
              <a:t>	int</a:t>
            </a:r>
            <a:r>
              <a:rPr lang="en-US" altLang="zh-CN" sz="1600" dirty="0">
                <a:solidFill>
                  <a:srgbClr val="000000"/>
                </a:solidFill>
                <a:latin typeface="Bahnschrift" panose="020B0502040204020203" pitchFamily="34" charset="0"/>
                <a:ea typeface="新宋体" panose="02010609030101010101" pitchFamily="49" charset="-122"/>
              </a:rPr>
              <a:t> * p = (</a:t>
            </a:r>
            <a:r>
              <a:rPr lang="en-US" altLang="zh-CN" sz="1600" dirty="0">
                <a:solidFill>
                  <a:srgbClr val="0000FF"/>
                </a:solidFill>
                <a:latin typeface="Bahnschrift" panose="020B0502040204020203" pitchFamily="34" charset="0"/>
                <a:ea typeface="新宋体" panose="02010609030101010101" pitchFamily="49" charset="-122"/>
              </a:rPr>
              <a:t>int</a:t>
            </a:r>
            <a:r>
              <a:rPr lang="en-US" altLang="zh-CN" sz="1600" dirty="0">
                <a:solidFill>
                  <a:srgbClr val="000000"/>
                </a:solidFill>
                <a:latin typeface="Bahnschrift" panose="020B0502040204020203" pitchFamily="34" charset="0"/>
                <a:ea typeface="新宋体" panose="02010609030101010101" pitchFamily="49" charset="-122"/>
              </a:rPr>
              <a:t> *)</a:t>
            </a:r>
            <a:r>
              <a:rPr lang="en-US" altLang="zh-CN" sz="1600" dirty="0" err="1">
                <a:solidFill>
                  <a:srgbClr val="000000"/>
                </a:solidFill>
                <a:latin typeface="Bahnschrift" panose="020B0502040204020203" pitchFamily="34" charset="0"/>
                <a:ea typeface="新宋体" panose="02010609030101010101" pitchFamily="49" charset="-122"/>
              </a:rPr>
              <a:t>alloca</a:t>
            </a:r>
            <a:r>
              <a:rPr lang="en-US" altLang="zh-CN" sz="1600" dirty="0">
                <a:solidFill>
                  <a:srgbClr val="000000"/>
                </a:solidFill>
                <a:latin typeface="Bahnschrift" panose="020B0502040204020203" pitchFamily="34" charset="0"/>
                <a:ea typeface="新宋体" panose="02010609030101010101" pitchFamily="49" charset="-122"/>
              </a:rPr>
              <a:t>(</a:t>
            </a:r>
            <a:r>
              <a:rPr lang="en-US" altLang="zh-CN" sz="1600" dirty="0" err="1">
                <a:solidFill>
                  <a:srgbClr val="0000FF"/>
                </a:solidFill>
                <a:latin typeface="Bahnschrift" panose="020B0502040204020203" pitchFamily="34" charset="0"/>
                <a:ea typeface="新宋体" panose="02010609030101010101" pitchFamily="49" charset="-122"/>
              </a:rPr>
              <a:t>sizeof</a:t>
            </a:r>
            <a:r>
              <a:rPr lang="en-US" altLang="zh-CN" sz="1600" dirty="0">
                <a:solidFill>
                  <a:srgbClr val="000000"/>
                </a:solidFill>
                <a:latin typeface="Bahnschrift" panose="020B0502040204020203" pitchFamily="34" charset="0"/>
                <a:ea typeface="新宋体" panose="02010609030101010101" pitchFamily="49" charset="-122"/>
              </a:rPr>
              <a:t>(</a:t>
            </a:r>
            <a:r>
              <a:rPr lang="en-US" altLang="zh-CN" sz="1600" dirty="0">
                <a:solidFill>
                  <a:srgbClr val="0000FF"/>
                </a:solidFill>
                <a:latin typeface="Bahnschrift" panose="020B0502040204020203" pitchFamily="34" charset="0"/>
                <a:ea typeface="新宋体" panose="02010609030101010101" pitchFamily="49" charset="-122"/>
              </a:rPr>
              <a:t>int</a:t>
            </a:r>
            <a:r>
              <a:rPr lang="en-US" altLang="zh-CN" sz="1600" dirty="0">
                <a:solidFill>
                  <a:srgbClr val="000000"/>
                </a:solidFill>
                <a:latin typeface="Bahnschrift" panose="020B0502040204020203" pitchFamily="34" charset="0"/>
                <a:ea typeface="新宋体" panose="02010609030101010101" pitchFamily="49" charset="-122"/>
              </a:rPr>
              <a:t>) * 10);</a:t>
            </a:r>
            <a:endParaRPr lang="en-US" altLang="zh-CN" sz="1600" dirty="0">
              <a:solidFill>
                <a:srgbClr val="000000"/>
              </a:solidFill>
              <a:latin typeface="Bahnschrift" panose="020B0502040204020203" pitchFamily="34" charset="0"/>
              <a:ea typeface="新宋体" panose="02010609030101010101" pitchFamily="49" charset="-122"/>
            </a:endParaRPr>
          </a:p>
          <a:p>
            <a:r>
              <a:rPr lang="en-US" altLang="zh-CN" sz="1600" dirty="0">
                <a:solidFill>
                  <a:srgbClr val="000000"/>
                </a:solidFill>
                <a:latin typeface="Bahnschrift" panose="020B0502040204020203" pitchFamily="34" charset="0"/>
                <a:ea typeface="新宋体" panose="02010609030101010101" pitchFamily="49" charset="-122"/>
              </a:rPr>
              <a:t>	free(p);</a:t>
            </a:r>
            <a:endParaRPr lang="en-US" altLang="zh-CN" sz="1600" dirty="0">
              <a:solidFill>
                <a:srgbClr val="000000"/>
              </a:solidFill>
              <a:latin typeface="Bahnschrift" panose="020B0502040204020203" pitchFamily="34" charset="0"/>
              <a:ea typeface="新宋体" panose="02010609030101010101" pitchFamily="49" charset="-122"/>
            </a:endParaRPr>
          </a:p>
          <a:p>
            <a:r>
              <a:rPr lang="en-US" altLang="zh-CN" sz="1600" dirty="0">
                <a:solidFill>
                  <a:srgbClr val="0000FF"/>
                </a:solidFill>
                <a:latin typeface="Bahnschrift" panose="020B0502040204020203" pitchFamily="34" charset="0"/>
                <a:ea typeface="新宋体" panose="02010609030101010101" pitchFamily="49" charset="-122"/>
              </a:rPr>
              <a:t>	return</a:t>
            </a:r>
            <a:r>
              <a:rPr lang="en-US" altLang="zh-CN" sz="1600" dirty="0">
                <a:solidFill>
                  <a:srgbClr val="000000"/>
                </a:solidFill>
                <a:latin typeface="Bahnschrift" panose="020B0502040204020203" pitchFamily="34" charset="0"/>
                <a:ea typeface="新宋体" panose="02010609030101010101" pitchFamily="49" charset="-122"/>
              </a:rPr>
              <a:t> 0;</a:t>
            </a:r>
            <a:endParaRPr lang="en-US" altLang="zh-CN" sz="1600" dirty="0">
              <a:solidFill>
                <a:srgbClr val="000000"/>
              </a:solidFill>
              <a:latin typeface="Bahnschrift" panose="020B0502040204020203" pitchFamily="34" charset="0"/>
              <a:ea typeface="新宋体" panose="02010609030101010101" pitchFamily="49" charset="-122"/>
            </a:endParaRPr>
          </a:p>
          <a:p>
            <a:r>
              <a:rPr lang="en-US" altLang="zh-CN" sz="1600" dirty="0">
                <a:solidFill>
                  <a:srgbClr val="000000"/>
                </a:solidFill>
                <a:latin typeface="Bahnschrift" panose="020B0502040204020203" pitchFamily="34" charset="0"/>
                <a:ea typeface="新宋体" panose="02010609030101010101" pitchFamily="49" charset="-122"/>
              </a:rPr>
              <a:t>}</a:t>
            </a:r>
            <a:endParaRPr lang="zh-CN" altLang="en-US" sz="1600" dirty="0">
              <a:latin typeface="Bahnschrift" panose="020B0502040204020203" pitchFamily="34" charset="0"/>
            </a:endParaRPr>
          </a:p>
        </p:txBody>
      </p:sp>
      <p:sp>
        <p:nvSpPr>
          <p:cNvPr id="14" name="对话气泡: 圆角矩形 13"/>
          <p:cNvSpPr/>
          <p:nvPr/>
        </p:nvSpPr>
        <p:spPr>
          <a:xfrm>
            <a:off x="3527884" y="5513018"/>
            <a:ext cx="3528392" cy="455503"/>
          </a:xfrm>
          <a:prstGeom prst="wedgeRoundRectCallout">
            <a:avLst>
              <a:gd name="adj1" fmla="val -59439"/>
              <a:gd name="adj2" fmla="val -54268"/>
              <a:gd name="adj3" fmla="val 16667"/>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latin typeface="+mj-ea"/>
                <a:ea typeface="+mj-ea"/>
              </a:rPr>
              <a:t>Segment default</a:t>
            </a:r>
            <a:endParaRPr lang="zh-CN" altLang="en-US" dirty="0">
              <a:solidFill>
                <a:schemeClr val="tx1">
                  <a:lumMod val="75000"/>
                </a:schemeClr>
              </a:solidFill>
              <a:latin typeface="+mj-ea"/>
              <a:ea typeface="+mj-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charset="-122"/>
                <a:ea typeface="隶书" panose="02010509060101010101" charset="-122"/>
              </a:rPr>
              <a:t>内存分配及释放的函数</a:t>
            </a:r>
            <a:endParaRPr lang="zh-CN" dirty="0">
              <a:solidFill>
                <a:srgbClr val="622820"/>
              </a:solidFill>
              <a:latin typeface="隶书" panose="02010509060101010101" charset="-122"/>
              <a:ea typeface="隶书" panose="02010509060101010101"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2" name="矩形 1"/>
          <p:cNvSpPr/>
          <p:nvPr/>
        </p:nvSpPr>
        <p:spPr>
          <a:xfrm>
            <a:off x="345599" y="694671"/>
            <a:ext cx="4618572" cy="523220"/>
          </a:xfrm>
          <a:prstGeom prst="rect">
            <a:avLst/>
          </a:prstGeom>
        </p:spPr>
        <p:txBody>
          <a:bodyPr wrap="none">
            <a:spAutoFit/>
          </a:bodyPr>
          <a:lstStyle/>
          <a:p>
            <a:r>
              <a:rPr kumimoji="1" lang="en-US" altLang="zh-CN" sz="2800" b="1" dirty="0">
                <a:solidFill>
                  <a:schemeClr val="accent2">
                    <a:lumMod val="75000"/>
                  </a:schemeClr>
                </a:solidFill>
              </a:rPr>
              <a:t>void</a:t>
            </a:r>
            <a:r>
              <a:rPr kumimoji="1" lang="en-US" altLang="zh-CN" sz="2800" b="1" dirty="0"/>
              <a:t> * malloc(</a:t>
            </a:r>
            <a:r>
              <a:rPr kumimoji="1" lang="en-US" altLang="zh-CN" sz="2800" b="1" dirty="0" err="1">
                <a:solidFill>
                  <a:schemeClr val="accent2">
                    <a:lumMod val="75000"/>
                  </a:schemeClr>
                </a:solidFill>
              </a:rPr>
              <a:t>size_t</a:t>
            </a:r>
            <a:r>
              <a:rPr kumimoji="1" lang="en-US" altLang="zh-CN" sz="2800" b="1" dirty="0"/>
              <a:t> num);</a:t>
            </a:r>
            <a:endParaRPr kumimoji="1" lang="en-US" altLang="zh-CN" sz="2800" b="1" dirty="0"/>
          </a:p>
        </p:txBody>
      </p:sp>
      <p:sp>
        <p:nvSpPr>
          <p:cNvPr id="6" name="矩形 5"/>
          <p:cNvSpPr/>
          <p:nvPr/>
        </p:nvSpPr>
        <p:spPr>
          <a:xfrm>
            <a:off x="0" y="6211669"/>
            <a:ext cx="5688632" cy="646331"/>
          </a:xfrm>
          <a:prstGeom prst="rect">
            <a:avLst/>
          </a:prstGeom>
        </p:spPr>
        <p:txBody>
          <a:bodyPr wrap="square">
            <a:spAutoFit/>
          </a:bodyPr>
          <a:lstStyle/>
          <a:p>
            <a:r>
              <a:rPr lang="zh-CN" altLang="en-US" sz="1200" dirty="0"/>
              <a:t>参考链接：</a:t>
            </a:r>
            <a:endParaRPr lang="en-US" altLang="zh-CN" sz="1200" dirty="0"/>
          </a:p>
          <a:p>
            <a:r>
              <a:rPr lang="en-US" altLang="zh-CN" sz="1200" dirty="0">
                <a:hlinkClick r:id="rId1"/>
              </a:rPr>
              <a:t>https://blog.csdn.net/leisure512/article/details/4788467</a:t>
            </a:r>
            <a:endParaRPr lang="en-US" altLang="zh-CN" sz="1200" dirty="0"/>
          </a:p>
          <a:p>
            <a:r>
              <a:rPr lang="en-US" altLang="zh-CN" sz="1200" dirty="0">
                <a:hlinkClick r:id="rId2"/>
              </a:rPr>
              <a:t>https://blog.csdn.net/lalor/article/details/7426184</a:t>
            </a:r>
            <a:endParaRPr lang="zh-CN" altLang="en-US" sz="1200" dirty="0"/>
          </a:p>
        </p:txBody>
      </p:sp>
      <p:sp>
        <p:nvSpPr>
          <p:cNvPr id="13" name="矩形 12"/>
          <p:cNvSpPr/>
          <p:nvPr/>
        </p:nvSpPr>
        <p:spPr>
          <a:xfrm>
            <a:off x="753834" y="1350881"/>
            <a:ext cx="6840252" cy="699487"/>
          </a:xfrm>
          <a:prstGeom prst="rect">
            <a:avLst/>
          </a:prstGeom>
        </p:spPr>
        <p:txBody>
          <a:bodyPr wrap="square">
            <a:spAutoFit/>
          </a:bodyPr>
          <a:lstStyle/>
          <a:p>
            <a:pPr>
              <a:lnSpc>
                <a:spcPct val="114000"/>
              </a:lnSpc>
            </a:pPr>
            <a:r>
              <a:rPr lang="en-US" altLang="zh-CN" b="1" dirty="0">
                <a:solidFill>
                  <a:srgbClr val="4D4D4D"/>
                </a:solidFill>
                <a:latin typeface="微软雅黑" panose="020B0503020204020204" pitchFamily="34" charset="-122"/>
                <a:ea typeface="微软雅黑" panose="020B0503020204020204" pitchFamily="34" charset="-122"/>
              </a:rPr>
              <a:t>num</a:t>
            </a:r>
            <a:r>
              <a:rPr lang="zh-CN" altLang="en-US" b="1" dirty="0">
                <a:solidFill>
                  <a:srgbClr val="4D4D4D"/>
                </a:solidFill>
                <a:latin typeface="微软雅黑" panose="020B0503020204020204" pitchFamily="34" charset="-122"/>
                <a:ea typeface="微软雅黑" panose="020B0503020204020204" pitchFamily="34" charset="-122"/>
              </a:rPr>
              <a:t>：</a:t>
            </a:r>
            <a:r>
              <a:rPr lang="zh-CN" altLang="en-US" dirty="0">
                <a:solidFill>
                  <a:srgbClr val="4D4D4D"/>
                </a:solidFill>
                <a:latin typeface="微软雅黑" panose="020B0503020204020204" pitchFamily="34" charset="-122"/>
                <a:ea typeface="微软雅黑" panose="020B0503020204020204" pitchFamily="34" charset="-122"/>
              </a:rPr>
              <a:t>请求分配的内存字节数</a:t>
            </a:r>
            <a:endParaRPr lang="en-US" altLang="zh-CN" dirty="0">
              <a:solidFill>
                <a:srgbClr val="4D4D4D"/>
              </a:solidFill>
              <a:latin typeface="微软雅黑" panose="020B0503020204020204" pitchFamily="34" charset="-122"/>
              <a:ea typeface="微软雅黑" panose="020B0503020204020204" pitchFamily="34" charset="-122"/>
            </a:endParaRPr>
          </a:p>
          <a:p>
            <a:pPr>
              <a:lnSpc>
                <a:spcPct val="114000"/>
              </a:lnSpc>
            </a:pPr>
            <a:r>
              <a:rPr lang="zh-CN" altLang="en-US" b="1" dirty="0">
                <a:solidFill>
                  <a:srgbClr val="4D4D4D"/>
                </a:solidFill>
                <a:latin typeface="微软雅黑" panose="020B0503020204020204" pitchFamily="34" charset="-122"/>
                <a:ea typeface="微软雅黑" panose="020B0503020204020204" pitchFamily="34" charset="-122"/>
              </a:rPr>
              <a:t>返回值：</a:t>
            </a:r>
            <a:r>
              <a:rPr lang="zh-CN" altLang="en-US" dirty="0">
                <a:solidFill>
                  <a:srgbClr val="4D4D4D"/>
                </a:solidFill>
                <a:latin typeface="微软雅黑" panose="020B0503020204020204" pitchFamily="34" charset="-122"/>
                <a:ea typeface="微软雅黑" panose="020B0503020204020204" pitchFamily="34" charset="-122"/>
              </a:rPr>
              <a:t>成功则返回一个指向内存的指针，否则返回</a:t>
            </a:r>
            <a:r>
              <a:rPr lang="en-US" altLang="zh-CN" dirty="0">
                <a:solidFill>
                  <a:srgbClr val="4D4D4D"/>
                </a:solidFill>
                <a:latin typeface="微软雅黑" panose="020B0503020204020204" pitchFamily="34" charset="-122"/>
                <a:ea typeface="微软雅黑" panose="020B0503020204020204" pitchFamily="34" charset="-122"/>
              </a:rPr>
              <a:t>NULL</a:t>
            </a:r>
            <a:r>
              <a:rPr lang="zh-CN" altLang="en-US" dirty="0">
                <a:solidFill>
                  <a:srgbClr val="4D4D4D"/>
                </a:solidFill>
                <a:latin typeface="微软雅黑" panose="020B0503020204020204" pitchFamily="34" charset="-122"/>
                <a:ea typeface="微软雅黑" panose="020B0503020204020204" pitchFamily="34" charset="-122"/>
              </a:rPr>
              <a:t>。</a:t>
            </a:r>
            <a:endParaRPr lang="zh-CN" altLang="en-US" dirty="0"/>
          </a:p>
        </p:txBody>
      </p:sp>
      <p:pic>
        <p:nvPicPr>
          <p:cNvPr id="37" name="图片 36"/>
          <p:cNvPicPr/>
          <p:nvPr/>
        </p:nvPicPr>
        <p:blipFill>
          <a:blip r:embed="rId3">
            <a:extLst>
              <a:ext uri="{28A0092B-C50C-407E-A947-70E740481C1C}">
                <a14:useLocalDpi xmlns:a14="http://schemas.microsoft.com/office/drawing/2010/main" val="0"/>
              </a:ext>
            </a:extLst>
          </a:blip>
          <a:stretch>
            <a:fillRect/>
          </a:stretch>
        </p:blipFill>
        <p:spPr>
          <a:xfrm>
            <a:off x="954144" y="2408210"/>
            <a:ext cx="6619994" cy="28865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731763" y="2965707"/>
            <a:ext cx="7886700" cy="1538881"/>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charset="-122"/>
                <a:ea typeface="隶书" panose="02010509060101010101" charset="-122"/>
              </a:rPr>
              <a:t>内存分配及释放的函数</a:t>
            </a:r>
            <a:endParaRPr lang="zh-CN" dirty="0">
              <a:solidFill>
                <a:srgbClr val="622820"/>
              </a:solidFill>
              <a:latin typeface="隶书" panose="02010509060101010101" charset="-122"/>
              <a:ea typeface="隶书" panose="02010509060101010101"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3" name="矩形 2"/>
          <p:cNvSpPr/>
          <p:nvPr/>
        </p:nvSpPr>
        <p:spPr>
          <a:xfrm>
            <a:off x="323528" y="790903"/>
            <a:ext cx="6478055" cy="523220"/>
          </a:xfrm>
          <a:prstGeom prst="rect">
            <a:avLst/>
          </a:prstGeom>
        </p:spPr>
        <p:txBody>
          <a:bodyPr wrap="none">
            <a:spAutoFit/>
          </a:bodyPr>
          <a:lstStyle/>
          <a:p>
            <a:r>
              <a:rPr kumimoji="1" lang="en-US" altLang="zh-CN" sz="2800" b="1" dirty="0">
                <a:solidFill>
                  <a:schemeClr val="accent2">
                    <a:lumMod val="75000"/>
                  </a:schemeClr>
                </a:solidFill>
              </a:rPr>
              <a:t>void</a:t>
            </a:r>
            <a:r>
              <a:rPr kumimoji="1" lang="en-US" altLang="zh-CN" sz="2800" b="1" dirty="0"/>
              <a:t> * </a:t>
            </a:r>
            <a:r>
              <a:rPr kumimoji="1" lang="en-US" altLang="zh-CN" sz="2800" b="1" dirty="0" err="1"/>
              <a:t>calloc</a:t>
            </a:r>
            <a:r>
              <a:rPr kumimoji="1" lang="en-US" altLang="zh-CN" sz="2800" b="1" dirty="0"/>
              <a:t>(</a:t>
            </a:r>
            <a:r>
              <a:rPr kumimoji="1" lang="en-US" altLang="zh-CN" sz="2800" b="1" dirty="0" err="1">
                <a:solidFill>
                  <a:schemeClr val="accent2">
                    <a:lumMod val="75000"/>
                  </a:schemeClr>
                </a:solidFill>
              </a:rPr>
              <a:t>size_t</a:t>
            </a:r>
            <a:r>
              <a:rPr kumimoji="1" lang="en-US" altLang="zh-CN" sz="2800" b="1" dirty="0"/>
              <a:t> num, </a:t>
            </a:r>
            <a:r>
              <a:rPr kumimoji="1" lang="en-US" altLang="zh-CN" sz="2800" b="1" dirty="0" err="1">
                <a:solidFill>
                  <a:schemeClr val="accent2">
                    <a:lumMod val="75000"/>
                  </a:schemeClr>
                </a:solidFill>
              </a:rPr>
              <a:t>size_t</a:t>
            </a:r>
            <a:r>
              <a:rPr kumimoji="1" lang="en-US" altLang="zh-CN" sz="2800" b="1" dirty="0">
                <a:solidFill>
                  <a:schemeClr val="accent2">
                    <a:lumMod val="75000"/>
                  </a:schemeClr>
                </a:solidFill>
              </a:rPr>
              <a:t> </a:t>
            </a:r>
            <a:r>
              <a:rPr kumimoji="1" lang="en-US" altLang="zh-CN" sz="2800" b="1" dirty="0"/>
              <a:t>size);</a:t>
            </a:r>
            <a:endParaRPr kumimoji="1" lang="en-US" altLang="zh-CN" sz="2800" b="1" dirty="0"/>
          </a:p>
        </p:txBody>
      </p:sp>
      <p:sp>
        <p:nvSpPr>
          <p:cNvPr id="5" name="文本框 4"/>
          <p:cNvSpPr txBox="1"/>
          <p:nvPr/>
        </p:nvSpPr>
        <p:spPr>
          <a:xfrm>
            <a:off x="731763" y="1490237"/>
            <a:ext cx="8006013" cy="1326645"/>
          </a:xfrm>
          <a:prstGeom prst="rect">
            <a:avLst/>
          </a:prstGeom>
          <a:noFill/>
        </p:spPr>
        <p:txBody>
          <a:bodyPr wrap="square" rtlCol="0">
            <a:spAutoFit/>
          </a:bodyPr>
          <a:lstStyle/>
          <a:p>
            <a:pPr>
              <a:lnSpc>
                <a:spcPct val="114000"/>
              </a:lnSpc>
            </a:pPr>
            <a:r>
              <a:rPr lang="en-US" altLang="zh-CN" b="1" dirty="0">
                <a:solidFill>
                  <a:srgbClr val="4D4D4D"/>
                </a:solidFill>
                <a:latin typeface="微软雅黑" panose="020B0503020204020204" pitchFamily="34" charset="-122"/>
                <a:ea typeface="微软雅黑" panose="020B0503020204020204" pitchFamily="34" charset="-122"/>
              </a:rPr>
              <a:t>num</a:t>
            </a:r>
            <a:r>
              <a:rPr lang="zh-CN" altLang="en-US" b="1" dirty="0">
                <a:solidFill>
                  <a:srgbClr val="4D4D4D"/>
                </a:solidFill>
                <a:latin typeface="微软雅黑" panose="020B0503020204020204" pitchFamily="34" charset="-122"/>
                <a:ea typeface="微软雅黑" panose="020B0503020204020204" pitchFamily="34" charset="-122"/>
              </a:rPr>
              <a:t>：</a:t>
            </a:r>
            <a:r>
              <a:rPr lang="zh-CN" altLang="en-US" dirty="0">
                <a:solidFill>
                  <a:srgbClr val="4D4D4D"/>
                </a:solidFill>
                <a:latin typeface="微软雅黑" panose="020B0503020204020204" pitchFamily="34" charset="-122"/>
                <a:ea typeface="微软雅黑" panose="020B0503020204020204" pitchFamily="34" charset="-122"/>
              </a:rPr>
              <a:t>请求分配的单元个数</a:t>
            </a:r>
            <a:endParaRPr lang="en-US" altLang="zh-CN" dirty="0">
              <a:solidFill>
                <a:srgbClr val="4D4D4D"/>
              </a:solidFill>
              <a:latin typeface="微软雅黑" panose="020B0503020204020204" pitchFamily="34" charset="-122"/>
              <a:ea typeface="微软雅黑" panose="020B0503020204020204" pitchFamily="34" charset="-122"/>
            </a:endParaRPr>
          </a:p>
          <a:p>
            <a:pPr>
              <a:lnSpc>
                <a:spcPct val="114000"/>
              </a:lnSpc>
            </a:pPr>
            <a:r>
              <a:rPr lang="en-US" altLang="zh-CN" b="1" dirty="0">
                <a:solidFill>
                  <a:srgbClr val="4D4D4D"/>
                </a:solidFill>
                <a:latin typeface="微软雅黑" panose="020B0503020204020204" pitchFamily="34" charset="-122"/>
                <a:ea typeface="微软雅黑" panose="020B0503020204020204" pitchFamily="34" charset="-122"/>
              </a:rPr>
              <a:t>size</a:t>
            </a:r>
            <a:r>
              <a:rPr lang="zh-CN" altLang="en-US" b="1" dirty="0">
                <a:solidFill>
                  <a:srgbClr val="4D4D4D"/>
                </a:solidFill>
                <a:latin typeface="微软雅黑" panose="020B0503020204020204" pitchFamily="34" charset="-122"/>
                <a:ea typeface="微软雅黑" panose="020B0503020204020204" pitchFamily="34" charset="-122"/>
              </a:rPr>
              <a:t>：</a:t>
            </a:r>
            <a:r>
              <a:rPr lang="zh-CN" altLang="en-US" dirty="0">
                <a:solidFill>
                  <a:srgbClr val="4D4D4D"/>
                </a:solidFill>
                <a:latin typeface="微软雅黑" panose="020B0503020204020204" pitchFamily="34" charset="-122"/>
                <a:ea typeface="微软雅黑" panose="020B0503020204020204" pitchFamily="34" charset="-122"/>
              </a:rPr>
              <a:t>每个单元的大小</a:t>
            </a:r>
            <a:endParaRPr lang="en-US" altLang="zh-CN" dirty="0">
              <a:solidFill>
                <a:srgbClr val="4D4D4D"/>
              </a:solidFill>
              <a:latin typeface="微软雅黑" panose="020B0503020204020204" pitchFamily="34" charset="-122"/>
              <a:ea typeface="微软雅黑" panose="020B0503020204020204" pitchFamily="34" charset="-122"/>
            </a:endParaRPr>
          </a:p>
          <a:p>
            <a:pPr>
              <a:lnSpc>
                <a:spcPct val="114000"/>
              </a:lnSpc>
            </a:pPr>
            <a:r>
              <a:rPr lang="zh-CN" altLang="en-US" b="1" dirty="0">
                <a:solidFill>
                  <a:srgbClr val="4D4D4D"/>
                </a:solidFill>
                <a:latin typeface="微软雅黑" panose="020B0503020204020204" pitchFamily="34" charset="-122"/>
                <a:ea typeface="微软雅黑" panose="020B0503020204020204" pitchFamily="34" charset="-122"/>
              </a:rPr>
              <a:t>返回值：</a:t>
            </a:r>
            <a:r>
              <a:rPr lang="zh-CN" altLang="en-US" dirty="0">
                <a:solidFill>
                  <a:srgbClr val="4D4D4D"/>
                </a:solidFill>
                <a:latin typeface="微软雅黑" panose="020B0503020204020204" pitchFamily="34" charset="-122"/>
                <a:ea typeface="微软雅黑" panose="020B0503020204020204" pitchFamily="34" charset="-122"/>
              </a:rPr>
              <a:t>如果成功则返回一个内存指针，指向一块内存已被清零的内存，失败返回</a:t>
            </a:r>
            <a:r>
              <a:rPr lang="en-US" altLang="zh-CN" dirty="0">
                <a:solidFill>
                  <a:srgbClr val="4D4D4D"/>
                </a:solidFill>
                <a:latin typeface="微软雅黑" panose="020B0503020204020204" pitchFamily="34" charset="-122"/>
                <a:ea typeface="微软雅黑" panose="020B0503020204020204" pitchFamily="34" charset="-122"/>
              </a:rPr>
              <a:t>NULL</a:t>
            </a:r>
            <a:r>
              <a:rPr lang="zh-CN" altLang="en-US" dirty="0">
                <a:solidFill>
                  <a:srgbClr val="4D4D4D"/>
                </a:solidFill>
                <a:latin typeface="微软雅黑" panose="020B0503020204020204" pitchFamily="34" charset="-122"/>
                <a:ea typeface="微软雅黑" panose="020B0503020204020204" pitchFamily="34" charset="-122"/>
              </a:rPr>
              <a:t>。</a:t>
            </a:r>
            <a:endParaRPr lang="en-US" altLang="zh-CN" dirty="0">
              <a:solidFill>
                <a:srgbClr val="4D4D4D"/>
              </a:solidFill>
              <a:latin typeface="微软雅黑" panose="020B0503020204020204" pitchFamily="34" charset="-122"/>
              <a:ea typeface="微软雅黑" panose="020B0503020204020204" pitchFamily="34" charset="-122"/>
            </a:endParaRPr>
          </a:p>
        </p:txBody>
      </p:sp>
      <p:sp>
        <p:nvSpPr>
          <p:cNvPr id="14" name="矩形 13"/>
          <p:cNvSpPr/>
          <p:nvPr/>
        </p:nvSpPr>
        <p:spPr>
          <a:xfrm>
            <a:off x="880807" y="3106737"/>
            <a:ext cx="4953671" cy="369332"/>
          </a:xfrm>
          <a:prstGeom prst="rect">
            <a:avLst/>
          </a:prstGeom>
        </p:spPr>
        <p:txBody>
          <a:bodyPr wrap="square">
            <a:spAutoFit/>
          </a:bodyPr>
          <a:lstStyle/>
          <a:p>
            <a:r>
              <a:rPr lang="en-US" altLang="zh-CN" dirty="0">
                <a:solidFill>
                  <a:srgbClr val="0000FF"/>
                </a:solidFill>
                <a:latin typeface="Bahnschrift" panose="020B0502040204020203" pitchFamily="34" charset="0"/>
                <a:ea typeface="Yu Gothic UI Semibold" panose="020B0700000000000000" pitchFamily="34" charset="-128"/>
              </a:rPr>
              <a:t>int</a:t>
            </a:r>
            <a:r>
              <a:rPr lang="en-US" altLang="zh-CN" dirty="0">
                <a:solidFill>
                  <a:srgbClr val="000000"/>
                </a:solidFill>
                <a:latin typeface="Bahnschrift" panose="020B0502040204020203" pitchFamily="34" charset="0"/>
                <a:ea typeface="Yu Gothic UI Semibold" panose="020B0700000000000000" pitchFamily="34" charset="-128"/>
              </a:rPr>
              <a:t> *p = (</a:t>
            </a:r>
            <a:r>
              <a:rPr lang="en-US" altLang="zh-CN" dirty="0">
                <a:solidFill>
                  <a:srgbClr val="0000FF"/>
                </a:solidFill>
                <a:latin typeface="Bahnschrift" panose="020B0502040204020203" pitchFamily="34" charset="0"/>
                <a:ea typeface="Yu Gothic UI Semibold" panose="020B0700000000000000" pitchFamily="34" charset="-128"/>
              </a:rPr>
              <a:t>int</a:t>
            </a:r>
            <a:r>
              <a:rPr lang="en-US" altLang="zh-CN" dirty="0">
                <a:solidFill>
                  <a:srgbClr val="000000"/>
                </a:solidFill>
                <a:latin typeface="Bahnschrift" panose="020B0502040204020203" pitchFamily="34" charset="0"/>
                <a:ea typeface="Yu Gothic UI Semibold" panose="020B0700000000000000" pitchFamily="34" charset="-128"/>
              </a:rPr>
              <a:t> *)</a:t>
            </a:r>
            <a:r>
              <a:rPr lang="en-US" altLang="zh-CN" dirty="0" err="1">
                <a:solidFill>
                  <a:srgbClr val="000000"/>
                </a:solidFill>
                <a:latin typeface="Bahnschrift" panose="020B0502040204020203" pitchFamily="34" charset="0"/>
                <a:ea typeface="Yu Gothic UI Semibold" panose="020B0700000000000000" pitchFamily="34" charset="-128"/>
              </a:rPr>
              <a:t>calloc</a:t>
            </a:r>
            <a:r>
              <a:rPr lang="en-US" altLang="zh-CN" dirty="0">
                <a:solidFill>
                  <a:srgbClr val="000000"/>
                </a:solidFill>
                <a:latin typeface="Bahnschrift" panose="020B0502040204020203" pitchFamily="34" charset="0"/>
                <a:ea typeface="Yu Gothic UI Semibold" panose="020B0700000000000000" pitchFamily="34" charset="-128"/>
              </a:rPr>
              <a:t>(4, </a:t>
            </a:r>
            <a:r>
              <a:rPr lang="en-US" altLang="zh-CN" dirty="0" err="1">
                <a:solidFill>
                  <a:srgbClr val="0000FF"/>
                </a:solidFill>
                <a:latin typeface="Bahnschrift" panose="020B0502040204020203" pitchFamily="34" charset="0"/>
                <a:ea typeface="Yu Gothic UI Semibold" panose="020B0700000000000000" pitchFamily="34" charset="-128"/>
              </a:rPr>
              <a:t>sizeof</a:t>
            </a:r>
            <a:r>
              <a:rPr lang="en-US" altLang="zh-CN" dirty="0">
                <a:solidFill>
                  <a:srgbClr val="000000"/>
                </a:solidFill>
                <a:latin typeface="Bahnschrift" panose="020B0502040204020203" pitchFamily="34" charset="0"/>
                <a:ea typeface="Yu Gothic UI Semibold" panose="020B0700000000000000" pitchFamily="34" charset="-128"/>
              </a:rPr>
              <a:t>(</a:t>
            </a:r>
            <a:r>
              <a:rPr lang="en-US" altLang="zh-CN" dirty="0">
                <a:solidFill>
                  <a:srgbClr val="0000FF"/>
                </a:solidFill>
                <a:latin typeface="Bahnschrift" panose="020B0502040204020203" pitchFamily="34" charset="0"/>
                <a:ea typeface="Yu Gothic UI Semibold" panose="020B0700000000000000" pitchFamily="34" charset="-128"/>
              </a:rPr>
              <a:t>int</a:t>
            </a:r>
            <a:r>
              <a:rPr lang="en-US" altLang="zh-CN" dirty="0">
                <a:solidFill>
                  <a:srgbClr val="000000"/>
                </a:solidFill>
                <a:latin typeface="Bahnschrift" panose="020B0502040204020203" pitchFamily="34" charset="0"/>
                <a:ea typeface="Yu Gothic UI Semibold" panose="020B0700000000000000" pitchFamily="34" charset="-128"/>
              </a:rPr>
              <a:t>));</a:t>
            </a:r>
            <a:endParaRPr lang="zh-CN" altLang="en-US" dirty="0">
              <a:latin typeface="Bahnschrift" panose="020B0502040204020203" pitchFamily="34" charset="0"/>
              <a:ea typeface="Yu Gothic UI Semibold" panose="020B0700000000000000" pitchFamily="34" charset="-128"/>
            </a:endParaRPr>
          </a:p>
        </p:txBody>
      </p:sp>
      <p:sp>
        <p:nvSpPr>
          <p:cNvPr id="15" name="矩形 14"/>
          <p:cNvSpPr/>
          <p:nvPr/>
        </p:nvSpPr>
        <p:spPr>
          <a:xfrm>
            <a:off x="880807" y="3715190"/>
            <a:ext cx="4572000" cy="646331"/>
          </a:xfrm>
          <a:prstGeom prst="rect">
            <a:avLst/>
          </a:prstGeom>
        </p:spPr>
        <p:txBody>
          <a:bodyPr>
            <a:spAutoFit/>
          </a:bodyPr>
          <a:lstStyle/>
          <a:p>
            <a:r>
              <a:rPr lang="en-US" altLang="zh-CN" dirty="0">
                <a:solidFill>
                  <a:srgbClr val="0000FF"/>
                </a:solidFill>
                <a:latin typeface="Bahnschrift" panose="020B0502040204020203" pitchFamily="34" charset="0"/>
                <a:ea typeface="Yu Gothic UI Semibold" panose="020B0700000000000000" pitchFamily="34" charset="-128"/>
              </a:rPr>
              <a:t>int</a:t>
            </a:r>
            <a:r>
              <a:rPr lang="en-US" altLang="zh-CN" dirty="0">
                <a:solidFill>
                  <a:srgbClr val="000000"/>
                </a:solidFill>
                <a:latin typeface="Bahnschrift" panose="020B0502040204020203" pitchFamily="34" charset="0"/>
                <a:ea typeface="Yu Gothic UI Semibold" panose="020B0700000000000000" pitchFamily="34" charset="-128"/>
              </a:rPr>
              <a:t> *p = malloc(</a:t>
            </a:r>
            <a:r>
              <a:rPr lang="en-US" altLang="zh-CN" dirty="0" err="1">
                <a:solidFill>
                  <a:srgbClr val="0000FF"/>
                </a:solidFill>
                <a:latin typeface="Bahnschrift" panose="020B0502040204020203" pitchFamily="34" charset="0"/>
                <a:ea typeface="Yu Gothic UI Semibold" panose="020B0700000000000000" pitchFamily="34" charset="-128"/>
              </a:rPr>
              <a:t>sizeof</a:t>
            </a:r>
            <a:r>
              <a:rPr lang="en-US" altLang="zh-CN" dirty="0">
                <a:solidFill>
                  <a:srgbClr val="000000"/>
                </a:solidFill>
                <a:latin typeface="Bahnschrift" panose="020B0502040204020203" pitchFamily="34" charset="0"/>
                <a:ea typeface="Yu Gothic UI Semibold" panose="020B0700000000000000" pitchFamily="34" charset="-128"/>
              </a:rPr>
              <a:t>(</a:t>
            </a:r>
            <a:r>
              <a:rPr lang="en-US" altLang="zh-CN" dirty="0">
                <a:solidFill>
                  <a:srgbClr val="0000FF"/>
                </a:solidFill>
                <a:latin typeface="Bahnschrift" panose="020B0502040204020203" pitchFamily="34" charset="0"/>
                <a:ea typeface="Yu Gothic UI Semibold" panose="020B0700000000000000" pitchFamily="34" charset="-128"/>
              </a:rPr>
              <a:t>int</a:t>
            </a:r>
            <a:r>
              <a:rPr lang="en-US" altLang="zh-CN" dirty="0">
                <a:solidFill>
                  <a:srgbClr val="000000"/>
                </a:solidFill>
                <a:latin typeface="Bahnschrift" panose="020B0502040204020203" pitchFamily="34" charset="0"/>
                <a:ea typeface="Yu Gothic UI Semibold" panose="020B0700000000000000" pitchFamily="34" charset="-128"/>
              </a:rPr>
              <a:t>) * 4);</a:t>
            </a:r>
            <a:endParaRPr lang="en-US" altLang="zh-CN" dirty="0">
              <a:solidFill>
                <a:srgbClr val="000000"/>
              </a:solidFill>
              <a:latin typeface="Bahnschrift" panose="020B0502040204020203" pitchFamily="34" charset="0"/>
              <a:ea typeface="Yu Gothic UI Semibold" panose="020B0700000000000000" pitchFamily="34" charset="-128"/>
            </a:endParaRPr>
          </a:p>
          <a:p>
            <a:r>
              <a:rPr lang="en-US" altLang="zh-CN" dirty="0" err="1">
                <a:solidFill>
                  <a:srgbClr val="000000"/>
                </a:solidFill>
                <a:latin typeface="Bahnschrift" panose="020B0502040204020203" pitchFamily="34" charset="0"/>
                <a:ea typeface="Yu Gothic UI Semibold" panose="020B0700000000000000" pitchFamily="34" charset="-128"/>
              </a:rPr>
              <a:t>memset</a:t>
            </a:r>
            <a:r>
              <a:rPr lang="en-US" altLang="zh-CN" dirty="0">
                <a:solidFill>
                  <a:srgbClr val="000000"/>
                </a:solidFill>
                <a:latin typeface="Bahnschrift" panose="020B0502040204020203" pitchFamily="34" charset="0"/>
                <a:ea typeface="Yu Gothic UI Semibold" panose="020B0700000000000000" pitchFamily="34" charset="-128"/>
              </a:rPr>
              <a:t>(p, 0, </a:t>
            </a:r>
            <a:r>
              <a:rPr lang="en-US" altLang="zh-CN" dirty="0" err="1">
                <a:solidFill>
                  <a:srgbClr val="0000FF"/>
                </a:solidFill>
                <a:latin typeface="Bahnschrift" panose="020B0502040204020203" pitchFamily="34" charset="0"/>
                <a:ea typeface="Yu Gothic UI Semibold" panose="020B0700000000000000" pitchFamily="34" charset="-128"/>
              </a:rPr>
              <a:t>sizeof</a:t>
            </a:r>
            <a:r>
              <a:rPr lang="en-US" altLang="zh-CN" dirty="0">
                <a:solidFill>
                  <a:srgbClr val="000000"/>
                </a:solidFill>
                <a:latin typeface="Bahnschrift" panose="020B0502040204020203" pitchFamily="34" charset="0"/>
                <a:ea typeface="Yu Gothic UI Semibold" panose="020B0700000000000000" pitchFamily="34" charset="-128"/>
              </a:rPr>
              <a:t>(</a:t>
            </a:r>
            <a:r>
              <a:rPr lang="en-US" altLang="zh-CN" dirty="0">
                <a:solidFill>
                  <a:srgbClr val="0000FF"/>
                </a:solidFill>
                <a:latin typeface="Bahnschrift" panose="020B0502040204020203" pitchFamily="34" charset="0"/>
                <a:ea typeface="Yu Gothic UI Semibold" panose="020B0700000000000000" pitchFamily="34" charset="-128"/>
              </a:rPr>
              <a:t>int</a:t>
            </a:r>
            <a:r>
              <a:rPr lang="en-US" altLang="zh-CN" dirty="0">
                <a:solidFill>
                  <a:srgbClr val="000000"/>
                </a:solidFill>
                <a:latin typeface="Bahnschrift" panose="020B0502040204020203" pitchFamily="34" charset="0"/>
                <a:ea typeface="Yu Gothic UI Semibold" panose="020B0700000000000000" pitchFamily="34" charset="-128"/>
              </a:rPr>
              <a:t>) * 4);</a:t>
            </a:r>
            <a:endParaRPr lang="zh-CN" altLang="en-US" dirty="0">
              <a:latin typeface="Bahnschrift" panose="020B0502040204020203" pitchFamily="34" charset="0"/>
              <a:ea typeface="Yu Gothic UI Semibold" panose="020B0700000000000000"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647044" y="3018033"/>
            <a:ext cx="8029411" cy="3440133"/>
          </a:xfrm>
          <a:prstGeom prst="roundRect">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charset="-122"/>
                <a:ea typeface="隶书" panose="02010509060101010101" charset="-122"/>
              </a:rPr>
              <a:t>内存分配及释放的函数</a:t>
            </a:r>
            <a:endParaRPr lang="zh-CN" dirty="0">
              <a:solidFill>
                <a:srgbClr val="622820"/>
              </a:solidFill>
              <a:latin typeface="隶书" panose="02010509060101010101" charset="-122"/>
              <a:ea typeface="隶书" panose="02010509060101010101"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2" name="矩形 1"/>
          <p:cNvSpPr/>
          <p:nvPr/>
        </p:nvSpPr>
        <p:spPr>
          <a:xfrm>
            <a:off x="345599" y="694671"/>
            <a:ext cx="7274748" cy="523220"/>
          </a:xfrm>
          <a:prstGeom prst="rect">
            <a:avLst/>
          </a:prstGeom>
        </p:spPr>
        <p:txBody>
          <a:bodyPr wrap="none">
            <a:spAutoFit/>
          </a:bodyPr>
          <a:lstStyle/>
          <a:p>
            <a:r>
              <a:rPr kumimoji="1" lang="en-US" altLang="zh-CN" sz="2800" b="1" dirty="0">
                <a:solidFill>
                  <a:schemeClr val="accent2">
                    <a:lumMod val="75000"/>
                  </a:schemeClr>
                </a:solidFill>
              </a:rPr>
              <a:t>void</a:t>
            </a:r>
            <a:r>
              <a:rPr kumimoji="1" lang="en-US" altLang="zh-CN" sz="2800" b="1" dirty="0"/>
              <a:t> * </a:t>
            </a:r>
            <a:r>
              <a:rPr kumimoji="1" lang="en-US" altLang="zh-CN" sz="2800" b="1" dirty="0" err="1"/>
              <a:t>realloc</a:t>
            </a:r>
            <a:r>
              <a:rPr kumimoji="1" lang="en-US" altLang="zh-CN" sz="2800" b="1" dirty="0"/>
              <a:t>(void * old, </a:t>
            </a:r>
            <a:r>
              <a:rPr kumimoji="1" lang="en-US" altLang="zh-CN" sz="2800" b="1" dirty="0" err="1">
                <a:solidFill>
                  <a:schemeClr val="accent2">
                    <a:lumMod val="75000"/>
                  </a:schemeClr>
                </a:solidFill>
              </a:rPr>
              <a:t>size_t</a:t>
            </a:r>
            <a:r>
              <a:rPr kumimoji="1" lang="en-US" altLang="zh-CN" sz="2800" b="1" dirty="0"/>
              <a:t> </a:t>
            </a:r>
            <a:r>
              <a:rPr kumimoji="1" lang="en-US" altLang="zh-CN" sz="2800" b="1" dirty="0" err="1"/>
              <a:t>new_size</a:t>
            </a:r>
            <a:r>
              <a:rPr kumimoji="1" lang="en-US" altLang="zh-CN" sz="2800" b="1" dirty="0"/>
              <a:t>);</a:t>
            </a:r>
            <a:endParaRPr kumimoji="1" lang="en-US" altLang="zh-CN" sz="2800" b="1" dirty="0"/>
          </a:p>
        </p:txBody>
      </p:sp>
      <p:sp>
        <p:nvSpPr>
          <p:cNvPr id="13" name="矩形 12"/>
          <p:cNvSpPr/>
          <p:nvPr/>
        </p:nvSpPr>
        <p:spPr>
          <a:xfrm>
            <a:off x="647044" y="1294307"/>
            <a:ext cx="7800336" cy="1647310"/>
          </a:xfrm>
          <a:prstGeom prst="rect">
            <a:avLst/>
          </a:prstGeom>
        </p:spPr>
        <p:txBody>
          <a:bodyPr wrap="square">
            <a:spAutoFit/>
          </a:bodyPr>
          <a:lstStyle/>
          <a:p>
            <a:pPr>
              <a:lnSpc>
                <a:spcPct val="114000"/>
              </a:lnSpc>
            </a:pPr>
            <a:r>
              <a:rPr lang="en-US" altLang="zh-CN" b="1" dirty="0">
                <a:solidFill>
                  <a:srgbClr val="4D4D4D"/>
                </a:solidFill>
                <a:latin typeface="微软雅黑" panose="020B0503020204020204" pitchFamily="34" charset="-122"/>
                <a:ea typeface="微软雅黑" panose="020B0503020204020204" pitchFamily="34" charset="-122"/>
              </a:rPr>
              <a:t>old</a:t>
            </a:r>
            <a:r>
              <a:rPr lang="zh-CN" altLang="en-US" b="1" dirty="0">
                <a:solidFill>
                  <a:srgbClr val="4D4D4D"/>
                </a:solidFill>
                <a:latin typeface="微软雅黑" panose="020B0503020204020204" pitchFamily="34" charset="-122"/>
                <a:ea typeface="微软雅黑" panose="020B0503020204020204" pitchFamily="34" charset="-122"/>
              </a:rPr>
              <a:t>：</a:t>
            </a:r>
            <a:r>
              <a:rPr lang="zh-CN" altLang="en-US" dirty="0">
                <a:solidFill>
                  <a:srgbClr val="4D4D4D"/>
                </a:solidFill>
                <a:latin typeface="微软雅黑" panose="020B0503020204020204" pitchFamily="34" charset="-122"/>
                <a:ea typeface="微软雅黑" panose="020B0503020204020204" pitchFamily="34" charset="-122"/>
              </a:rPr>
              <a:t>原来分配的内存地址指针</a:t>
            </a:r>
            <a:endParaRPr lang="en-US" altLang="zh-CN" dirty="0">
              <a:solidFill>
                <a:srgbClr val="4D4D4D"/>
              </a:solidFill>
              <a:latin typeface="微软雅黑" panose="020B0503020204020204" pitchFamily="34" charset="-122"/>
              <a:ea typeface="微软雅黑" panose="020B0503020204020204" pitchFamily="34" charset="-122"/>
            </a:endParaRPr>
          </a:p>
          <a:p>
            <a:pPr>
              <a:lnSpc>
                <a:spcPct val="114000"/>
              </a:lnSpc>
            </a:pPr>
            <a:r>
              <a:rPr lang="en-US" altLang="zh-CN" b="1" dirty="0" err="1">
                <a:solidFill>
                  <a:srgbClr val="4D4D4D"/>
                </a:solidFill>
                <a:latin typeface="微软雅黑" panose="020B0503020204020204" pitchFamily="34" charset="-122"/>
                <a:ea typeface="微软雅黑" panose="020B0503020204020204" pitchFamily="34" charset="-122"/>
              </a:rPr>
              <a:t>new_size</a:t>
            </a:r>
            <a:r>
              <a:rPr lang="zh-CN" altLang="en-US" b="1" dirty="0">
                <a:solidFill>
                  <a:srgbClr val="4D4D4D"/>
                </a:solidFill>
                <a:latin typeface="微软雅黑" panose="020B0503020204020204" pitchFamily="34" charset="-122"/>
                <a:ea typeface="微软雅黑" panose="020B0503020204020204" pitchFamily="34" charset="-122"/>
              </a:rPr>
              <a:t>：</a:t>
            </a:r>
            <a:r>
              <a:rPr lang="zh-CN" altLang="en-US" dirty="0">
                <a:solidFill>
                  <a:srgbClr val="4D4D4D"/>
                </a:solidFill>
                <a:latin typeface="微软雅黑" panose="020B0503020204020204" pitchFamily="34" charset="-122"/>
                <a:ea typeface="微软雅黑" panose="020B0503020204020204" pitchFamily="34" charset="-122"/>
              </a:rPr>
              <a:t>请求分配的内存的新的大小，可以比原来小（但是对于数据来说不安全），也可以比原来的大。</a:t>
            </a:r>
            <a:endParaRPr lang="en-US" altLang="zh-CN" dirty="0">
              <a:solidFill>
                <a:srgbClr val="4D4D4D"/>
              </a:solidFill>
              <a:latin typeface="微软雅黑" panose="020B0503020204020204" pitchFamily="34" charset="-122"/>
              <a:ea typeface="微软雅黑" panose="020B0503020204020204" pitchFamily="34" charset="-122"/>
            </a:endParaRPr>
          </a:p>
          <a:p>
            <a:pPr>
              <a:lnSpc>
                <a:spcPct val="114000"/>
              </a:lnSpc>
            </a:pPr>
            <a:r>
              <a:rPr lang="zh-CN" altLang="en-US" b="1" dirty="0">
                <a:solidFill>
                  <a:srgbClr val="4D4D4D"/>
                </a:solidFill>
                <a:latin typeface="微软雅黑" panose="020B0503020204020204" pitchFamily="34" charset="-122"/>
                <a:ea typeface="微软雅黑" panose="020B0503020204020204" pitchFamily="34" charset="-122"/>
              </a:rPr>
              <a:t>返回值：</a:t>
            </a:r>
            <a:r>
              <a:rPr lang="en-US" altLang="zh-CN" dirty="0" err="1">
                <a:solidFill>
                  <a:srgbClr val="4D4D4D"/>
                </a:solidFill>
                <a:latin typeface="微软雅黑" panose="020B0503020204020204" pitchFamily="34" charset="-122"/>
                <a:ea typeface="微软雅黑" panose="020B0503020204020204" pitchFamily="34" charset="-122"/>
              </a:rPr>
              <a:t>realloc</a:t>
            </a:r>
            <a:r>
              <a:rPr lang="zh-CN" altLang="en-US" dirty="0">
                <a:solidFill>
                  <a:srgbClr val="4D4D4D"/>
                </a:solidFill>
                <a:latin typeface="微软雅黑" panose="020B0503020204020204" pitchFamily="34" charset="-122"/>
                <a:ea typeface="微软雅黑" panose="020B0503020204020204" pitchFamily="34" charset="-122"/>
              </a:rPr>
              <a:t>会将原来内存中的内容复制到新的内存区域，然后返回新的内存指针，失败返回</a:t>
            </a:r>
            <a:r>
              <a:rPr lang="en-US" altLang="zh-CN" dirty="0">
                <a:solidFill>
                  <a:srgbClr val="4D4D4D"/>
                </a:solidFill>
                <a:latin typeface="微软雅黑" panose="020B0503020204020204" pitchFamily="34" charset="-122"/>
                <a:ea typeface="微软雅黑" panose="020B0503020204020204" pitchFamily="34" charset="-122"/>
              </a:rPr>
              <a:t>NULL</a:t>
            </a:r>
            <a:r>
              <a:rPr lang="zh-CN" altLang="en-US" dirty="0">
                <a:solidFill>
                  <a:srgbClr val="4D4D4D"/>
                </a:solidFill>
                <a:latin typeface="微软雅黑" panose="020B0503020204020204" pitchFamily="34" charset="-122"/>
                <a:ea typeface="微软雅黑" panose="020B0503020204020204" pitchFamily="34" charset="-122"/>
              </a:rPr>
              <a:t>。</a:t>
            </a:r>
            <a:endParaRPr lang="en-US" altLang="zh-CN" dirty="0">
              <a:solidFill>
                <a:srgbClr val="4D4D4D"/>
              </a:solidFill>
              <a:latin typeface="微软雅黑" panose="020B0503020204020204" pitchFamily="34" charset="-122"/>
              <a:ea typeface="微软雅黑" panose="020B0503020204020204" pitchFamily="34" charset="-122"/>
            </a:endParaRPr>
          </a:p>
        </p:txBody>
      </p:sp>
      <p:sp>
        <p:nvSpPr>
          <p:cNvPr id="15" name="矩形 14"/>
          <p:cNvSpPr/>
          <p:nvPr/>
        </p:nvSpPr>
        <p:spPr>
          <a:xfrm>
            <a:off x="876119" y="3183411"/>
            <a:ext cx="7800336" cy="3139321"/>
          </a:xfrm>
          <a:prstGeom prst="rect">
            <a:avLst/>
          </a:prstGeom>
        </p:spPr>
        <p:txBody>
          <a:bodyPr wrap="square">
            <a:spAutoFit/>
          </a:bodyPr>
          <a:lstStyle/>
          <a:p>
            <a:r>
              <a:rPr lang="zh-CN" altLang="en-US" dirty="0"/>
              <a:t>当</a:t>
            </a:r>
            <a:r>
              <a:rPr lang="en-US" altLang="zh-CN" dirty="0" err="1"/>
              <a:t>realloc</a:t>
            </a:r>
            <a:r>
              <a:rPr lang="en-US" altLang="zh-CN" dirty="0"/>
              <a:t>(</a:t>
            </a:r>
            <a:r>
              <a:rPr lang="en-US" altLang="zh-CN" dirty="0" err="1"/>
              <a:t>ptr,size</a:t>
            </a:r>
            <a:r>
              <a:rPr lang="en-US" altLang="zh-CN" dirty="0"/>
              <a:t>)</a:t>
            </a:r>
            <a:r>
              <a:rPr lang="zh-CN" altLang="en-US" dirty="0"/>
              <a:t>的</a:t>
            </a:r>
            <a:r>
              <a:rPr lang="en-US" altLang="zh-CN" dirty="0"/>
              <a:t>size</a:t>
            </a:r>
            <a:r>
              <a:rPr lang="zh-CN" altLang="en-US" dirty="0"/>
              <a:t>不等于</a:t>
            </a:r>
            <a:r>
              <a:rPr lang="en-US" altLang="zh-CN" dirty="0" err="1"/>
              <a:t>ptr</a:t>
            </a:r>
            <a:r>
              <a:rPr lang="zh-CN" altLang="en-US" dirty="0"/>
              <a:t>的</a:t>
            </a:r>
            <a:r>
              <a:rPr lang="en-US" altLang="zh-CN" dirty="0"/>
              <a:t>size</a:t>
            </a:r>
            <a:r>
              <a:rPr lang="zh-CN" altLang="en-US" dirty="0"/>
              <a:t>时</a:t>
            </a:r>
            <a:endParaRPr lang="zh-CN" altLang="en-US" dirty="0"/>
          </a:p>
          <a:p>
            <a:pPr lvl="1"/>
            <a:r>
              <a:rPr lang="zh-CN" altLang="en-US" dirty="0"/>
              <a:t>如果申请</a:t>
            </a:r>
            <a:r>
              <a:rPr lang="en-US" altLang="zh-CN" dirty="0"/>
              <a:t>size&gt;</a:t>
            </a:r>
            <a:r>
              <a:rPr lang="zh-CN" altLang="en-US" dirty="0"/>
              <a:t>原来</a:t>
            </a:r>
            <a:r>
              <a:rPr lang="en-US" altLang="zh-CN" dirty="0"/>
              <a:t>size</a:t>
            </a:r>
            <a:endParaRPr lang="en-US" altLang="zh-CN" dirty="0"/>
          </a:p>
          <a:p>
            <a:pPr lvl="2"/>
            <a:r>
              <a:rPr lang="zh-CN" altLang="en-US" dirty="0"/>
              <a:t>如果</a:t>
            </a:r>
            <a:r>
              <a:rPr lang="en-US" altLang="zh-CN" dirty="0"/>
              <a:t>chunk</a:t>
            </a:r>
            <a:r>
              <a:rPr lang="zh-CN" altLang="en-US" dirty="0"/>
              <a:t>与</a:t>
            </a:r>
            <a:r>
              <a:rPr lang="en-US" altLang="zh-CN" dirty="0"/>
              <a:t>top chunk</a:t>
            </a:r>
            <a:r>
              <a:rPr lang="zh-CN" altLang="en-US" dirty="0"/>
              <a:t>相邻，直接扩展这个</a:t>
            </a:r>
            <a:r>
              <a:rPr lang="en-US" altLang="zh-CN" dirty="0"/>
              <a:t>chunk</a:t>
            </a:r>
            <a:r>
              <a:rPr lang="zh-CN" altLang="en-US" dirty="0"/>
              <a:t>到新</a:t>
            </a:r>
            <a:r>
              <a:rPr lang="en-US" altLang="zh-CN" dirty="0"/>
              <a:t>size</a:t>
            </a:r>
            <a:r>
              <a:rPr lang="zh-CN" altLang="en-US" dirty="0"/>
              <a:t>大小</a:t>
            </a:r>
            <a:endParaRPr lang="zh-CN" altLang="en-US" dirty="0"/>
          </a:p>
          <a:p>
            <a:pPr lvl="2"/>
            <a:r>
              <a:rPr lang="zh-CN" altLang="en-US" dirty="0"/>
              <a:t>如果</a:t>
            </a:r>
            <a:r>
              <a:rPr lang="en-US" altLang="zh-CN" dirty="0"/>
              <a:t>chunk</a:t>
            </a:r>
            <a:r>
              <a:rPr lang="zh-CN" altLang="en-US" dirty="0"/>
              <a:t>与</a:t>
            </a:r>
            <a:r>
              <a:rPr lang="en-US" altLang="zh-CN" dirty="0"/>
              <a:t>top chunk</a:t>
            </a:r>
            <a:r>
              <a:rPr lang="zh-CN" altLang="en-US" dirty="0"/>
              <a:t>不相邻，相当于</a:t>
            </a:r>
            <a:r>
              <a:rPr lang="en-US" altLang="zh-CN" dirty="0"/>
              <a:t>free(</a:t>
            </a:r>
            <a:r>
              <a:rPr lang="en-US" altLang="zh-CN" dirty="0" err="1"/>
              <a:t>ptr</a:t>
            </a:r>
            <a:r>
              <a:rPr lang="en-US" altLang="zh-CN" dirty="0"/>
              <a:t>),malloc(</a:t>
            </a:r>
            <a:r>
              <a:rPr lang="en-US" altLang="zh-CN" dirty="0" err="1"/>
              <a:t>new_size</a:t>
            </a:r>
            <a:r>
              <a:rPr lang="en-US" altLang="zh-CN" dirty="0"/>
              <a:t>)</a:t>
            </a:r>
            <a:endParaRPr lang="en-US" altLang="zh-CN" dirty="0"/>
          </a:p>
          <a:p>
            <a:pPr lvl="1"/>
            <a:r>
              <a:rPr lang="zh-CN" altLang="en-US" dirty="0"/>
              <a:t>如果申请</a:t>
            </a:r>
            <a:r>
              <a:rPr lang="en-US" altLang="zh-CN" dirty="0"/>
              <a:t>size&lt;</a:t>
            </a:r>
            <a:r>
              <a:rPr lang="zh-CN" altLang="en-US" dirty="0"/>
              <a:t>原来</a:t>
            </a:r>
            <a:r>
              <a:rPr lang="en-US" altLang="zh-CN" dirty="0"/>
              <a:t>size</a:t>
            </a:r>
            <a:endParaRPr lang="en-US" altLang="zh-CN" dirty="0"/>
          </a:p>
          <a:p>
            <a:pPr lvl="2"/>
            <a:r>
              <a:rPr lang="zh-CN" altLang="en-US" dirty="0"/>
              <a:t>如果相差不足以容得下一个最小</a:t>
            </a:r>
            <a:r>
              <a:rPr lang="en-US" altLang="zh-CN" dirty="0"/>
              <a:t>chunk(64</a:t>
            </a:r>
            <a:r>
              <a:rPr lang="zh-CN" altLang="en-US" dirty="0"/>
              <a:t>位下</a:t>
            </a:r>
            <a:r>
              <a:rPr lang="en-US" altLang="zh-CN" dirty="0"/>
              <a:t>32</a:t>
            </a:r>
            <a:r>
              <a:rPr lang="zh-CN" altLang="en-US" dirty="0"/>
              <a:t>个字节，</a:t>
            </a:r>
            <a:r>
              <a:rPr lang="en-US" altLang="zh-CN" dirty="0"/>
              <a:t>32</a:t>
            </a:r>
            <a:r>
              <a:rPr lang="zh-CN" altLang="en-US" dirty="0"/>
              <a:t>位下</a:t>
            </a:r>
            <a:r>
              <a:rPr lang="en-US" altLang="zh-CN" dirty="0"/>
              <a:t>16</a:t>
            </a:r>
            <a:r>
              <a:rPr lang="zh-CN" altLang="en-US" dirty="0"/>
              <a:t>个字节</a:t>
            </a:r>
            <a:r>
              <a:rPr lang="en-US" altLang="zh-CN" dirty="0"/>
              <a:t>)</a:t>
            </a:r>
            <a:r>
              <a:rPr lang="zh-CN" altLang="en-US" dirty="0"/>
              <a:t>，则保持不变</a:t>
            </a:r>
            <a:endParaRPr lang="zh-CN" altLang="en-US" dirty="0"/>
          </a:p>
          <a:p>
            <a:pPr lvl="2"/>
            <a:r>
              <a:rPr lang="zh-CN" altLang="en-US" dirty="0"/>
              <a:t>如果相差可以容得下一个最小</a:t>
            </a:r>
            <a:r>
              <a:rPr lang="en-US" altLang="zh-CN" dirty="0"/>
              <a:t>chunk</a:t>
            </a:r>
            <a:r>
              <a:rPr lang="zh-CN" altLang="en-US" dirty="0"/>
              <a:t>，则切割原</a:t>
            </a:r>
            <a:r>
              <a:rPr lang="en-US" altLang="zh-CN" dirty="0"/>
              <a:t>chunk</a:t>
            </a:r>
            <a:r>
              <a:rPr lang="zh-CN" altLang="en-US" dirty="0"/>
              <a:t>为两部分，</a:t>
            </a:r>
            <a:r>
              <a:rPr lang="en-US" altLang="zh-CN" dirty="0"/>
              <a:t>free</a:t>
            </a:r>
            <a:r>
              <a:rPr lang="zh-CN" altLang="en-US" dirty="0"/>
              <a:t>掉后一部分</a:t>
            </a:r>
            <a:endParaRPr lang="zh-CN" altLang="en-US" dirty="0"/>
          </a:p>
          <a:p>
            <a:r>
              <a:rPr lang="zh-CN" altLang="en-US" dirty="0"/>
              <a:t>当</a:t>
            </a:r>
            <a:r>
              <a:rPr lang="en-US" altLang="zh-CN" dirty="0" err="1"/>
              <a:t>realloc</a:t>
            </a:r>
            <a:r>
              <a:rPr lang="en-US" altLang="zh-CN" dirty="0"/>
              <a:t>(</a:t>
            </a:r>
            <a:r>
              <a:rPr lang="en-US" altLang="zh-CN" dirty="0" err="1"/>
              <a:t>ptr,size</a:t>
            </a:r>
            <a:r>
              <a:rPr lang="en-US" altLang="zh-CN" dirty="0"/>
              <a:t>)</a:t>
            </a:r>
            <a:r>
              <a:rPr lang="zh-CN" altLang="en-US" dirty="0"/>
              <a:t>的</a:t>
            </a:r>
            <a:r>
              <a:rPr lang="en-US" altLang="zh-CN" dirty="0"/>
              <a:t>size</a:t>
            </a:r>
            <a:r>
              <a:rPr lang="zh-CN" altLang="en-US" dirty="0"/>
              <a:t>等于</a:t>
            </a:r>
            <a:r>
              <a:rPr lang="en-US" altLang="zh-CN" dirty="0"/>
              <a:t>0</a:t>
            </a:r>
            <a:r>
              <a:rPr lang="zh-CN" altLang="en-US" dirty="0"/>
              <a:t>时，相当于</a:t>
            </a:r>
            <a:r>
              <a:rPr lang="en-US" altLang="zh-CN" dirty="0"/>
              <a:t>free(</a:t>
            </a:r>
            <a:r>
              <a:rPr lang="en-US" altLang="zh-CN" dirty="0" err="1"/>
              <a:t>ptr</a:t>
            </a:r>
            <a:r>
              <a:rPr lang="en-US" altLang="zh-CN" dirty="0"/>
              <a:t>)</a:t>
            </a:r>
            <a:endParaRPr lang="en-US" altLang="zh-CN" dirty="0"/>
          </a:p>
          <a:p>
            <a:r>
              <a:rPr lang="zh-CN" altLang="en-US" dirty="0"/>
              <a:t>当</a:t>
            </a:r>
            <a:r>
              <a:rPr lang="en-US" altLang="zh-CN" dirty="0" err="1"/>
              <a:t>realloc</a:t>
            </a:r>
            <a:r>
              <a:rPr lang="en-US" altLang="zh-CN" dirty="0"/>
              <a:t>(</a:t>
            </a:r>
            <a:r>
              <a:rPr lang="en-US" altLang="zh-CN" dirty="0" err="1"/>
              <a:t>ptr,size</a:t>
            </a:r>
            <a:r>
              <a:rPr lang="en-US" altLang="zh-CN" dirty="0"/>
              <a:t>)</a:t>
            </a:r>
            <a:r>
              <a:rPr lang="zh-CN" altLang="en-US" dirty="0"/>
              <a:t>的</a:t>
            </a:r>
            <a:r>
              <a:rPr lang="en-US" altLang="zh-CN" dirty="0"/>
              <a:t>size</a:t>
            </a:r>
            <a:r>
              <a:rPr lang="zh-CN" altLang="en-US" dirty="0"/>
              <a:t>等于</a:t>
            </a:r>
            <a:r>
              <a:rPr lang="en-US" altLang="zh-CN" dirty="0" err="1"/>
              <a:t>ptr</a:t>
            </a:r>
            <a:r>
              <a:rPr lang="zh-CN" altLang="en-US" dirty="0"/>
              <a:t>的</a:t>
            </a:r>
            <a:r>
              <a:rPr lang="en-US" altLang="zh-CN" dirty="0"/>
              <a:t>size</a:t>
            </a:r>
            <a:r>
              <a:rPr lang="zh-CN" altLang="en-US" dirty="0"/>
              <a:t>，不进行任何操作</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charset="-122"/>
                <a:ea typeface="隶书" panose="02010509060101010101" charset="-122"/>
              </a:rPr>
              <a:t>内存分配及释放的函数</a:t>
            </a:r>
            <a:endParaRPr lang="zh-CN" dirty="0">
              <a:solidFill>
                <a:srgbClr val="622820"/>
              </a:solidFill>
              <a:latin typeface="隶书" panose="02010509060101010101" charset="-122"/>
              <a:ea typeface="隶书" panose="02010509060101010101"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3" name="矩形 2"/>
          <p:cNvSpPr/>
          <p:nvPr/>
        </p:nvSpPr>
        <p:spPr>
          <a:xfrm>
            <a:off x="497425" y="1022242"/>
            <a:ext cx="3600666" cy="523220"/>
          </a:xfrm>
          <a:prstGeom prst="rect">
            <a:avLst/>
          </a:prstGeom>
        </p:spPr>
        <p:txBody>
          <a:bodyPr wrap="none">
            <a:spAutoFit/>
          </a:bodyPr>
          <a:lstStyle/>
          <a:p>
            <a:r>
              <a:rPr kumimoji="1" lang="en-US" altLang="zh-CN" sz="2800" b="1" dirty="0">
                <a:solidFill>
                  <a:schemeClr val="accent2">
                    <a:lumMod val="75000"/>
                  </a:schemeClr>
                </a:solidFill>
              </a:rPr>
              <a:t>void</a:t>
            </a:r>
            <a:r>
              <a:rPr kumimoji="1" lang="en-US" altLang="zh-CN" sz="2800" b="1" dirty="0"/>
              <a:t> free(void * </a:t>
            </a:r>
            <a:r>
              <a:rPr kumimoji="1" lang="en-US" altLang="zh-CN" sz="2800" b="1" dirty="0" err="1"/>
              <a:t>ptr</a:t>
            </a:r>
            <a:r>
              <a:rPr kumimoji="1" lang="en-US" altLang="zh-CN" sz="2800" b="1" dirty="0"/>
              <a:t>);</a:t>
            </a:r>
            <a:endParaRPr kumimoji="1" lang="en-US" altLang="zh-CN" sz="2800" b="1" dirty="0"/>
          </a:p>
        </p:txBody>
      </p:sp>
      <p:sp>
        <p:nvSpPr>
          <p:cNvPr id="15" name="矩形 14"/>
          <p:cNvSpPr/>
          <p:nvPr/>
        </p:nvSpPr>
        <p:spPr>
          <a:xfrm>
            <a:off x="814856" y="1656897"/>
            <a:ext cx="7800336" cy="384144"/>
          </a:xfrm>
          <a:prstGeom prst="rect">
            <a:avLst/>
          </a:prstGeom>
        </p:spPr>
        <p:txBody>
          <a:bodyPr wrap="square">
            <a:spAutoFit/>
          </a:bodyPr>
          <a:lstStyle/>
          <a:p>
            <a:pPr>
              <a:lnSpc>
                <a:spcPct val="114000"/>
              </a:lnSpc>
            </a:pPr>
            <a:r>
              <a:rPr lang="en-US" altLang="zh-CN" b="1" dirty="0" err="1">
                <a:solidFill>
                  <a:srgbClr val="4D4D4D"/>
                </a:solidFill>
                <a:latin typeface="微软雅黑" panose="020B0503020204020204" pitchFamily="34" charset="-122"/>
                <a:ea typeface="微软雅黑" panose="020B0503020204020204" pitchFamily="34" charset="-122"/>
              </a:rPr>
              <a:t>ptr</a:t>
            </a:r>
            <a:r>
              <a:rPr lang="zh-CN" altLang="en-US" b="1" dirty="0">
                <a:solidFill>
                  <a:srgbClr val="4D4D4D"/>
                </a:solidFill>
                <a:latin typeface="微软雅黑" panose="020B0503020204020204" pitchFamily="34" charset="-122"/>
                <a:ea typeface="微软雅黑" panose="020B0503020204020204" pitchFamily="34" charset="-122"/>
              </a:rPr>
              <a:t>：</a:t>
            </a:r>
            <a:r>
              <a:rPr lang="zh-CN" altLang="en-US" dirty="0">
                <a:solidFill>
                  <a:srgbClr val="4D4D4D"/>
                </a:solidFill>
                <a:latin typeface="微软雅黑" panose="020B0503020204020204" pitchFamily="34" charset="-122"/>
                <a:ea typeface="微软雅黑" panose="020B0503020204020204" pitchFamily="34" charset="-122"/>
              </a:rPr>
              <a:t>将要释放内存空间的地址。</a:t>
            </a:r>
            <a:endParaRPr lang="en-US" altLang="zh-CN" dirty="0">
              <a:solidFill>
                <a:srgbClr val="4D4D4D"/>
              </a:solidFill>
              <a:latin typeface="微软雅黑" panose="020B0503020204020204" pitchFamily="34" charset="-122"/>
              <a:ea typeface="微软雅黑" panose="020B0503020204020204" pitchFamily="34" charset="-122"/>
            </a:endParaRPr>
          </a:p>
        </p:txBody>
      </p:sp>
      <p:sp>
        <p:nvSpPr>
          <p:cNvPr id="16" name="矩形: 圆角 15"/>
          <p:cNvSpPr/>
          <p:nvPr/>
        </p:nvSpPr>
        <p:spPr>
          <a:xfrm>
            <a:off x="814856" y="2204864"/>
            <a:ext cx="7514287" cy="781748"/>
          </a:xfrm>
          <a:prstGeom prst="roundRect">
            <a:avLst/>
          </a:prstGeom>
          <a:solidFill>
            <a:schemeClr val="bg1"/>
          </a:solid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lumMod val="75000"/>
                  </a:schemeClr>
                </a:solidFill>
              </a:rPr>
              <a:t>只能释放动态申请的内存空间，</a:t>
            </a:r>
            <a:r>
              <a:rPr lang="zh-CN" altLang="en-US" b="1" dirty="0">
                <a:solidFill>
                  <a:srgbClr val="FF0000"/>
                </a:solidFill>
              </a:rPr>
              <a:t>重复释放</a:t>
            </a:r>
            <a:r>
              <a:rPr lang="zh-CN" altLang="en-US" dirty="0">
                <a:solidFill>
                  <a:schemeClr val="tx2">
                    <a:lumMod val="75000"/>
                  </a:schemeClr>
                </a:solidFill>
              </a:rPr>
              <a:t>会出现不可预知的情况。</a:t>
            </a:r>
            <a:endParaRPr lang="zh-CN" altLang="en-US" dirty="0">
              <a:solidFill>
                <a:schemeClr val="tx2">
                  <a:lumMod val="75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charset="-122"/>
                <a:ea typeface="隶书" panose="02010509060101010101" charset="-122"/>
              </a:rPr>
              <a:t>内存分配及释放的函数</a:t>
            </a:r>
            <a:endParaRPr lang="zh-CN" dirty="0">
              <a:solidFill>
                <a:srgbClr val="622820"/>
              </a:solidFill>
              <a:latin typeface="隶书" panose="02010509060101010101" charset="-122"/>
              <a:ea typeface="隶书" panose="02010509060101010101"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矩形 5"/>
          <p:cNvSpPr/>
          <p:nvPr/>
        </p:nvSpPr>
        <p:spPr>
          <a:xfrm>
            <a:off x="0" y="6211669"/>
            <a:ext cx="5688632" cy="646331"/>
          </a:xfrm>
          <a:prstGeom prst="rect">
            <a:avLst/>
          </a:prstGeom>
        </p:spPr>
        <p:txBody>
          <a:bodyPr wrap="square">
            <a:spAutoFit/>
          </a:bodyPr>
          <a:lstStyle/>
          <a:p>
            <a:r>
              <a:rPr lang="zh-CN" altLang="en-US" sz="1200" dirty="0"/>
              <a:t>参考链接：</a:t>
            </a:r>
            <a:endParaRPr lang="en-US" altLang="zh-CN" sz="1200" dirty="0"/>
          </a:p>
          <a:p>
            <a:r>
              <a:rPr lang="en-US" altLang="zh-CN" sz="1200" dirty="0">
                <a:hlinkClick r:id="rId1"/>
              </a:rPr>
              <a:t>https://blog.csdn.net/leisure512/article/details/4788467</a:t>
            </a:r>
            <a:endParaRPr lang="en-US" altLang="zh-CN" sz="1200" dirty="0"/>
          </a:p>
          <a:p>
            <a:r>
              <a:rPr lang="en-US" altLang="zh-CN" sz="1200" dirty="0">
                <a:hlinkClick r:id="rId2"/>
              </a:rPr>
              <a:t>https://blog.csdn.net/lalor/article/details/7426184</a:t>
            </a:r>
            <a:endParaRPr lang="zh-CN" altLang="en-US" sz="1200" dirty="0"/>
          </a:p>
        </p:txBody>
      </p:sp>
      <p:sp>
        <p:nvSpPr>
          <p:cNvPr id="22" name="矩形 21"/>
          <p:cNvSpPr/>
          <p:nvPr/>
        </p:nvSpPr>
        <p:spPr>
          <a:xfrm>
            <a:off x="1390345" y="2531229"/>
            <a:ext cx="1331913" cy="2728179"/>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Top chunk</a:t>
            </a:r>
            <a:endParaRPr lang="zh-CN" altLang="en-US" dirty="0">
              <a:solidFill>
                <a:schemeClr val="tx1">
                  <a:lumMod val="75000"/>
                </a:schemeClr>
              </a:solidFill>
            </a:endParaRPr>
          </a:p>
        </p:txBody>
      </p:sp>
      <p:sp>
        <p:nvSpPr>
          <p:cNvPr id="21" name="文本框 20"/>
          <p:cNvSpPr txBox="1"/>
          <p:nvPr/>
        </p:nvSpPr>
        <p:spPr>
          <a:xfrm>
            <a:off x="607920" y="1088343"/>
            <a:ext cx="7886700" cy="1287532"/>
          </a:xfrm>
          <a:prstGeom prst="rect">
            <a:avLst/>
          </a:prstGeom>
          <a:noFill/>
        </p:spPr>
        <p:txBody>
          <a:bodyPr wrap="square" rtlCol="0">
            <a:spAutoFit/>
          </a:bodyPr>
          <a:lstStyle/>
          <a:p>
            <a:pPr>
              <a:lnSpc>
                <a:spcPct val="150000"/>
              </a:lnSpc>
            </a:pPr>
            <a:r>
              <a:rPr lang="zh-CN" altLang="en-US" dirty="0"/>
              <a:t>第一次用</a:t>
            </a:r>
            <a:r>
              <a:rPr lang="en-US" altLang="zh-CN" dirty="0"/>
              <a:t>malloc</a:t>
            </a:r>
            <a:r>
              <a:rPr lang="zh-CN" altLang="en-US" dirty="0"/>
              <a:t>申请四块内存：</a:t>
            </a:r>
            <a:endParaRPr lang="en-US" altLang="zh-CN" dirty="0"/>
          </a:p>
          <a:p>
            <a:pPr>
              <a:lnSpc>
                <a:spcPct val="150000"/>
              </a:lnSpc>
            </a:pPr>
            <a:r>
              <a:rPr lang="zh-CN" altLang="en-US" dirty="0"/>
              <a:t>分配结果为</a:t>
            </a:r>
            <a:r>
              <a:rPr lang="en-US" altLang="zh-CN" dirty="0"/>
              <a:t>chunk1(24B)</a:t>
            </a:r>
            <a:r>
              <a:rPr lang="zh-CN" altLang="en-US" dirty="0"/>
              <a:t>、</a:t>
            </a:r>
            <a:r>
              <a:rPr lang="en-US" altLang="zh-CN" dirty="0"/>
              <a:t>chunk2(24B)</a:t>
            </a:r>
            <a:r>
              <a:rPr lang="zh-CN" altLang="en-US" dirty="0"/>
              <a:t>、</a:t>
            </a:r>
            <a:r>
              <a:rPr lang="en-US" altLang="zh-CN" dirty="0"/>
              <a:t>chunk3(24B)</a:t>
            </a:r>
            <a:r>
              <a:rPr lang="zh-CN" altLang="en-US" dirty="0"/>
              <a:t>、</a:t>
            </a:r>
            <a:r>
              <a:rPr lang="en-US" altLang="zh-CN" dirty="0"/>
              <a:t>chunk4(24B);</a:t>
            </a:r>
            <a:endParaRPr lang="en-US" altLang="zh-CN" dirty="0"/>
          </a:p>
          <a:p>
            <a:pPr>
              <a:lnSpc>
                <a:spcPct val="150000"/>
              </a:lnSpc>
            </a:pPr>
            <a:endParaRPr lang="zh-CN" altLang="en-US" dirty="0"/>
          </a:p>
        </p:txBody>
      </p:sp>
      <p:grpSp>
        <p:nvGrpSpPr>
          <p:cNvPr id="8" name="组合 7"/>
          <p:cNvGrpSpPr/>
          <p:nvPr/>
        </p:nvGrpSpPr>
        <p:grpSpPr>
          <a:xfrm>
            <a:off x="4551270" y="2531229"/>
            <a:ext cx="3626812" cy="2732282"/>
            <a:chOff x="3091173" y="1876881"/>
            <a:chExt cx="3626812" cy="2732282"/>
          </a:xfrm>
        </p:grpSpPr>
        <p:grpSp>
          <p:nvGrpSpPr>
            <p:cNvPr id="7" name="组合 6"/>
            <p:cNvGrpSpPr/>
            <p:nvPr/>
          </p:nvGrpSpPr>
          <p:grpSpPr>
            <a:xfrm>
              <a:off x="3091173" y="1876881"/>
              <a:ext cx="3626812" cy="2732282"/>
              <a:chOff x="2853363" y="2263283"/>
              <a:chExt cx="3626812" cy="2732282"/>
            </a:xfrm>
          </p:grpSpPr>
          <p:grpSp>
            <p:nvGrpSpPr>
              <p:cNvPr id="43008" name="组合 43007"/>
              <p:cNvGrpSpPr/>
              <p:nvPr/>
            </p:nvGrpSpPr>
            <p:grpSpPr>
              <a:xfrm>
                <a:off x="2853363" y="2263283"/>
                <a:ext cx="1331914" cy="2728179"/>
                <a:chOff x="3669208" y="2849797"/>
                <a:chExt cx="1331914" cy="2728179"/>
              </a:xfrm>
            </p:grpSpPr>
            <p:sp>
              <p:nvSpPr>
                <p:cNvPr id="29" name="矩形 28"/>
                <p:cNvSpPr/>
                <p:nvPr/>
              </p:nvSpPr>
              <p:spPr>
                <a:xfrm>
                  <a:off x="3669208" y="5142931"/>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1</a:t>
                  </a:r>
                  <a:endParaRPr lang="zh-CN" altLang="en-US" dirty="0">
                    <a:solidFill>
                      <a:schemeClr val="tx1">
                        <a:lumMod val="75000"/>
                      </a:schemeClr>
                    </a:solidFill>
                  </a:endParaRPr>
                </a:p>
              </p:txBody>
            </p:sp>
            <p:sp>
              <p:nvSpPr>
                <p:cNvPr id="30" name="矩形 29"/>
                <p:cNvSpPr/>
                <p:nvPr/>
              </p:nvSpPr>
              <p:spPr>
                <a:xfrm>
                  <a:off x="3669208" y="4722147"/>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2</a:t>
                  </a:r>
                  <a:endParaRPr lang="zh-CN" altLang="en-US" dirty="0">
                    <a:solidFill>
                      <a:schemeClr val="tx1">
                        <a:lumMod val="75000"/>
                      </a:schemeClr>
                    </a:solidFill>
                  </a:endParaRPr>
                </a:p>
              </p:txBody>
            </p:sp>
            <p:sp>
              <p:nvSpPr>
                <p:cNvPr id="31" name="矩形 30"/>
                <p:cNvSpPr/>
                <p:nvPr/>
              </p:nvSpPr>
              <p:spPr>
                <a:xfrm>
                  <a:off x="3669209" y="2849797"/>
                  <a:ext cx="1331913" cy="1002261"/>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Top chunk</a:t>
                  </a:r>
                  <a:endParaRPr lang="zh-CN" altLang="en-US" dirty="0">
                    <a:solidFill>
                      <a:schemeClr val="tx1">
                        <a:lumMod val="75000"/>
                      </a:schemeClr>
                    </a:solidFill>
                  </a:endParaRPr>
                </a:p>
              </p:txBody>
            </p:sp>
            <p:sp>
              <p:nvSpPr>
                <p:cNvPr id="32" name="矩形 31"/>
                <p:cNvSpPr/>
                <p:nvPr/>
              </p:nvSpPr>
              <p:spPr>
                <a:xfrm>
                  <a:off x="3669208" y="4290099"/>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3</a:t>
                  </a:r>
                  <a:endParaRPr lang="zh-CN" altLang="en-US" dirty="0">
                    <a:solidFill>
                      <a:schemeClr val="tx1">
                        <a:lumMod val="75000"/>
                      </a:schemeClr>
                    </a:solidFill>
                  </a:endParaRPr>
                </a:p>
              </p:txBody>
            </p:sp>
          </p:grpSp>
          <p:sp>
            <p:nvSpPr>
              <p:cNvPr id="3" name="右大括号 2"/>
              <p:cNvSpPr/>
              <p:nvPr/>
            </p:nvSpPr>
            <p:spPr>
              <a:xfrm>
                <a:off x="4334190" y="3265544"/>
                <a:ext cx="93794" cy="1730021"/>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4572000" y="4126627"/>
                <a:ext cx="1908175" cy="369332"/>
              </a:xfrm>
              <a:prstGeom prst="rect">
                <a:avLst/>
              </a:prstGeom>
              <a:noFill/>
            </p:spPr>
            <p:txBody>
              <a:bodyPr wrap="square" rtlCol="0">
                <a:spAutoFit/>
              </a:bodyPr>
              <a:lstStyle/>
              <a:p>
                <a:r>
                  <a:rPr lang="en-US" altLang="zh-CN" dirty="0"/>
                  <a:t>allocated chunk</a:t>
                </a:r>
                <a:endParaRPr lang="zh-CN" altLang="en-US" dirty="0"/>
              </a:p>
            </p:txBody>
          </p:sp>
        </p:grpSp>
        <p:sp>
          <p:nvSpPr>
            <p:cNvPr id="24" name="矩形 23"/>
            <p:cNvSpPr/>
            <p:nvPr/>
          </p:nvSpPr>
          <p:spPr>
            <a:xfrm>
              <a:off x="3091173" y="2880640"/>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4</a:t>
              </a:r>
              <a:endParaRPr lang="zh-CN" altLang="en-US" dirty="0">
                <a:solidFill>
                  <a:schemeClr val="tx1">
                    <a:lumMod val="75000"/>
                  </a:schemeClr>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charset="-122"/>
                <a:ea typeface="隶书" panose="02010509060101010101" charset="-122"/>
              </a:rPr>
              <a:t>内存分配及释放的函数</a:t>
            </a:r>
            <a:endParaRPr lang="zh-CN" dirty="0">
              <a:solidFill>
                <a:srgbClr val="622820"/>
              </a:solidFill>
              <a:latin typeface="隶书" panose="02010509060101010101" charset="-122"/>
              <a:ea typeface="隶书" panose="02010509060101010101"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矩形 5"/>
          <p:cNvSpPr/>
          <p:nvPr/>
        </p:nvSpPr>
        <p:spPr>
          <a:xfrm>
            <a:off x="0" y="6211669"/>
            <a:ext cx="5688632" cy="646331"/>
          </a:xfrm>
          <a:prstGeom prst="rect">
            <a:avLst/>
          </a:prstGeom>
        </p:spPr>
        <p:txBody>
          <a:bodyPr wrap="square">
            <a:spAutoFit/>
          </a:bodyPr>
          <a:lstStyle/>
          <a:p>
            <a:r>
              <a:rPr lang="zh-CN" altLang="en-US" sz="1200" dirty="0"/>
              <a:t>参考链接：</a:t>
            </a:r>
            <a:endParaRPr lang="en-US" altLang="zh-CN" sz="1200" dirty="0"/>
          </a:p>
          <a:p>
            <a:r>
              <a:rPr lang="en-US" altLang="zh-CN" sz="1200" dirty="0">
                <a:hlinkClick r:id="rId1"/>
              </a:rPr>
              <a:t>https://blog.csdn.net/leisure512/article/details/4788467</a:t>
            </a:r>
            <a:endParaRPr lang="en-US" altLang="zh-CN" sz="1200" dirty="0"/>
          </a:p>
          <a:p>
            <a:r>
              <a:rPr lang="en-US" altLang="zh-CN" sz="1200" dirty="0">
                <a:hlinkClick r:id="rId2"/>
              </a:rPr>
              <a:t>https://blog.csdn.net/lalor/article/details/7426184</a:t>
            </a:r>
            <a:endParaRPr lang="zh-CN" altLang="en-US" sz="1200" dirty="0"/>
          </a:p>
        </p:txBody>
      </p:sp>
      <p:sp>
        <p:nvSpPr>
          <p:cNvPr id="17" name="文本框 16"/>
          <p:cNvSpPr txBox="1"/>
          <p:nvPr/>
        </p:nvSpPr>
        <p:spPr>
          <a:xfrm>
            <a:off x="627122" y="1260819"/>
            <a:ext cx="5577958" cy="369332"/>
          </a:xfrm>
          <a:prstGeom prst="rect">
            <a:avLst/>
          </a:prstGeom>
          <a:noFill/>
        </p:spPr>
        <p:txBody>
          <a:bodyPr wrap="square" rtlCol="0">
            <a:spAutoFit/>
          </a:bodyPr>
          <a:lstStyle/>
          <a:p>
            <a:r>
              <a:rPr lang="zh-CN" altLang="en-US" dirty="0"/>
              <a:t>如果按顺序</a:t>
            </a:r>
            <a:r>
              <a:rPr lang="en-US" altLang="zh-CN" dirty="0"/>
              <a:t>free()</a:t>
            </a:r>
            <a:r>
              <a:rPr lang="zh-CN" altLang="en-US" dirty="0"/>
              <a:t>：</a:t>
            </a:r>
            <a:r>
              <a:rPr lang="en-US" altLang="zh-CN" dirty="0"/>
              <a:t>chunk1</a:t>
            </a:r>
            <a:r>
              <a:rPr lang="zh-CN" altLang="en-US" dirty="0"/>
              <a:t>、</a:t>
            </a:r>
            <a:r>
              <a:rPr lang="en-US" altLang="zh-CN" dirty="0"/>
              <a:t>chunk3</a:t>
            </a:r>
            <a:r>
              <a:rPr lang="zh-CN" altLang="en-US" dirty="0"/>
              <a:t>、</a:t>
            </a:r>
            <a:r>
              <a:rPr lang="en-US" altLang="zh-CN" dirty="0"/>
              <a:t>chunk4</a:t>
            </a:r>
            <a:r>
              <a:rPr lang="zh-CN" altLang="en-US" dirty="0"/>
              <a:t>；</a:t>
            </a:r>
            <a:endParaRPr lang="zh-CN" altLang="en-US" dirty="0"/>
          </a:p>
        </p:txBody>
      </p:sp>
      <p:grpSp>
        <p:nvGrpSpPr>
          <p:cNvPr id="8" name="组合 7"/>
          <p:cNvGrpSpPr/>
          <p:nvPr/>
        </p:nvGrpSpPr>
        <p:grpSpPr>
          <a:xfrm>
            <a:off x="765987" y="2285365"/>
            <a:ext cx="3907557" cy="2728179"/>
            <a:chOff x="2267001" y="1880984"/>
            <a:chExt cx="3907557" cy="2728179"/>
          </a:xfrm>
        </p:grpSpPr>
        <p:grpSp>
          <p:nvGrpSpPr>
            <p:cNvPr id="2" name="组合 1"/>
            <p:cNvGrpSpPr/>
            <p:nvPr/>
          </p:nvGrpSpPr>
          <p:grpSpPr>
            <a:xfrm>
              <a:off x="2267001" y="1880984"/>
              <a:ext cx="3533018" cy="2728179"/>
              <a:chOff x="3091173" y="1876881"/>
              <a:chExt cx="3533018" cy="2728179"/>
            </a:xfrm>
          </p:grpSpPr>
          <p:grpSp>
            <p:nvGrpSpPr>
              <p:cNvPr id="7" name="组合 6"/>
              <p:cNvGrpSpPr/>
              <p:nvPr/>
            </p:nvGrpSpPr>
            <p:grpSpPr>
              <a:xfrm>
                <a:off x="3091173" y="1876881"/>
                <a:ext cx="3533018" cy="2728179"/>
                <a:chOff x="2853363" y="2263283"/>
                <a:chExt cx="3533018" cy="2728179"/>
              </a:xfrm>
            </p:grpSpPr>
            <p:grpSp>
              <p:nvGrpSpPr>
                <p:cNvPr id="43008" name="组合 43007"/>
                <p:cNvGrpSpPr/>
                <p:nvPr/>
              </p:nvGrpSpPr>
              <p:grpSpPr>
                <a:xfrm>
                  <a:off x="2853363" y="2263283"/>
                  <a:ext cx="1331914" cy="2728179"/>
                  <a:chOff x="3669208" y="2849797"/>
                  <a:chExt cx="1331914" cy="2728179"/>
                </a:xfrm>
              </p:grpSpPr>
              <p:sp>
                <p:nvSpPr>
                  <p:cNvPr id="29" name="矩形 28"/>
                  <p:cNvSpPr/>
                  <p:nvPr/>
                </p:nvSpPr>
                <p:spPr>
                  <a:xfrm>
                    <a:off x="3669208" y="5142931"/>
                    <a:ext cx="1331913" cy="435045"/>
                  </a:xfrm>
                  <a:prstGeom prst="rect">
                    <a:avLst/>
                  </a:prstGeom>
                  <a:solidFill>
                    <a:srgbClr val="FFFF00"/>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1</a:t>
                    </a:r>
                    <a:endParaRPr lang="zh-CN" altLang="en-US" dirty="0">
                      <a:solidFill>
                        <a:schemeClr val="tx1">
                          <a:lumMod val="75000"/>
                        </a:schemeClr>
                      </a:solidFill>
                    </a:endParaRPr>
                  </a:p>
                </p:txBody>
              </p:sp>
              <p:sp>
                <p:nvSpPr>
                  <p:cNvPr id="30" name="矩形 29"/>
                  <p:cNvSpPr/>
                  <p:nvPr/>
                </p:nvSpPr>
                <p:spPr>
                  <a:xfrm>
                    <a:off x="3669208" y="4722147"/>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2</a:t>
                    </a:r>
                    <a:endParaRPr lang="zh-CN" altLang="en-US" dirty="0">
                      <a:solidFill>
                        <a:schemeClr val="tx1">
                          <a:lumMod val="75000"/>
                        </a:schemeClr>
                      </a:solidFill>
                    </a:endParaRPr>
                  </a:p>
                </p:txBody>
              </p:sp>
              <p:sp>
                <p:nvSpPr>
                  <p:cNvPr id="31" name="矩形 30"/>
                  <p:cNvSpPr/>
                  <p:nvPr/>
                </p:nvSpPr>
                <p:spPr>
                  <a:xfrm>
                    <a:off x="3669209" y="2849797"/>
                    <a:ext cx="1331913" cy="1019518"/>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Top chunk</a:t>
                    </a:r>
                    <a:endParaRPr lang="zh-CN" altLang="en-US" dirty="0">
                      <a:solidFill>
                        <a:schemeClr val="tx1">
                          <a:lumMod val="75000"/>
                        </a:schemeClr>
                      </a:solidFill>
                    </a:endParaRPr>
                  </a:p>
                </p:txBody>
              </p:sp>
              <p:sp>
                <p:nvSpPr>
                  <p:cNvPr id="32" name="矩形 31"/>
                  <p:cNvSpPr/>
                  <p:nvPr/>
                </p:nvSpPr>
                <p:spPr>
                  <a:xfrm>
                    <a:off x="3669208" y="4290099"/>
                    <a:ext cx="1331913" cy="435045"/>
                  </a:xfrm>
                  <a:prstGeom prst="rect">
                    <a:avLst/>
                  </a:prstGeom>
                  <a:solidFill>
                    <a:srgbClr val="FFFF00"/>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3</a:t>
                    </a:r>
                    <a:endParaRPr lang="zh-CN" altLang="en-US" dirty="0">
                      <a:solidFill>
                        <a:schemeClr val="tx1">
                          <a:lumMod val="75000"/>
                        </a:schemeClr>
                      </a:solidFill>
                    </a:endParaRPr>
                  </a:p>
                </p:txBody>
              </p:sp>
            </p:grpSp>
            <p:sp>
              <p:nvSpPr>
                <p:cNvPr id="3" name="右大括号 2"/>
                <p:cNvSpPr/>
                <p:nvPr/>
              </p:nvSpPr>
              <p:spPr>
                <a:xfrm>
                  <a:off x="4334190" y="4166150"/>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4478206" y="4146696"/>
                  <a:ext cx="1908175" cy="369332"/>
                </a:xfrm>
                <a:prstGeom prst="rect">
                  <a:avLst/>
                </a:prstGeom>
                <a:noFill/>
              </p:spPr>
              <p:txBody>
                <a:bodyPr wrap="square" rtlCol="0">
                  <a:spAutoFit/>
                </a:bodyPr>
                <a:lstStyle/>
                <a:p>
                  <a:r>
                    <a:rPr lang="en-US" altLang="zh-CN" dirty="0"/>
                    <a:t>allocated chunk</a:t>
                  </a:r>
                  <a:endParaRPr lang="zh-CN" altLang="en-US" dirty="0"/>
                </a:p>
              </p:txBody>
            </p:sp>
          </p:grpSp>
          <p:sp>
            <p:nvSpPr>
              <p:cNvPr id="24" name="矩形 23"/>
              <p:cNvSpPr/>
              <p:nvPr/>
            </p:nvSpPr>
            <p:spPr>
              <a:xfrm>
                <a:off x="3091173" y="2876500"/>
                <a:ext cx="1331913" cy="488212"/>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4</a:t>
                </a:r>
                <a:endParaRPr lang="zh-CN" altLang="en-US" dirty="0">
                  <a:solidFill>
                    <a:schemeClr val="tx1">
                      <a:lumMod val="75000"/>
                    </a:schemeClr>
                  </a:solidFill>
                </a:endParaRPr>
              </a:p>
            </p:txBody>
          </p:sp>
        </p:grpSp>
        <p:sp>
          <p:nvSpPr>
            <p:cNvPr id="19" name="右大括号 18"/>
            <p:cNvSpPr/>
            <p:nvPr/>
          </p:nvSpPr>
          <p:spPr>
            <a:xfrm>
              <a:off x="3747828" y="4211731"/>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3903593" y="4179819"/>
              <a:ext cx="2270965" cy="369332"/>
            </a:xfrm>
            <a:prstGeom prst="rect">
              <a:avLst/>
            </a:prstGeom>
            <a:noFill/>
          </p:spPr>
          <p:txBody>
            <a:bodyPr wrap="square" rtlCol="0">
              <a:spAutoFit/>
            </a:bodyPr>
            <a:lstStyle/>
            <a:p>
              <a:r>
                <a:rPr lang="en-US" altLang="zh-CN" dirty="0"/>
                <a:t>24B</a:t>
              </a:r>
              <a:r>
                <a:rPr lang="zh-CN" altLang="en-US" dirty="0"/>
                <a:t>，在</a:t>
              </a:r>
              <a:r>
                <a:rPr lang="en-US" altLang="zh-CN" dirty="0" err="1"/>
                <a:t>fastbin</a:t>
              </a:r>
              <a:r>
                <a:rPr lang="zh-CN" altLang="en-US" dirty="0"/>
                <a:t>中</a:t>
              </a:r>
              <a:r>
                <a:rPr lang="en-US" altLang="zh-CN" dirty="0"/>
                <a:t>(1)</a:t>
              </a:r>
              <a:endParaRPr lang="zh-CN" altLang="en-US" dirty="0"/>
            </a:p>
          </p:txBody>
        </p:sp>
        <p:sp>
          <p:nvSpPr>
            <p:cNvPr id="23" name="文本框 22"/>
            <p:cNvSpPr txBox="1"/>
            <p:nvPr/>
          </p:nvSpPr>
          <p:spPr>
            <a:xfrm>
              <a:off x="3819836" y="3347700"/>
              <a:ext cx="2314924" cy="369332"/>
            </a:xfrm>
            <a:prstGeom prst="rect">
              <a:avLst/>
            </a:prstGeom>
            <a:noFill/>
          </p:spPr>
          <p:txBody>
            <a:bodyPr wrap="square" rtlCol="0">
              <a:spAutoFit/>
            </a:bodyPr>
            <a:lstStyle/>
            <a:p>
              <a:r>
                <a:rPr lang="en-US" altLang="zh-CN" dirty="0"/>
                <a:t>24B</a:t>
              </a:r>
              <a:r>
                <a:rPr lang="zh-CN" altLang="en-US" dirty="0"/>
                <a:t>，在</a:t>
              </a:r>
              <a:r>
                <a:rPr lang="en-US" altLang="zh-CN" dirty="0" err="1"/>
                <a:t>fastbin</a:t>
              </a:r>
              <a:r>
                <a:rPr lang="zh-CN" altLang="en-US" dirty="0"/>
                <a:t>中</a:t>
              </a:r>
              <a:r>
                <a:rPr lang="en-US" altLang="zh-CN" dirty="0"/>
                <a:t>(2)</a:t>
              </a:r>
              <a:endParaRPr lang="zh-CN" altLang="en-US" dirty="0"/>
            </a:p>
          </p:txBody>
        </p:sp>
        <p:sp>
          <p:nvSpPr>
            <p:cNvPr id="25" name="右大括号 24"/>
            <p:cNvSpPr/>
            <p:nvPr/>
          </p:nvSpPr>
          <p:spPr>
            <a:xfrm>
              <a:off x="3747828" y="3347700"/>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文本框 25"/>
            <p:cNvSpPr txBox="1"/>
            <p:nvPr/>
          </p:nvSpPr>
          <p:spPr>
            <a:xfrm>
              <a:off x="3619444" y="2903927"/>
              <a:ext cx="2180575" cy="369332"/>
            </a:xfrm>
            <a:prstGeom prst="rect">
              <a:avLst/>
            </a:prstGeom>
            <a:noFill/>
          </p:spPr>
          <p:txBody>
            <a:bodyPr wrap="square" rtlCol="0">
              <a:spAutoFit/>
            </a:bodyPr>
            <a:lstStyle/>
            <a:p>
              <a:r>
                <a:rPr lang="zh-CN" altLang="en-US" dirty="0"/>
                <a:t>与</a:t>
              </a:r>
              <a:r>
                <a:rPr lang="en-US" altLang="zh-CN" dirty="0"/>
                <a:t>top chunk</a:t>
              </a:r>
              <a:r>
                <a:rPr lang="zh-CN" altLang="en-US" dirty="0"/>
                <a:t>相邻</a:t>
              </a:r>
              <a:endParaRPr lang="zh-CN" altLang="en-US" dirty="0"/>
            </a:p>
          </p:txBody>
        </p:sp>
      </p:grpSp>
      <p:grpSp>
        <p:nvGrpSpPr>
          <p:cNvPr id="27" name="组合 26"/>
          <p:cNvGrpSpPr/>
          <p:nvPr/>
        </p:nvGrpSpPr>
        <p:grpSpPr>
          <a:xfrm>
            <a:off x="4891382" y="2285933"/>
            <a:ext cx="3900924" cy="2728179"/>
            <a:chOff x="2267001" y="1880984"/>
            <a:chExt cx="3900924" cy="2728179"/>
          </a:xfrm>
        </p:grpSpPr>
        <p:grpSp>
          <p:nvGrpSpPr>
            <p:cNvPr id="38" name="组合 37"/>
            <p:cNvGrpSpPr/>
            <p:nvPr/>
          </p:nvGrpSpPr>
          <p:grpSpPr>
            <a:xfrm>
              <a:off x="2267001" y="1880984"/>
              <a:ext cx="3533018" cy="2728179"/>
              <a:chOff x="2853363" y="2263283"/>
              <a:chExt cx="3533018" cy="2728179"/>
            </a:xfrm>
          </p:grpSpPr>
          <p:grpSp>
            <p:nvGrpSpPr>
              <p:cNvPr id="40" name="组合 39"/>
              <p:cNvGrpSpPr/>
              <p:nvPr/>
            </p:nvGrpSpPr>
            <p:grpSpPr>
              <a:xfrm>
                <a:off x="2853363" y="2263283"/>
                <a:ext cx="1331914" cy="2728179"/>
                <a:chOff x="3669208" y="2849797"/>
                <a:chExt cx="1331914" cy="2728179"/>
              </a:xfrm>
            </p:grpSpPr>
            <p:sp>
              <p:nvSpPr>
                <p:cNvPr id="43" name="矩形 42"/>
                <p:cNvSpPr/>
                <p:nvPr/>
              </p:nvSpPr>
              <p:spPr>
                <a:xfrm>
                  <a:off x="3669208" y="5142931"/>
                  <a:ext cx="1331913" cy="435045"/>
                </a:xfrm>
                <a:prstGeom prst="rect">
                  <a:avLst/>
                </a:prstGeom>
                <a:solidFill>
                  <a:srgbClr val="FFFF00"/>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schemeClr>
                    </a:solidFill>
                  </a:endParaRPr>
                </a:p>
              </p:txBody>
            </p:sp>
            <p:sp>
              <p:nvSpPr>
                <p:cNvPr id="44" name="矩形 43"/>
                <p:cNvSpPr/>
                <p:nvPr/>
              </p:nvSpPr>
              <p:spPr>
                <a:xfrm>
                  <a:off x="3669208" y="4722147"/>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2</a:t>
                  </a:r>
                  <a:endParaRPr lang="zh-CN" altLang="en-US" dirty="0">
                    <a:solidFill>
                      <a:schemeClr val="tx1">
                        <a:lumMod val="75000"/>
                      </a:schemeClr>
                    </a:solidFill>
                  </a:endParaRPr>
                </a:p>
              </p:txBody>
            </p:sp>
            <p:sp>
              <p:nvSpPr>
                <p:cNvPr id="45" name="矩形 44"/>
                <p:cNvSpPr/>
                <p:nvPr/>
              </p:nvSpPr>
              <p:spPr>
                <a:xfrm>
                  <a:off x="3669209" y="2849797"/>
                  <a:ext cx="1331913" cy="1438804"/>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Top chunk</a:t>
                  </a:r>
                  <a:endParaRPr lang="zh-CN" altLang="en-US" dirty="0">
                    <a:solidFill>
                      <a:schemeClr val="tx1">
                        <a:lumMod val="75000"/>
                      </a:schemeClr>
                    </a:solidFill>
                  </a:endParaRPr>
                </a:p>
              </p:txBody>
            </p:sp>
            <p:sp>
              <p:nvSpPr>
                <p:cNvPr id="46" name="矩形 45"/>
                <p:cNvSpPr/>
                <p:nvPr/>
              </p:nvSpPr>
              <p:spPr>
                <a:xfrm>
                  <a:off x="3669208" y="4290099"/>
                  <a:ext cx="1331913" cy="435045"/>
                </a:xfrm>
                <a:prstGeom prst="rect">
                  <a:avLst/>
                </a:prstGeom>
                <a:solidFill>
                  <a:srgbClr val="FFFF00"/>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schemeClr>
                    </a:solidFill>
                  </a:endParaRPr>
                </a:p>
              </p:txBody>
            </p:sp>
          </p:grpSp>
          <p:sp>
            <p:nvSpPr>
              <p:cNvPr id="41" name="右大括号 40"/>
              <p:cNvSpPr/>
              <p:nvPr/>
            </p:nvSpPr>
            <p:spPr>
              <a:xfrm>
                <a:off x="4334190" y="4166150"/>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文本框 41"/>
              <p:cNvSpPr txBox="1"/>
              <p:nvPr/>
            </p:nvSpPr>
            <p:spPr>
              <a:xfrm>
                <a:off x="4478206" y="4146696"/>
                <a:ext cx="1908175" cy="369332"/>
              </a:xfrm>
              <a:prstGeom prst="rect">
                <a:avLst/>
              </a:prstGeom>
              <a:noFill/>
            </p:spPr>
            <p:txBody>
              <a:bodyPr wrap="square" rtlCol="0">
                <a:spAutoFit/>
              </a:bodyPr>
              <a:lstStyle/>
              <a:p>
                <a:r>
                  <a:rPr lang="en-US" altLang="zh-CN" dirty="0"/>
                  <a:t>allocated chunk</a:t>
                </a:r>
                <a:endParaRPr lang="zh-CN" altLang="en-US" dirty="0"/>
              </a:p>
            </p:txBody>
          </p:sp>
        </p:grpSp>
        <p:sp>
          <p:nvSpPr>
            <p:cNvPr id="33" name="右大括号 32"/>
            <p:cNvSpPr/>
            <p:nvPr/>
          </p:nvSpPr>
          <p:spPr>
            <a:xfrm>
              <a:off x="3747828" y="4211731"/>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文本框 33"/>
            <p:cNvSpPr txBox="1"/>
            <p:nvPr/>
          </p:nvSpPr>
          <p:spPr>
            <a:xfrm>
              <a:off x="3903593" y="4179819"/>
              <a:ext cx="2264332" cy="369332"/>
            </a:xfrm>
            <a:prstGeom prst="rect">
              <a:avLst/>
            </a:prstGeom>
            <a:noFill/>
          </p:spPr>
          <p:txBody>
            <a:bodyPr wrap="square" rtlCol="0">
              <a:spAutoFit/>
            </a:bodyPr>
            <a:lstStyle/>
            <a:p>
              <a:r>
                <a:rPr lang="en-US" altLang="zh-CN" dirty="0"/>
                <a:t>24B</a:t>
              </a:r>
              <a:r>
                <a:rPr lang="zh-CN" altLang="en-US" dirty="0"/>
                <a:t>，在</a:t>
              </a:r>
              <a:r>
                <a:rPr lang="en-US" altLang="zh-CN" dirty="0" err="1"/>
                <a:t>fastbin</a:t>
              </a:r>
              <a:r>
                <a:rPr lang="zh-CN" altLang="en-US" dirty="0"/>
                <a:t>中</a:t>
              </a:r>
              <a:r>
                <a:rPr lang="en-US" altLang="zh-CN" dirty="0"/>
                <a:t>(1)</a:t>
              </a:r>
              <a:endParaRPr lang="zh-CN" altLang="en-US" dirty="0"/>
            </a:p>
          </p:txBody>
        </p:sp>
        <p:sp>
          <p:nvSpPr>
            <p:cNvPr id="35" name="文本框 34"/>
            <p:cNvSpPr txBox="1"/>
            <p:nvPr/>
          </p:nvSpPr>
          <p:spPr>
            <a:xfrm>
              <a:off x="3819836" y="3347700"/>
              <a:ext cx="2264332" cy="369332"/>
            </a:xfrm>
            <a:prstGeom prst="rect">
              <a:avLst/>
            </a:prstGeom>
            <a:noFill/>
          </p:spPr>
          <p:txBody>
            <a:bodyPr wrap="square" rtlCol="0">
              <a:spAutoFit/>
            </a:bodyPr>
            <a:lstStyle/>
            <a:p>
              <a:r>
                <a:rPr lang="en-US" altLang="zh-CN" dirty="0"/>
                <a:t>24B</a:t>
              </a:r>
              <a:r>
                <a:rPr lang="zh-CN" altLang="en-US" dirty="0"/>
                <a:t>，在</a:t>
              </a:r>
              <a:r>
                <a:rPr lang="en-US" altLang="zh-CN" dirty="0" err="1"/>
                <a:t>fastbin</a:t>
              </a:r>
              <a:r>
                <a:rPr lang="zh-CN" altLang="en-US" dirty="0"/>
                <a:t>中</a:t>
              </a:r>
              <a:r>
                <a:rPr lang="en-US" altLang="zh-CN" dirty="0"/>
                <a:t>(2)</a:t>
              </a:r>
              <a:endParaRPr lang="zh-CN" altLang="en-US" dirty="0"/>
            </a:p>
          </p:txBody>
        </p:sp>
        <p:sp>
          <p:nvSpPr>
            <p:cNvPr id="36" name="右大括号 35"/>
            <p:cNvSpPr/>
            <p:nvPr/>
          </p:nvSpPr>
          <p:spPr>
            <a:xfrm>
              <a:off x="3747828" y="3347700"/>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solidFill>
                  <a:srgbClr val="622820"/>
                </a:solidFill>
                <a:latin typeface="隶书" panose="02010509060101010101" charset="-122"/>
                <a:ea typeface="隶书" panose="02010509060101010101" charset="-122"/>
              </a:rPr>
              <a:t>内存分配及释放的函数</a:t>
            </a:r>
            <a:endParaRPr lang="zh-CN" dirty="0">
              <a:solidFill>
                <a:srgbClr val="622820"/>
              </a:solidFill>
              <a:latin typeface="隶书" panose="02010509060101010101" charset="-122"/>
              <a:ea typeface="隶书" panose="02010509060101010101"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矩形 5"/>
          <p:cNvSpPr/>
          <p:nvPr/>
        </p:nvSpPr>
        <p:spPr>
          <a:xfrm>
            <a:off x="0" y="6211669"/>
            <a:ext cx="5688632" cy="646331"/>
          </a:xfrm>
          <a:prstGeom prst="rect">
            <a:avLst/>
          </a:prstGeom>
        </p:spPr>
        <p:txBody>
          <a:bodyPr wrap="square">
            <a:spAutoFit/>
          </a:bodyPr>
          <a:lstStyle/>
          <a:p>
            <a:r>
              <a:rPr lang="zh-CN" altLang="en-US" sz="1200" dirty="0"/>
              <a:t>参考链接：</a:t>
            </a:r>
            <a:endParaRPr lang="en-US" altLang="zh-CN" sz="1200" dirty="0"/>
          </a:p>
          <a:p>
            <a:r>
              <a:rPr lang="en-US" altLang="zh-CN" sz="1200" dirty="0">
                <a:hlinkClick r:id="rId1"/>
              </a:rPr>
              <a:t>https://blog.csdn.net/leisure512/article/details/4788467</a:t>
            </a:r>
            <a:endParaRPr lang="en-US" altLang="zh-CN" sz="1200" dirty="0"/>
          </a:p>
          <a:p>
            <a:r>
              <a:rPr lang="en-US" altLang="zh-CN" sz="1200" dirty="0">
                <a:hlinkClick r:id="rId2"/>
              </a:rPr>
              <a:t>https://blog.csdn.net/lalor/article/details/7426184</a:t>
            </a:r>
            <a:endParaRPr lang="zh-CN" altLang="en-US" sz="1200" dirty="0"/>
          </a:p>
        </p:txBody>
      </p:sp>
      <p:sp>
        <p:nvSpPr>
          <p:cNvPr id="17" name="文本框 16"/>
          <p:cNvSpPr txBox="1"/>
          <p:nvPr/>
        </p:nvSpPr>
        <p:spPr>
          <a:xfrm>
            <a:off x="683568" y="907510"/>
            <a:ext cx="5577958" cy="1285032"/>
          </a:xfrm>
          <a:prstGeom prst="rect">
            <a:avLst/>
          </a:prstGeom>
          <a:noFill/>
        </p:spPr>
        <p:txBody>
          <a:bodyPr wrap="square" rtlCol="0">
            <a:spAutoFit/>
          </a:bodyPr>
          <a:lstStyle/>
          <a:p>
            <a:pPr>
              <a:lnSpc>
                <a:spcPct val="150000"/>
              </a:lnSpc>
            </a:pPr>
            <a:r>
              <a:rPr lang="zh-CN" altLang="en-US" dirty="0"/>
              <a:t>再依次申请</a:t>
            </a:r>
            <a:r>
              <a:rPr lang="en-US" altLang="zh-CN" dirty="0"/>
              <a:t>2</a:t>
            </a:r>
            <a:r>
              <a:rPr lang="zh-CN" altLang="en-US" dirty="0"/>
              <a:t>块内存，</a:t>
            </a:r>
            <a:endParaRPr lang="en-US" altLang="zh-CN" dirty="0"/>
          </a:p>
          <a:p>
            <a:pPr>
              <a:lnSpc>
                <a:spcPct val="150000"/>
              </a:lnSpc>
            </a:pPr>
            <a:r>
              <a:rPr lang="zh-CN" altLang="en-US" dirty="0"/>
              <a:t>分配结果为：</a:t>
            </a:r>
            <a:r>
              <a:rPr lang="en-US" altLang="zh-CN" dirty="0"/>
              <a:t>chunk5(24B)</a:t>
            </a:r>
            <a:r>
              <a:rPr lang="zh-CN" altLang="en-US" dirty="0"/>
              <a:t>、</a:t>
            </a:r>
            <a:r>
              <a:rPr lang="en-US" altLang="zh-CN" dirty="0"/>
              <a:t>chunk6(24B)</a:t>
            </a:r>
            <a:r>
              <a:rPr lang="zh-CN" altLang="en-US" dirty="0"/>
              <a:t>；</a:t>
            </a:r>
            <a:endParaRPr lang="en-US" altLang="zh-CN" dirty="0"/>
          </a:p>
          <a:p>
            <a:pPr>
              <a:lnSpc>
                <a:spcPct val="150000"/>
              </a:lnSpc>
            </a:pPr>
            <a:r>
              <a:rPr lang="en-US" altLang="zh-CN" dirty="0" err="1"/>
              <a:t>Fastbin</a:t>
            </a:r>
            <a:r>
              <a:rPr lang="zh-CN" altLang="en-US" dirty="0"/>
              <a:t>后入先出。</a:t>
            </a:r>
            <a:endParaRPr lang="zh-CN" altLang="en-US" dirty="0"/>
          </a:p>
        </p:txBody>
      </p:sp>
      <p:grpSp>
        <p:nvGrpSpPr>
          <p:cNvPr id="27" name="组合 26"/>
          <p:cNvGrpSpPr/>
          <p:nvPr/>
        </p:nvGrpSpPr>
        <p:grpSpPr>
          <a:xfrm>
            <a:off x="1126617" y="2841212"/>
            <a:ext cx="3923177" cy="2728179"/>
            <a:chOff x="2267001" y="1880984"/>
            <a:chExt cx="3923177" cy="2728179"/>
          </a:xfrm>
        </p:grpSpPr>
        <p:grpSp>
          <p:nvGrpSpPr>
            <p:cNvPr id="38" name="组合 37"/>
            <p:cNvGrpSpPr/>
            <p:nvPr/>
          </p:nvGrpSpPr>
          <p:grpSpPr>
            <a:xfrm>
              <a:off x="2267001" y="1880984"/>
              <a:ext cx="3533018" cy="2728179"/>
              <a:chOff x="2853363" y="2263283"/>
              <a:chExt cx="3533018" cy="2728179"/>
            </a:xfrm>
          </p:grpSpPr>
          <p:grpSp>
            <p:nvGrpSpPr>
              <p:cNvPr id="40" name="组合 39"/>
              <p:cNvGrpSpPr/>
              <p:nvPr/>
            </p:nvGrpSpPr>
            <p:grpSpPr>
              <a:xfrm>
                <a:off x="2853363" y="2263283"/>
                <a:ext cx="1331914" cy="2728179"/>
                <a:chOff x="3669208" y="2849797"/>
                <a:chExt cx="1331914" cy="2728179"/>
              </a:xfrm>
            </p:grpSpPr>
            <p:sp>
              <p:nvSpPr>
                <p:cNvPr id="43" name="矩形 42"/>
                <p:cNvSpPr/>
                <p:nvPr/>
              </p:nvSpPr>
              <p:spPr>
                <a:xfrm>
                  <a:off x="3669208" y="5142931"/>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schemeClr>
                    </a:solidFill>
                  </a:endParaRPr>
                </a:p>
              </p:txBody>
            </p:sp>
            <p:sp>
              <p:nvSpPr>
                <p:cNvPr id="44" name="矩形 43"/>
                <p:cNvSpPr/>
                <p:nvPr/>
              </p:nvSpPr>
              <p:spPr>
                <a:xfrm>
                  <a:off x="3669208" y="4722147"/>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2</a:t>
                  </a:r>
                  <a:endParaRPr lang="zh-CN" altLang="en-US" dirty="0">
                    <a:solidFill>
                      <a:schemeClr val="tx1">
                        <a:lumMod val="75000"/>
                      </a:schemeClr>
                    </a:solidFill>
                  </a:endParaRPr>
                </a:p>
              </p:txBody>
            </p:sp>
            <p:sp>
              <p:nvSpPr>
                <p:cNvPr id="45" name="矩形 44"/>
                <p:cNvSpPr/>
                <p:nvPr/>
              </p:nvSpPr>
              <p:spPr>
                <a:xfrm>
                  <a:off x="3669209" y="2849797"/>
                  <a:ext cx="1331913" cy="1438804"/>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Top chunk</a:t>
                  </a:r>
                  <a:endParaRPr lang="zh-CN" altLang="en-US" dirty="0">
                    <a:solidFill>
                      <a:schemeClr val="tx1">
                        <a:lumMod val="75000"/>
                      </a:schemeClr>
                    </a:solidFill>
                  </a:endParaRPr>
                </a:p>
              </p:txBody>
            </p:sp>
            <p:sp>
              <p:nvSpPr>
                <p:cNvPr id="46" name="矩形 45"/>
                <p:cNvSpPr/>
                <p:nvPr/>
              </p:nvSpPr>
              <p:spPr>
                <a:xfrm>
                  <a:off x="3669208" y="4290099"/>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schemeClr>
                    </a:solidFill>
                  </a:endParaRPr>
                </a:p>
              </p:txBody>
            </p:sp>
          </p:grpSp>
          <p:sp>
            <p:nvSpPr>
              <p:cNvPr id="41" name="右大括号 40"/>
              <p:cNvSpPr/>
              <p:nvPr/>
            </p:nvSpPr>
            <p:spPr>
              <a:xfrm>
                <a:off x="4334190" y="4166150"/>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文本框 41"/>
              <p:cNvSpPr txBox="1"/>
              <p:nvPr/>
            </p:nvSpPr>
            <p:spPr>
              <a:xfrm>
                <a:off x="4478206" y="4146696"/>
                <a:ext cx="1908175" cy="369332"/>
              </a:xfrm>
              <a:prstGeom prst="rect">
                <a:avLst/>
              </a:prstGeom>
              <a:noFill/>
            </p:spPr>
            <p:txBody>
              <a:bodyPr wrap="square" rtlCol="0">
                <a:spAutoFit/>
              </a:bodyPr>
              <a:lstStyle/>
              <a:p>
                <a:r>
                  <a:rPr lang="en-US" altLang="zh-CN" dirty="0"/>
                  <a:t>allocated chunk</a:t>
                </a:r>
                <a:endParaRPr lang="zh-CN" altLang="en-US" dirty="0"/>
              </a:p>
            </p:txBody>
          </p:sp>
        </p:grpSp>
        <p:sp>
          <p:nvSpPr>
            <p:cNvPr id="33" name="右大括号 32"/>
            <p:cNvSpPr/>
            <p:nvPr/>
          </p:nvSpPr>
          <p:spPr>
            <a:xfrm>
              <a:off x="3747828" y="4211731"/>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文本框 33"/>
            <p:cNvSpPr txBox="1"/>
            <p:nvPr/>
          </p:nvSpPr>
          <p:spPr>
            <a:xfrm>
              <a:off x="3903593" y="4179819"/>
              <a:ext cx="2286585" cy="369332"/>
            </a:xfrm>
            <a:prstGeom prst="rect">
              <a:avLst/>
            </a:prstGeom>
            <a:noFill/>
          </p:spPr>
          <p:txBody>
            <a:bodyPr wrap="square" rtlCol="0">
              <a:spAutoFit/>
            </a:bodyPr>
            <a:lstStyle/>
            <a:p>
              <a:r>
                <a:rPr lang="en-US" altLang="zh-CN" dirty="0"/>
                <a:t>24B</a:t>
              </a:r>
              <a:r>
                <a:rPr lang="zh-CN" altLang="en-US" dirty="0"/>
                <a:t>，在</a:t>
              </a:r>
              <a:r>
                <a:rPr lang="en-US" altLang="zh-CN" dirty="0" err="1"/>
                <a:t>fastbin</a:t>
              </a:r>
              <a:r>
                <a:rPr lang="zh-CN" altLang="en-US" dirty="0"/>
                <a:t>中</a:t>
              </a:r>
              <a:r>
                <a:rPr lang="en-US" altLang="zh-CN" dirty="0"/>
                <a:t>(1)</a:t>
              </a:r>
              <a:endParaRPr lang="zh-CN" altLang="en-US" dirty="0"/>
            </a:p>
          </p:txBody>
        </p:sp>
        <p:sp>
          <p:nvSpPr>
            <p:cNvPr id="35" name="文本框 34"/>
            <p:cNvSpPr txBox="1"/>
            <p:nvPr/>
          </p:nvSpPr>
          <p:spPr>
            <a:xfrm>
              <a:off x="3819836" y="3347700"/>
              <a:ext cx="2286585" cy="369332"/>
            </a:xfrm>
            <a:prstGeom prst="rect">
              <a:avLst/>
            </a:prstGeom>
            <a:noFill/>
          </p:spPr>
          <p:txBody>
            <a:bodyPr wrap="square" rtlCol="0">
              <a:spAutoFit/>
            </a:bodyPr>
            <a:lstStyle/>
            <a:p>
              <a:r>
                <a:rPr lang="en-US" altLang="zh-CN" dirty="0"/>
                <a:t>24B</a:t>
              </a:r>
              <a:r>
                <a:rPr lang="zh-CN" altLang="en-US" dirty="0"/>
                <a:t>，在</a:t>
              </a:r>
              <a:r>
                <a:rPr lang="en-US" altLang="zh-CN" dirty="0" err="1"/>
                <a:t>fastbin</a:t>
              </a:r>
              <a:r>
                <a:rPr lang="zh-CN" altLang="en-US" dirty="0"/>
                <a:t>中</a:t>
              </a:r>
              <a:r>
                <a:rPr lang="en-US" altLang="zh-CN" dirty="0"/>
                <a:t>(2)</a:t>
              </a:r>
              <a:endParaRPr lang="zh-CN" altLang="en-US" dirty="0"/>
            </a:p>
          </p:txBody>
        </p:sp>
        <p:sp>
          <p:nvSpPr>
            <p:cNvPr id="36" name="右大括号 35"/>
            <p:cNvSpPr/>
            <p:nvPr/>
          </p:nvSpPr>
          <p:spPr>
            <a:xfrm>
              <a:off x="3747828" y="3347700"/>
              <a:ext cx="72008" cy="369332"/>
            </a:xfrm>
            <a:prstGeom prst="rightBrace">
              <a:avLst>
                <a:gd name="adj1" fmla="val 63544"/>
                <a:gd name="adj2" fmla="val 48763"/>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51" name="组合 50"/>
          <p:cNvGrpSpPr/>
          <p:nvPr/>
        </p:nvGrpSpPr>
        <p:grpSpPr>
          <a:xfrm>
            <a:off x="6084168" y="2841212"/>
            <a:ext cx="1331914" cy="2728179"/>
            <a:chOff x="3669208" y="2849797"/>
            <a:chExt cx="1331914" cy="2728179"/>
          </a:xfrm>
        </p:grpSpPr>
        <p:sp>
          <p:nvSpPr>
            <p:cNvPr id="54" name="矩形 53"/>
            <p:cNvSpPr/>
            <p:nvPr/>
          </p:nvSpPr>
          <p:spPr>
            <a:xfrm>
              <a:off x="3669208" y="5142931"/>
              <a:ext cx="1331913" cy="435045"/>
            </a:xfrm>
            <a:prstGeom prst="rect">
              <a:avLst/>
            </a:prstGeom>
            <a:solidFill>
              <a:srgbClr val="FFFF00"/>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6</a:t>
              </a:r>
              <a:endParaRPr lang="zh-CN" altLang="en-US" dirty="0">
                <a:solidFill>
                  <a:schemeClr val="tx1">
                    <a:lumMod val="75000"/>
                  </a:schemeClr>
                </a:solidFill>
              </a:endParaRPr>
            </a:p>
          </p:txBody>
        </p:sp>
        <p:sp>
          <p:nvSpPr>
            <p:cNvPr id="55" name="矩形 54"/>
            <p:cNvSpPr/>
            <p:nvPr/>
          </p:nvSpPr>
          <p:spPr>
            <a:xfrm>
              <a:off x="3669208" y="4722147"/>
              <a:ext cx="1331913" cy="435045"/>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2</a:t>
              </a:r>
              <a:endParaRPr lang="zh-CN" altLang="en-US" dirty="0">
                <a:solidFill>
                  <a:schemeClr val="tx1">
                    <a:lumMod val="75000"/>
                  </a:schemeClr>
                </a:solidFill>
              </a:endParaRPr>
            </a:p>
          </p:txBody>
        </p:sp>
        <p:sp>
          <p:nvSpPr>
            <p:cNvPr id="56" name="矩形 55"/>
            <p:cNvSpPr/>
            <p:nvPr/>
          </p:nvSpPr>
          <p:spPr>
            <a:xfrm>
              <a:off x="3669209" y="2849797"/>
              <a:ext cx="1331913" cy="1438804"/>
            </a:xfrm>
            <a:prstGeom prst="rect">
              <a:avLst/>
            </a:prstGeom>
            <a:solidFill>
              <a:schemeClr val="bg1"/>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Top chunk</a:t>
              </a:r>
              <a:endParaRPr lang="zh-CN" altLang="en-US" dirty="0">
                <a:solidFill>
                  <a:schemeClr val="tx1">
                    <a:lumMod val="75000"/>
                  </a:schemeClr>
                </a:solidFill>
              </a:endParaRPr>
            </a:p>
          </p:txBody>
        </p:sp>
        <p:sp>
          <p:nvSpPr>
            <p:cNvPr id="57" name="矩形 56"/>
            <p:cNvSpPr/>
            <p:nvPr/>
          </p:nvSpPr>
          <p:spPr>
            <a:xfrm>
              <a:off x="3669208" y="4290099"/>
              <a:ext cx="1331913" cy="435045"/>
            </a:xfrm>
            <a:prstGeom prst="rect">
              <a:avLst/>
            </a:prstGeom>
            <a:solidFill>
              <a:srgbClr val="FFFF00"/>
            </a:solid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chunk 5</a:t>
              </a:r>
              <a:endParaRPr lang="zh-CN" altLang="en-US" dirty="0">
                <a:solidFill>
                  <a:schemeClr val="tx1">
                    <a:lumMod val="75000"/>
                  </a:schemeClr>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堆利用概述</a:t>
            </a:r>
            <a:endParaRPr kumimoji="1" lang="zh-CN" altLang="en-US" dirty="0"/>
          </a:p>
        </p:txBody>
      </p:sp>
      <p:sp>
        <p:nvSpPr>
          <p:cNvPr id="3" name="内容占位符 2"/>
          <p:cNvSpPr>
            <a:spLocks noGrp="1"/>
          </p:cNvSpPr>
          <p:nvPr>
            <p:ph idx="13"/>
          </p:nvPr>
        </p:nvSpPr>
        <p:spPr>
          <a:xfrm>
            <a:off x="665956" y="1446570"/>
            <a:ext cx="7886700" cy="4870903"/>
          </a:xfrm>
        </p:spPr>
        <p:txBody>
          <a:bodyPr/>
          <a:lstStyle/>
          <a:p>
            <a:pPr marL="0" indent="0">
              <a:buNone/>
            </a:pPr>
            <a:endParaRPr kumimoji="1" lang="en-US" altLang="zh-CN" dirty="0">
              <a:solidFill>
                <a:srgbClr val="FF0000"/>
              </a:solidFill>
            </a:endParaRPr>
          </a:p>
          <a:p>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graphicFrame>
        <p:nvGraphicFramePr>
          <p:cNvPr id="5" name="表格 4"/>
          <p:cNvGraphicFramePr/>
          <p:nvPr/>
        </p:nvGraphicFramePr>
        <p:xfrm>
          <a:off x="888365" y="1196340"/>
          <a:ext cx="7442835" cy="5026660"/>
        </p:xfrm>
        <a:graphic>
          <a:graphicData uri="http://schemas.openxmlformats.org/drawingml/2006/table">
            <a:tbl>
              <a:tblPr firstRow="1" bandRow="1">
                <a:tableStyleId>{5C22544A-7EE6-4342-B048-85BDC9FD1C3A}</a:tableStyleId>
              </a:tblPr>
              <a:tblGrid>
                <a:gridCol w="2480945"/>
                <a:gridCol w="2480945"/>
                <a:gridCol w="2480945"/>
              </a:tblGrid>
              <a:tr h="378460">
                <a:tc>
                  <a:txBody>
                    <a:bodyPr/>
                    <a:lstStyle/>
                    <a:p>
                      <a:pPr>
                        <a:buNone/>
                      </a:pPr>
                      <a:r>
                        <a:rPr lang="en-US" altLang="zh-CN"/>
                        <a:t>Attack</a:t>
                      </a:r>
                      <a:endParaRPr lang="en-US" altLang="zh-CN"/>
                    </a:p>
                  </a:txBody>
                  <a:tcPr/>
                </a:tc>
                <a:tc>
                  <a:txBody>
                    <a:bodyPr/>
                    <a:lstStyle/>
                    <a:p>
                      <a:pPr>
                        <a:buNone/>
                      </a:pPr>
                      <a:r>
                        <a:rPr lang="en-US" altLang="zh-CN"/>
                        <a:t>Target</a:t>
                      </a:r>
                      <a:endParaRPr lang="en-US" altLang="zh-CN"/>
                    </a:p>
                  </a:txBody>
                  <a:tcPr/>
                </a:tc>
                <a:tc>
                  <a:txBody>
                    <a:bodyPr/>
                    <a:lstStyle/>
                    <a:p>
                      <a:pPr>
                        <a:buNone/>
                      </a:pPr>
                      <a:r>
                        <a:rPr lang="en-US" altLang="zh-CN"/>
                        <a:t>Technique</a:t>
                      </a:r>
                      <a:endParaRPr lang="en-US" altLang="zh-CN"/>
                    </a:p>
                  </a:txBody>
                  <a:tcPr/>
                </a:tc>
              </a:tr>
              <a:tr h="512445">
                <a:tc>
                  <a:txBody>
                    <a:bodyPr/>
                    <a:lstStyle/>
                    <a:p>
                      <a:pPr indent="0">
                        <a:buNone/>
                      </a:pPr>
                      <a:r>
                        <a:rPr lang="en-US" sz="1600" b="1">
                          <a:solidFill>
                            <a:srgbClr val="333333"/>
                          </a:solidFill>
                          <a:latin typeface="+mn-ea"/>
                          <a:cs typeface="Helvetica" charset="0"/>
                        </a:rPr>
                        <a:t>First Fit</a:t>
                      </a:r>
                      <a:endParaRPr lang="en-US" altLang="en-US" sz="1600" b="1">
                        <a:solidFill>
                          <a:srgbClr val="333333"/>
                        </a:solidFill>
                        <a:latin typeface="+mn-ea"/>
                        <a:cs typeface="Helvetica" charset="0"/>
                      </a:endParaRPr>
                    </a:p>
                  </a:txBody>
                  <a:tcPr marL="68580" marR="68580" marT="0" marB="0"/>
                </a:tc>
                <a:tc>
                  <a:txBody>
                    <a:bodyPr/>
                    <a:lstStyle/>
                    <a:p>
                      <a:pPr indent="0">
                        <a:buNone/>
                      </a:pPr>
                      <a:r>
                        <a:rPr lang="en-US" sz="1600" b="1">
                          <a:latin typeface="+mn-ea"/>
                          <a:cs typeface="+mn-ea"/>
                        </a:rPr>
                        <a:t>这不是攻击，它只是展示了glibc分配器的本质</a:t>
                      </a:r>
                      <a:endParaRPr lang="en-US" altLang="en-US" sz="1600" b="1">
                        <a:latin typeface="+mn-ea"/>
                        <a:cs typeface="+mn-ea"/>
                      </a:endParaRPr>
                    </a:p>
                  </a:txBody>
                  <a:tcPr marL="68580" marR="68580" marT="0" marB="0"/>
                </a:tc>
                <a:tc>
                  <a:txBody>
                    <a:bodyPr/>
                    <a:lstStyle/>
                    <a:p>
                      <a:pPr indent="0">
                        <a:buNone/>
                      </a:pPr>
                      <a:r>
                        <a:rPr lang="en-US" sz="1600" b="1">
                          <a:latin typeface="+mn-ea"/>
                          <a:cs typeface="letter-spacing:0.0000pt" charset="0"/>
                        </a:rPr>
                        <a:t>--</a:t>
                      </a:r>
                      <a:endParaRPr lang="en-US" altLang="en-US" sz="1600" b="1">
                        <a:latin typeface="+mn-ea"/>
                        <a:cs typeface="letter-spacing:0.0000pt" charset="0"/>
                      </a:endParaRPr>
                    </a:p>
                  </a:txBody>
                  <a:tcPr marL="68580" marR="68580" marT="0" marB="0"/>
                </a:tc>
              </a:tr>
              <a:tr h="512445">
                <a:tc>
                  <a:txBody>
                    <a:bodyPr/>
                    <a:lstStyle/>
                    <a:p>
                      <a:pPr indent="0">
                        <a:buNone/>
                      </a:pPr>
                      <a:r>
                        <a:rPr lang="en-US" sz="1600" b="1" dirty="0">
                          <a:solidFill>
                            <a:srgbClr val="FF0000"/>
                          </a:solidFill>
                          <a:latin typeface="+mn-ea"/>
                          <a:cs typeface="letter-spacing:0.0000pt" charset="0"/>
                        </a:rPr>
                        <a:t>Double Free</a:t>
                      </a:r>
                      <a:endParaRPr lang="en-US" altLang="en-US" sz="1600" b="1" dirty="0">
                        <a:solidFill>
                          <a:srgbClr val="FF0000"/>
                        </a:solidFill>
                        <a:latin typeface="+mn-ea"/>
                        <a:cs typeface="letter-spacing:0.0000pt" charset="0"/>
                      </a:endParaRPr>
                    </a:p>
                  </a:txBody>
                  <a:tcPr marL="68580" marR="68580" marT="0" marB="0"/>
                </a:tc>
                <a:tc>
                  <a:txBody>
                    <a:bodyPr/>
                    <a:lstStyle/>
                    <a:p>
                      <a:pPr indent="0">
                        <a:buNone/>
                      </a:pPr>
                      <a:r>
                        <a:rPr lang="en-US" sz="1600" b="1">
                          <a:latin typeface="+mn-ea"/>
                          <a:cs typeface="+mn-ea"/>
                        </a:rPr>
                        <a:t>使malloc返回已经分配的fast chunk</a:t>
                      </a:r>
                      <a:endParaRPr lang="en-US" altLang="en-US" sz="1600" b="1">
                        <a:latin typeface="+mn-ea"/>
                        <a:cs typeface="+mn-ea"/>
                      </a:endParaRPr>
                    </a:p>
                  </a:txBody>
                  <a:tcPr marL="68580" marR="68580" marT="0" marB="0"/>
                </a:tc>
                <a:tc>
                  <a:txBody>
                    <a:bodyPr/>
                    <a:lstStyle/>
                    <a:p>
                      <a:pPr indent="0">
                        <a:buNone/>
                      </a:pPr>
                      <a:r>
                        <a:rPr lang="en-US" sz="1600" b="1">
                          <a:latin typeface="+mn-ea"/>
                          <a:cs typeface="+mn-ea"/>
                        </a:rPr>
                        <a:t>通过两次释放块来中断fast bin</a:t>
                      </a:r>
                      <a:endParaRPr lang="en-US" altLang="en-US" sz="1600" b="1">
                        <a:latin typeface="+mn-ea"/>
                        <a:cs typeface="+mn-ea"/>
                      </a:endParaRPr>
                    </a:p>
                  </a:txBody>
                  <a:tcPr marL="68580" marR="68580" marT="0" marB="0"/>
                </a:tc>
              </a:tr>
              <a:tr h="512445">
                <a:tc>
                  <a:txBody>
                    <a:bodyPr/>
                    <a:lstStyle/>
                    <a:p>
                      <a:pPr indent="0">
                        <a:buNone/>
                      </a:pPr>
                      <a:r>
                        <a:rPr lang="en-US" sz="1600" b="1">
                          <a:solidFill>
                            <a:srgbClr val="333333"/>
                          </a:solidFill>
                          <a:latin typeface="+mn-ea"/>
                          <a:cs typeface="Helvetica" charset="0"/>
                        </a:rPr>
                        <a:t>Forging chunks</a:t>
                      </a:r>
                      <a:endParaRPr lang="en-US" altLang="en-US" sz="1600" b="1">
                        <a:solidFill>
                          <a:srgbClr val="333333"/>
                        </a:solidFill>
                        <a:latin typeface="+mn-ea"/>
                        <a:cs typeface="Helvetica" charset="0"/>
                      </a:endParaRPr>
                    </a:p>
                  </a:txBody>
                  <a:tcPr marL="68580" marR="68580" marT="0" marB="0"/>
                </a:tc>
                <a:tc>
                  <a:txBody>
                    <a:bodyPr/>
                    <a:lstStyle/>
                    <a:p>
                      <a:pPr indent="0">
                        <a:buNone/>
                      </a:pPr>
                      <a:r>
                        <a:rPr lang="en-US" sz="1600" b="1">
                          <a:latin typeface="+mn-ea"/>
                          <a:cs typeface="+mn-ea"/>
                        </a:rPr>
                        <a:t>使malloc返回一个几乎任意的指针</a:t>
                      </a:r>
                      <a:endParaRPr lang="en-US" altLang="en-US" sz="1600" b="1">
                        <a:latin typeface="+mn-ea"/>
                        <a:cs typeface="+mn-ea"/>
                      </a:endParaRPr>
                    </a:p>
                  </a:txBody>
                  <a:tcPr marL="68580" marR="68580" marT="0" marB="0"/>
                </a:tc>
                <a:tc>
                  <a:txBody>
                    <a:bodyPr/>
                    <a:lstStyle/>
                    <a:p>
                      <a:pPr indent="0">
                        <a:buNone/>
                      </a:pPr>
                      <a:r>
                        <a:rPr lang="en-US" sz="1600" b="1">
                          <a:latin typeface="+mn-ea"/>
                          <a:cs typeface="+mn-ea"/>
                        </a:rPr>
                        <a:t>破坏fast bin链接结构</a:t>
                      </a:r>
                      <a:endParaRPr lang="en-US" altLang="en-US" sz="1600" b="1">
                        <a:latin typeface="+mn-ea"/>
                        <a:cs typeface="+mn-ea"/>
                      </a:endParaRPr>
                    </a:p>
                  </a:txBody>
                  <a:tcPr marL="68580" marR="68580" marT="0" marB="0"/>
                </a:tc>
              </a:tr>
              <a:tr h="548640">
                <a:tc>
                  <a:txBody>
                    <a:bodyPr/>
                    <a:lstStyle/>
                    <a:p>
                      <a:pPr indent="0">
                        <a:buNone/>
                      </a:pPr>
                      <a:r>
                        <a:rPr lang="en-US" sz="1600" b="1" dirty="0">
                          <a:solidFill>
                            <a:srgbClr val="FF0000"/>
                          </a:solidFill>
                          <a:latin typeface="+mn-ea"/>
                          <a:cs typeface="letter-spacing:0.0000pt" charset="0"/>
                        </a:rPr>
                        <a:t>Unlink Exploit</a:t>
                      </a:r>
                      <a:endParaRPr lang="en-US" altLang="en-US" sz="1600" b="1" dirty="0">
                        <a:solidFill>
                          <a:srgbClr val="FF0000"/>
                        </a:solidFill>
                        <a:latin typeface="+mn-ea"/>
                        <a:cs typeface="letter-spacing:0.0000pt" charset="0"/>
                      </a:endParaRPr>
                    </a:p>
                  </a:txBody>
                  <a:tcPr marL="68580" marR="68580" marT="0" marB="0"/>
                </a:tc>
                <a:tc>
                  <a:txBody>
                    <a:bodyPr/>
                    <a:lstStyle/>
                    <a:p>
                      <a:pPr indent="0">
                        <a:buNone/>
                      </a:pPr>
                      <a:r>
                        <a:rPr lang="en-US" sz="1600" b="1">
                          <a:latin typeface="+mn-ea"/>
                          <a:cs typeface="Arial" panose="020B0604020202020204" pitchFamily="34" charset="0"/>
                        </a:rPr>
                        <a:t>获得（几乎）任意写访问</a:t>
                      </a:r>
                      <a:endParaRPr lang="en-US" altLang="en-US" sz="1600" b="1">
                        <a:latin typeface="+mn-ea"/>
                        <a:cs typeface="Arial" panose="020B0604020202020204" pitchFamily="34" charset="0"/>
                      </a:endParaRPr>
                    </a:p>
                  </a:txBody>
                  <a:tcPr marL="68580" marR="68580" marT="0" marB="0"/>
                </a:tc>
                <a:tc>
                  <a:txBody>
                    <a:bodyPr/>
                    <a:lstStyle/>
                    <a:p>
                      <a:pPr indent="0">
                        <a:buNone/>
                      </a:pPr>
                      <a:r>
                        <a:rPr lang="en-US" sz="1600" b="1">
                          <a:latin typeface="+mn-ea"/>
                          <a:cs typeface="Arial" panose="020B0604020202020204" pitchFamily="34" charset="0"/>
                        </a:rPr>
                        <a:t>释放损坏的块并利用取消链接</a:t>
                      </a:r>
                      <a:endParaRPr lang="en-US" altLang="en-US" sz="1600" b="1">
                        <a:latin typeface="+mn-ea"/>
                        <a:cs typeface="Arial" panose="020B0604020202020204" pitchFamily="34" charset="0"/>
                      </a:endParaRPr>
                    </a:p>
                  </a:txBody>
                  <a:tcPr marL="68580" marR="68580" marT="0" marB="0"/>
                </a:tc>
              </a:tr>
              <a:tr h="512445">
                <a:tc>
                  <a:txBody>
                    <a:bodyPr/>
                    <a:lstStyle/>
                    <a:p>
                      <a:pPr indent="0">
                        <a:buNone/>
                      </a:pPr>
                      <a:r>
                        <a:rPr lang="en-US" sz="1600" b="1">
                          <a:latin typeface="+mn-ea"/>
                          <a:cs typeface="letter-spacing:0.0000pt" charset="0"/>
                        </a:rPr>
                        <a:t>Shrinking Free Chunks</a:t>
                      </a:r>
                      <a:endParaRPr lang="en-US" altLang="en-US" sz="1600" b="1">
                        <a:latin typeface="+mn-ea"/>
                        <a:cs typeface="letter-spacing:0.0000pt" charset="0"/>
                      </a:endParaRPr>
                    </a:p>
                  </a:txBody>
                  <a:tcPr marL="68580" marR="68580" marT="0" marB="0"/>
                </a:tc>
                <a:tc>
                  <a:txBody>
                    <a:bodyPr/>
                    <a:lstStyle/>
                    <a:p>
                      <a:pPr indent="0">
                        <a:buNone/>
                      </a:pPr>
                      <a:r>
                        <a:rPr lang="en-US" sz="1600" b="1">
                          <a:latin typeface="+mn-ea"/>
                          <a:cs typeface="+mn-ea"/>
                        </a:rPr>
                        <a:t>使malloc返回与已分配的块重叠的块</a:t>
                      </a:r>
                      <a:endParaRPr lang="en-US" altLang="en-US" sz="1600" b="1">
                        <a:latin typeface="+mn-ea"/>
                        <a:cs typeface="+mn-ea"/>
                      </a:endParaRPr>
                    </a:p>
                  </a:txBody>
                  <a:tcPr marL="68580" marR="68580" marT="0" marB="0"/>
                </a:tc>
                <a:tc>
                  <a:txBody>
                    <a:bodyPr/>
                    <a:lstStyle/>
                    <a:p>
                      <a:pPr indent="0">
                        <a:buNone/>
                      </a:pPr>
                      <a:r>
                        <a:rPr lang="en-US" sz="1600" b="1">
                          <a:latin typeface="+mn-ea"/>
                          <a:cs typeface="Arial" panose="020B0604020202020204" pitchFamily="34" charset="0"/>
                        </a:rPr>
                        <a:t>通过减小其大小来破坏自由块</a:t>
                      </a:r>
                      <a:endParaRPr lang="en-US" altLang="en-US" sz="1600" b="1">
                        <a:latin typeface="+mn-ea"/>
                        <a:cs typeface="Arial" panose="020B0604020202020204" pitchFamily="34" charset="0"/>
                      </a:endParaRPr>
                    </a:p>
                  </a:txBody>
                  <a:tcPr marL="68580" marR="68580" marT="0" marB="0"/>
                </a:tc>
              </a:tr>
              <a:tr h="512445">
                <a:tc>
                  <a:txBody>
                    <a:bodyPr/>
                    <a:lstStyle/>
                    <a:p>
                      <a:pPr indent="0">
                        <a:buNone/>
                      </a:pPr>
                      <a:r>
                        <a:rPr lang="en-US" sz="1600" b="1" dirty="0">
                          <a:latin typeface="+mn-ea"/>
                          <a:cs typeface="letter-spacing:0.0000pt" charset="0"/>
                        </a:rPr>
                        <a:t>House of Spirit</a:t>
                      </a:r>
                      <a:endParaRPr lang="en-US" altLang="en-US" sz="1600" b="1" dirty="0">
                        <a:latin typeface="+mn-ea"/>
                        <a:cs typeface="letter-spacing:0.0000pt" charset="0"/>
                      </a:endParaRPr>
                    </a:p>
                  </a:txBody>
                  <a:tcPr marL="68580" marR="68580" marT="0" marB="0"/>
                </a:tc>
                <a:tc>
                  <a:txBody>
                    <a:bodyPr/>
                    <a:lstStyle/>
                    <a:p>
                      <a:pPr indent="0">
                        <a:buNone/>
                      </a:pPr>
                      <a:r>
                        <a:rPr lang="en-US" sz="1600" b="1">
                          <a:latin typeface="+mn-ea"/>
                          <a:cs typeface="+mn-ea"/>
                        </a:rPr>
                        <a:t>使malloc返回一个几乎任意的指针</a:t>
                      </a:r>
                      <a:endParaRPr lang="en-US" altLang="en-US" sz="1600" b="1">
                        <a:latin typeface="+mn-ea"/>
                        <a:cs typeface="+mn-ea"/>
                      </a:endParaRPr>
                    </a:p>
                  </a:txBody>
                  <a:tcPr marL="68580" marR="68580" marT="0" marB="0"/>
                </a:tc>
                <a:tc>
                  <a:txBody>
                    <a:bodyPr/>
                    <a:lstStyle/>
                    <a:p>
                      <a:pPr indent="0">
                        <a:buNone/>
                      </a:pPr>
                      <a:r>
                        <a:rPr lang="en-US" sz="1600" b="1">
                          <a:latin typeface="+mn-ea"/>
                          <a:cs typeface="Arial" panose="020B0604020202020204" pitchFamily="34" charset="0"/>
                        </a:rPr>
                        <a:t>强制释放</a:t>
                      </a:r>
                      <a:r>
                        <a:rPr lang="en-US" sz="1600" b="1">
                          <a:latin typeface="+mn-ea"/>
                          <a:cs typeface="宋体" panose="02010600030101010101" pitchFamily="2" charset="-122"/>
                        </a:rPr>
                        <a:t>精心制作</a:t>
                      </a:r>
                      <a:r>
                        <a:rPr lang="en-US" sz="1600" b="1">
                          <a:latin typeface="+mn-ea"/>
                          <a:cs typeface="Arial" panose="020B0604020202020204" pitchFamily="34" charset="0"/>
                        </a:rPr>
                        <a:t>的假块</a:t>
                      </a:r>
                      <a:endParaRPr lang="en-US" altLang="en-US" sz="1600" b="1">
                        <a:latin typeface="+mn-ea"/>
                        <a:cs typeface="Arial" panose="020B0604020202020204" pitchFamily="34" charset="0"/>
                      </a:endParaRPr>
                    </a:p>
                  </a:txBody>
                  <a:tcPr marL="68580" marR="68580" marT="0" marB="0"/>
                </a:tc>
              </a:tr>
              <a:tr h="512445">
                <a:tc>
                  <a:txBody>
                    <a:bodyPr/>
                    <a:lstStyle/>
                    <a:p>
                      <a:pPr indent="0">
                        <a:buNone/>
                      </a:pPr>
                      <a:r>
                        <a:rPr lang="en-US" sz="1600" b="1">
                          <a:latin typeface="+mn-ea"/>
                          <a:cs typeface="letter-spacing:0.0000pt" charset="0"/>
                        </a:rPr>
                        <a:t>House of Lore</a:t>
                      </a:r>
                      <a:endParaRPr lang="en-US" altLang="en-US" sz="1600" b="1">
                        <a:latin typeface="+mn-ea"/>
                        <a:cs typeface="letter-spacing:0.0000pt" charset="0"/>
                      </a:endParaRPr>
                    </a:p>
                  </a:txBody>
                  <a:tcPr marL="68580" marR="68580" marT="0" marB="0"/>
                </a:tc>
                <a:tc>
                  <a:txBody>
                    <a:bodyPr/>
                    <a:lstStyle/>
                    <a:p>
                      <a:pPr indent="0">
                        <a:buNone/>
                      </a:pPr>
                      <a:r>
                        <a:rPr lang="en-US" sz="1600" b="1">
                          <a:latin typeface="+mn-ea"/>
                          <a:cs typeface="+mn-ea"/>
                        </a:rPr>
                        <a:t>使malloc返回一个几乎任意的指针</a:t>
                      </a:r>
                      <a:endParaRPr lang="en-US" altLang="en-US" sz="1600" b="1">
                        <a:latin typeface="+mn-ea"/>
                        <a:cs typeface="+mn-ea"/>
                      </a:endParaRPr>
                    </a:p>
                  </a:txBody>
                  <a:tcPr marL="68580" marR="68580" marT="0" marB="0"/>
                </a:tc>
                <a:tc>
                  <a:txBody>
                    <a:bodyPr/>
                    <a:lstStyle/>
                    <a:p>
                      <a:pPr indent="0">
                        <a:buNone/>
                      </a:pPr>
                      <a:r>
                        <a:rPr lang="en-US" sz="1600" b="1">
                          <a:latin typeface="+mn-ea"/>
                          <a:cs typeface="+mn-ea"/>
                        </a:rPr>
                        <a:t>破坏small bin链接结构</a:t>
                      </a:r>
                      <a:endParaRPr lang="en-US" altLang="en-US" sz="1600" b="1">
                        <a:latin typeface="+mn-ea"/>
                        <a:cs typeface="+mn-ea"/>
                      </a:endParaRPr>
                    </a:p>
                  </a:txBody>
                  <a:tcPr marL="68580" marR="68580" marT="0" marB="0"/>
                </a:tc>
              </a:tr>
              <a:tr h="512445">
                <a:tc>
                  <a:txBody>
                    <a:bodyPr/>
                    <a:lstStyle/>
                    <a:p>
                      <a:pPr indent="0">
                        <a:buNone/>
                      </a:pPr>
                      <a:r>
                        <a:rPr lang="en-US" sz="1600" b="1">
                          <a:latin typeface="+mn-ea"/>
                          <a:cs typeface="letter-spacing:0.0000pt" charset="0"/>
                        </a:rPr>
                        <a:t>House of Force</a:t>
                      </a:r>
                      <a:endParaRPr lang="en-US" altLang="en-US" sz="1600" b="1">
                        <a:latin typeface="+mn-ea"/>
                        <a:cs typeface="letter-spacing:0.0000pt" charset="0"/>
                      </a:endParaRPr>
                    </a:p>
                  </a:txBody>
                  <a:tcPr marL="68580" marR="68580" marT="0" marB="0"/>
                </a:tc>
                <a:tc>
                  <a:txBody>
                    <a:bodyPr/>
                    <a:lstStyle/>
                    <a:p>
                      <a:pPr indent="0">
                        <a:buNone/>
                      </a:pPr>
                      <a:r>
                        <a:rPr lang="en-US" sz="1600" b="1">
                          <a:latin typeface="+mn-ea"/>
                          <a:cs typeface="+mn-ea"/>
                        </a:rPr>
                        <a:t>使malloc返回一个几乎任意的指针</a:t>
                      </a:r>
                      <a:endParaRPr lang="en-US" altLang="en-US" sz="1600" b="1">
                        <a:latin typeface="+mn-ea"/>
                        <a:cs typeface="+mn-ea"/>
                      </a:endParaRPr>
                    </a:p>
                  </a:txBody>
                  <a:tcPr marL="68580" marR="68580" marT="0" marB="0"/>
                </a:tc>
                <a:tc>
                  <a:txBody>
                    <a:bodyPr/>
                    <a:lstStyle/>
                    <a:p>
                      <a:pPr indent="0">
                        <a:buNone/>
                      </a:pPr>
                      <a:r>
                        <a:rPr lang="en-US" sz="1600" b="1">
                          <a:latin typeface="+mn-ea"/>
                          <a:cs typeface="Arial" panose="020B0604020202020204" pitchFamily="34" charset="0"/>
                        </a:rPr>
                        <a:t>溢出到顶部块的标题</a:t>
                      </a:r>
                      <a:endParaRPr lang="en-US" altLang="en-US" sz="1600" b="1">
                        <a:latin typeface="+mn-ea"/>
                        <a:cs typeface="Arial" panose="020B0604020202020204" pitchFamily="34" charset="0"/>
                      </a:endParaRPr>
                    </a:p>
                  </a:txBody>
                  <a:tcPr marL="68580" marR="68580" marT="0" marB="0"/>
                </a:tc>
              </a:tr>
              <a:tr h="512445">
                <a:tc>
                  <a:txBody>
                    <a:bodyPr/>
                    <a:lstStyle/>
                    <a:p>
                      <a:pPr indent="0">
                        <a:buNone/>
                      </a:pPr>
                      <a:r>
                        <a:rPr lang="en-US" sz="1600" b="1">
                          <a:latin typeface="+mn-ea"/>
                          <a:cs typeface="letter-spacing:0.0000pt" charset="0"/>
                        </a:rPr>
                        <a:t>House of Einherjar</a:t>
                      </a:r>
                      <a:endParaRPr lang="en-US" altLang="en-US" sz="1600" b="1">
                        <a:latin typeface="+mn-ea"/>
                        <a:cs typeface="letter-spacing:0.0000pt" charset="0"/>
                      </a:endParaRPr>
                    </a:p>
                  </a:txBody>
                  <a:tcPr marL="68580" marR="68580" marT="0" marB="0"/>
                </a:tc>
                <a:tc>
                  <a:txBody>
                    <a:bodyPr/>
                    <a:lstStyle/>
                    <a:p>
                      <a:pPr indent="0">
                        <a:buNone/>
                      </a:pPr>
                      <a:r>
                        <a:rPr lang="en-US" sz="1600" b="1">
                          <a:latin typeface="+mn-ea"/>
                          <a:cs typeface="+mn-ea"/>
                        </a:rPr>
                        <a:t>使malloc返回一个几乎任意的指针</a:t>
                      </a:r>
                      <a:endParaRPr lang="en-US" altLang="en-US" sz="1600" b="1">
                        <a:latin typeface="+mn-ea"/>
                        <a:cs typeface="+mn-ea"/>
                      </a:endParaRPr>
                    </a:p>
                  </a:txBody>
                  <a:tcPr marL="68580" marR="68580" marT="0" marB="0"/>
                </a:tc>
                <a:tc>
                  <a:txBody>
                    <a:bodyPr/>
                    <a:lstStyle/>
                    <a:p>
                      <a:pPr indent="0">
                        <a:buNone/>
                      </a:pPr>
                      <a:r>
                        <a:rPr lang="en-US" sz="1600" b="1" dirty="0" err="1">
                          <a:latin typeface="+mn-ea"/>
                          <a:cs typeface="Arial" panose="020B0604020202020204" pitchFamily="34" charset="0"/>
                        </a:rPr>
                        <a:t>将单个字节溢出到下一个块中</a:t>
                      </a:r>
                      <a:endParaRPr lang="en-US" altLang="en-US" sz="1600" b="1" dirty="0">
                        <a:latin typeface="+mn-ea"/>
                        <a:cs typeface="Arial" panose="020B0604020202020204" pitchFamily="34" charset="0"/>
                      </a:endParaRPr>
                    </a:p>
                  </a:txBody>
                  <a:tcPr marL="68580" marR="68580" marT="0" marB="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堆溢出</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dirty="0"/>
          </a:p>
        </p:txBody>
      </p:sp>
      <p:sp>
        <p:nvSpPr>
          <p:cNvPr id="3" name="内容占位符 2"/>
          <p:cNvSpPr>
            <a:spLocks noGrp="1"/>
          </p:cNvSpPr>
          <p:nvPr>
            <p:ph idx="13"/>
          </p:nvPr>
        </p:nvSpPr>
        <p:spPr/>
        <p:txBody>
          <a:bodyPr/>
          <a:lstStyle/>
          <a:p>
            <a:r>
              <a:rPr lang="zh-CN" altLang="en-US" dirty="0">
                <a:solidFill>
                  <a:srgbClr val="FF0000"/>
                </a:solidFill>
              </a:rPr>
              <a:t>堆溢出</a:t>
            </a:r>
            <a:r>
              <a:rPr lang="zh-CN" altLang="en-US" dirty="0"/>
              <a:t>是指程序向某个堆块中写入的字节数超过了堆块本身可使用的字节数</a:t>
            </a:r>
            <a:endParaRPr lang="en-US" altLang="zh-CN" dirty="0"/>
          </a:p>
          <a:p>
            <a:endParaRPr lang="en-US" altLang="zh-CN" dirty="0"/>
          </a:p>
          <a:p>
            <a:r>
              <a:rPr lang="zh-CN" altLang="en-US" dirty="0"/>
              <a:t>堆上并不存在返回地址等可以让攻击者直接控制执行流程的数据，因此我们一般无法直接通过堆溢出来控制 </a:t>
            </a:r>
            <a:r>
              <a:rPr lang="en-US" altLang="zh-CN" dirty="0"/>
              <a:t>EIP </a:t>
            </a:r>
            <a:r>
              <a:rPr lang="zh-CN" altLang="en-US" dirty="0"/>
              <a:t>。一般来说，我们利用堆溢出的策略是</a:t>
            </a:r>
            <a:endParaRPr lang="zh-CN" altLang="en-US" dirty="0"/>
          </a:p>
          <a:p>
            <a:pPr lvl="1"/>
            <a:r>
              <a:rPr lang="zh-CN" altLang="en-US" dirty="0"/>
              <a:t>覆盖与其物理相邻的下一个 </a:t>
            </a:r>
            <a:r>
              <a:rPr lang="en-US" altLang="zh-CN" dirty="0"/>
              <a:t>chunk </a:t>
            </a:r>
            <a:r>
              <a:rPr lang="zh-CN" altLang="en-US" dirty="0"/>
              <a:t>的元数据。</a:t>
            </a:r>
            <a:endParaRPr lang="zh-CN" altLang="en-US" dirty="0"/>
          </a:p>
          <a:p>
            <a:pPr lvl="1"/>
            <a:r>
              <a:rPr lang="zh-CN" altLang="en-US" dirty="0"/>
              <a:t>利用堆中的机制（如 </a:t>
            </a:r>
            <a:r>
              <a:rPr lang="en-US" altLang="zh-CN" dirty="0"/>
              <a:t>unlink </a:t>
            </a:r>
            <a:r>
              <a:rPr lang="zh-CN" altLang="en-US" dirty="0"/>
              <a:t>等 ）来实现任意地址写入（ </a:t>
            </a:r>
            <a:r>
              <a:rPr lang="en-US" altLang="zh-CN" dirty="0"/>
              <a:t>Write-Anything-Anywhere</a:t>
            </a:r>
            <a:r>
              <a:rPr lang="zh-CN" altLang="en-US" dirty="0"/>
              <a:t>）或控制堆块中的内容等效果，从而来控制程序的执行流。</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堆溢出</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dirty="0"/>
          </a:p>
        </p:txBody>
      </p:sp>
      <p:sp>
        <p:nvSpPr>
          <p:cNvPr id="3" name="内容占位符 2"/>
          <p:cNvSpPr>
            <a:spLocks noGrp="1"/>
          </p:cNvSpPr>
          <p:nvPr>
            <p:ph idx="13"/>
          </p:nvPr>
        </p:nvSpPr>
        <p:spPr/>
        <p:txBody>
          <a:bodyPr/>
          <a:lstStyle/>
          <a:p>
            <a:r>
              <a:rPr lang="zh-CN" altLang="en-US" dirty="0"/>
              <a:t>寻找分配函数</a:t>
            </a:r>
            <a:endParaRPr lang="en-US" altLang="zh-CN" dirty="0"/>
          </a:p>
          <a:p>
            <a:pPr lvl="1"/>
            <a:r>
              <a:rPr kumimoji="1" lang="en-US" altLang="zh-CN" dirty="0"/>
              <a:t>void * malloc(</a:t>
            </a:r>
            <a:r>
              <a:rPr kumimoji="1" lang="en-US" altLang="zh-CN" dirty="0" err="1"/>
              <a:t>size_t</a:t>
            </a:r>
            <a:r>
              <a:rPr kumimoji="1" lang="en-US" altLang="zh-CN" dirty="0"/>
              <a:t> num);</a:t>
            </a:r>
            <a:endParaRPr kumimoji="1" lang="en-US" altLang="zh-CN" dirty="0"/>
          </a:p>
          <a:p>
            <a:pPr lvl="1"/>
            <a:r>
              <a:rPr kumimoji="1" lang="en-US" altLang="zh-CN" dirty="0"/>
              <a:t>void * </a:t>
            </a:r>
            <a:r>
              <a:rPr kumimoji="1" lang="en-US" altLang="zh-CN" dirty="0" err="1"/>
              <a:t>calloc</a:t>
            </a:r>
            <a:r>
              <a:rPr kumimoji="1" lang="en-US" altLang="zh-CN" dirty="0"/>
              <a:t>(</a:t>
            </a:r>
            <a:r>
              <a:rPr kumimoji="1" lang="en-US" altLang="zh-CN" dirty="0" err="1"/>
              <a:t>size_t</a:t>
            </a:r>
            <a:r>
              <a:rPr kumimoji="1" lang="en-US" altLang="zh-CN" dirty="0"/>
              <a:t> num, </a:t>
            </a:r>
            <a:r>
              <a:rPr kumimoji="1" lang="en-US" altLang="zh-CN" dirty="0" err="1"/>
              <a:t>size_t</a:t>
            </a:r>
            <a:r>
              <a:rPr kumimoji="1" lang="en-US" altLang="zh-CN" dirty="0"/>
              <a:t> size);</a:t>
            </a:r>
            <a:endParaRPr kumimoji="1" lang="en-US" altLang="zh-CN" dirty="0"/>
          </a:p>
          <a:p>
            <a:pPr lvl="1"/>
            <a:r>
              <a:rPr kumimoji="1" lang="en-US" altLang="zh-CN" dirty="0"/>
              <a:t>void * </a:t>
            </a:r>
            <a:r>
              <a:rPr kumimoji="1" lang="en-US" altLang="zh-CN" dirty="0" err="1"/>
              <a:t>realloc</a:t>
            </a:r>
            <a:r>
              <a:rPr kumimoji="1" lang="en-US" altLang="zh-CN" dirty="0"/>
              <a:t>(void * old, </a:t>
            </a:r>
            <a:r>
              <a:rPr kumimoji="1" lang="en-US" altLang="zh-CN" dirty="0" err="1"/>
              <a:t>size_t</a:t>
            </a:r>
            <a:r>
              <a:rPr kumimoji="1" lang="en-US" altLang="zh-CN" dirty="0"/>
              <a:t> </a:t>
            </a:r>
            <a:r>
              <a:rPr kumimoji="1" lang="en-US" altLang="zh-CN" dirty="0" err="1"/>
              <a:t>new_size</a:t>
            </a:r>
            <a:r>
              <a:rPr kumimoji="1" lang="en-US" altLang="zh-CN" dirty="0"/>
              <a:t>);</a:t>
            </a:r>
            <a:endParaRPr lang="en-US" altLang="zh-CN" dirty="0"/>
          </a:p>
          <a:p>
            <a:r>
              <a:rPr lang="zh-CN" altLang="en-US" dirty="0"/>
              <a:t>寻找危险函数</a:t>
            </a:r>
            <a:endParaRPr lang="en-US" altLang="zh-CN" dirty="0"/>
          </a:p>
          <a:p>
            <a:pPr lvl="1"/>
            <a:r>
              <a:rPr lang="zh-CN" altLang="en-US" dirty="0"/>
              <a:t>输入：</a:t>
            </a:r>
            <a:r>
              <a:rPr lang="en-US" altLang="zh-CN" dirty="0">
                <a:solidFill>
                  <a:srgbClr val="FF0000"/>
                </a:solidFill>
              </a:rPr>
              <a:t>gets</a:t>
            </a:r>
            <a:r>
              <a:rPr lang="zh-CN" altLang="en-US" dirty="0"/>
              <a:t>，直接读取一行，忽略 ‘</a:t>
            </a:r>
            <a:r>
              <a:rPr lang="en-US" altLang="zh-CN" dirty="0"/>
              <a:t>\x00’</a:t>
            </a:r>
            <a:r>
              <a:rPr lang="zh-CN" altLang="en-US" dirty="0"/>
              <a:t>；</a:t>
            </a:r>
            <a:r>
              <a:rPr lang="en-US" altLang="zh-CN" dirty="0" err="1">
                <a:solidFill>
                  <a:srgbClr val="FF0000"/>
                </a:solidFill>
              </a:rPr>
              <a:t>scanf</a:t>
            </a:r>
            <a:r>
              <a:rPr lang="zh-CN" altLang="en-US" dirty="0"/>
              <a:t>；</a:t>
            </a:r>
            <a:r>
              <a:rPr lang="en-US" altLang="zh-CN" dirty="0" err="1">
                <a:solidFill>
                  <a:srgbClr val="FF0000"/>
                </a:solidFill>
              </a:rPr>
              <a:t>vscanf</a:t>
            </a:r>
            <a:endParaRPr lang="en-US" altLang="zh-CN" dirty="0">
              <a:solidFill>
                <a:srgbClr val="FF0000"/>
              </a:solidFill>
            </a:endParaRPr>
          </a:p>
          <a:p>
            <a:pPr lvl="1"/>
            <a:r>
              <a:rPr lang="zh-CN" altLang="en-US" dirty="0"/>
              <a:t>输出：</a:t>
            </a:r>
            <a:r>
              <a:rPr lang="en-US" altLang="zh-CN" dirty="0" err="1"/>
              <a:t>sprintf</a:t>
            </a:r>
            <a:endParaRPr lang="en-US" altLang="zh-CN" dirty="0"/>
          </a:p>
          <a:p>
            <a:pPr lvl="1"/>
            <a:r>
              <a:rPr lang="zh-CN" altLang="en-US" dirty="0"/>
              <a:t>字符串：</a:t>
            </a:r>
            <a:r>
              <a:rPr lang="en-US" altLang="zh-CN" dirty="0" err="1">
                <a:solidFill>
                  <a:srgbClr val="FF0000"/>
                </a:solidFill>
              </a:rPr>
              <a:t>strcpy</a:t>
            </a:r>
            <a:r>
              <a:rPr lang="zh-CN" altLang="en-US" dirty="0"/>
              <a:t>，字符串复制，遇到 ‘</a:t>
            </a:r>
            <a:r>
              <a:rPr lang="en-US" altLang="zh-CN" dirty="0"/>
              <a:t>\x00’ </a:t>
            </a:r>
            <a:r>
              <a:rPr lang="zh-CN" altLang="en-US" dirty="0"/>
              <a:t>停止；</a:t>
            </a:r>
            <a:r>
              <a:rPr lang="en-US" altLang="zh-CN" dirty="0" err="1">
                <a:solidFill>
                  <a:srgbClr val="FF0000"/>
                </a:solidFill>
              </a:rPr>
              <a:t>strcat</a:t>
            </a:r>
            <a:r>
              <a:rPr lang="zh-CN" altLang="en-US" dirty="0"/>
              <a:t>，字符串拼接，遇到 ‘</a:t>
            </a:r>
            <a:r>
              <a:rPr lang="en-US" altLang="zh-CN" dirty="0"/>
              <a:t>\x00’ </a:t>
            </a:r>
            <a:r>
              <a:rPr lang="zh-CN" altLang="en-US" dirty="0"/>
              <a:t>停止；</a:t>
            </a:r>
            <a:r>
              <a:rPr lang="en-US" altLang="zh-CN" dirty="0" err="1">
                <a:solidFill>
                  <a:srgbClr val="FF0000"/>
                </a:solidFill>
              </a:rPr>
              <a:t>bcopy</a:t>
            </a:r>
            <a:endParaRPr lang="en-US" altLang="zh-CN" dirty="0">
              <a:solidFill>
                <a:srgbClr val="FF0000"/>
              </a:solidFill>
            </a:endParaRPr>
          </a:p>
          <a:p>
            <a:endParaRPr lang="en-US" altLang="zh-CN" dirty="0"/>
          </a:p>
        </p:txBody>
      </p:sp>
      <p:sp>
        <p:nvSpPr>
          <p:cNvPr id="7" name="矩形 6"/>
          <p:cNvSpPr/>
          <p:nvPr/>
        </p:nvSpPr>
        <p:spPr>
          <a:xfrm>
            <a:off x="131666" y="6521803"/>
            <a:ext cx="5688632" cy="276999"/>
          </a:xfrm>
          <a:prstGeom prst="rect">
            <a:avLst/>
          </a:prstGeom>
        </p:spPr>
        <p:txBody>
          <a:bodyPr wrap="square">
            <a:spAutoFit/>
          </a:bodyPr>
          <a:lstStyle/>
          <a:p>
            <a:r>
              <a:rPr lang="zh-CN" altLang="en-US" sz="1200" dirty="0"/>
              <a:t>参考链接：</a:t>
            </a:r>
            <a:r>
              <a:rPr lang="en-US" altLang="zh-CN" sz="1200" dirty="0">
                <a:hlinkClick r:id="rId1"/>
              </a:rPr>
              <a:t>http://eternalsakura13.com/2018/02/28/heap_exp1/</a:t>
            </a:r>
            <a:endParaRPr lang="en-US" altLang="zh-CN" sz="1200" dirty="0"/>
          </a:p>
        </p:txBody>
      </p:sp>
      <p:sp>
        <p:nvSpPr>
          <p:cNvPr id="5" name="对话气泡: 圆角矩形 4"/>
          <p:cNvSpPr/>
          <p:nvPr/>
        </p:nvSpPr>
        <p:spPr>
          <a:xfrm>
            <a:off x="3876082" y="5085184"/>
            <a:ext cx="3888432" cy="1008001"/>
          </a:xfrm>
          <a:prstGeom prst="wedgeRoundRectCallout">
            <a:avLst>
              <a:gd name="adj1" fmla="val -41130"/>
              <a:gd name="adj2" fmla="val -70082"/>
              <a:gd name="adj3" fmla="val 16667"/>
            </a:avLst>
          </a:prstGeom>
          <a:solidFill>
            <a:schemeClr val="bg1"/>
          </a:solid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lumMod val="75000"/>
                  </a:schemeClr>
                </a:solidFill>
              </a:rPr>
              <a:t>快速确定程序是否可能有堆溢出，以及有的话，堆溢出的位置在哪里</a:t>
            </a:r>
            <a:endParaRPr lang="zh-CN" altLang="en-US" dirty="0">
              <a:solidFill>
                <a:schemeClr val="tx2">
                  <a:lumMod val="75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71600" y="2132856"/>
            <a:ext cx="6120680" cy="360040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idx="1"/>
          </p:nvPr>
        </p:nvSpPr>
        <p:spPr/>
        <p:txBody>
          <a:bodyPr/>
          <a:lstStyle/>
          <a:p>
            <a:r>
              <a:rPr kumimoji="1" lang="zh-CN" altLang="en-US" dirty="0"/>
              <a:t>堆溢出</a:t>
            </a:r>
            <a:endParaRPr kumimoji="1" lang="zh-CN" altLang="en-US" dirty="0"/>
          </a:p>
        </p:txBody>
      </p:sp>
      <p:sp>
        <p:nvSpPr>
          <p:cNvPr id="3" name="内容占位符 2"/>
          <p:cNvSpPr>
            <a:spLocks noGrp="1"/>
          </p:cNvSpPr>
          <p:nvPr>
            <p:ph idx="13"/>
          </p:nvPr>
        </p:nvSpPr>
        <p:spPr/>
        <p:txBody>
          <a:bodyPr/>
          <a:lstStyle/>
          <a:p>
            <a:r>
              <a:rPr kumimoji="1" lang="zh-CN" altLang="en-US" dirty="0"/>
              <a:t>示例</a:t>
            </a:r>
            <a:r>
              <a:rPr kumimoji="1" lang="en-US" altLang="zh-CN" dirty="0"/>
              <a:t>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r>
              <a:rPr kumimoji="1" lang="zh-CN" altLang="en-US" dirty="0"/>
              <a:t>堆溢出实例</a:t>
            </a:r>
            <a:endParaRPr kumimoji="1" lang="zh-CN" altLang="en-US" dirty="0"/>
          </a:p>
        </p:txBody>
      </p:sp>
      <p:sp>
        <p:nvSpPr>
          <p:cNvPr id="5" name="矩形 4"/>
          <p:cNvSpPr/>
          <p:nvPr/>
        </p:nvSpPr>
        <p:spPr>
          <a:xfrm>
            <a:off x="1475656" y="2363395"/>
            <a:ext cx="4572000" cy="3139321"/>
          </a:xfrm>
          <a:prstGeom prst="rect">
            <a:avLst/>
          </a:prstGeom>
        </p:spPr>
        <p:txBody>
          <a:bodyPr>
            <a:spAutoFit/>
          </a:bodyPr>
          <a:lstStyle/>
          <a:p>
            <a:r>
              <a:rPr lang="en-US" altLang="zh-CN" dirty="0">
                <a:solidFill>
                  <a:srgbClr val="808080"/>
                </a:solidFill>
                <a:latin typeface="Bahnschrift" panose="020B0502040204020203" pitchFamily="34" charset="0"/>
                <a:ea typeface="新宋体" panose="02010609030101010101" pitchFamily="49" charset="-122"/>
              </a:rPr>
              <a:t>#include</a:t>
            </a:r>
            <a:r>
              <a:rPr lang="en-US" altLang="zh-CN" dirty="0">
                <a:solidFill>
                  <a:srgbClr val="000000"/>
                </a:solidFill>
                <a:latin typeface="Bahnschrift" panose="020B0502040204020203" pitchFamily="34" charset="0"/>
                <a:ea typeface="新宋体" panose="02010609030101010101" pitchFamily="49" charset="-122"/>
              </a:rPr>
              <a:t> </a:t>
            </a:r>
            <a:r>
              <a:rPr lang="en-US" altLang="zh-CN" dirty="0">
                <a:solidFill>
                  <a:srgbClr val="A31515"/>
                </a:solidFill>
                <a:latin typeface="Bahnschrift" panose="020B0502040204020203" pitchFamily="34" charset="0"/>
                <a:ea typeface="新宋体" panose="02010609030101010101" pitchFamily="49" charset="-122"/>
              </a:rPr>
              <a:t>&lt;</a:t>
            </a:r>
            <a:r>
              <a:rPr lang="en-US" altLang="zh-CN" dirty="0" err="1">
                <a:solidFill>
                  <a:srgbClr val="A31515"/>
                </a:solidFill>
                <a:latin typeface="Bahnschrift" panose="020B0502040204020203" pitchFamily="34" charset="0"/>
                <a:ea typeface="新宋体" panose="02010609030101010101" pitchFamily="49" charset="-122"/>
              </a:rPr>
              <a:t>stdio.h</a:t>
            </a:r>
            <a:r>
              <a:rPr lang="en-US" altLang="zh-CN" dirty="0">
                <a:solidFill>
                  <a:srgbClr val="A31515"/>
                </a:solidFill>
                <a:latin typeface="Bahnschrift" panose="020B0502040204020203" pitchFamily="34" charset="0"/>
                <a:ea typeface="新宋体" panose="02010609030101010101" pitchFamily="49" charset="-122"/>
              </a:rPr>
              <a:t>&gt;</a:t>
            </a:r>
            <a:endParaRPr lang="en-US" altLang="zh-CN" dirty="0">
              <a:solidFill>
                <a:srgbClr val="A31515"/>
              </a:solidFill>
              <a:latin typeface="Bahnschrift" panose="020B0502040204020203" pitchFamily="34" charset="0"/>
              <a:ea typeface="新宋体" panose="02010609030101010101" pitchFamily="49" charset="-122"/>
            </a:endParaRPr>
          </a:p>
          <a:p>
            <a:r>
              <a:rPr lang="en-US" altLang="zh-CN" dirty="0">
                <a:solidFill>
                  <a:schemeClr val="bg1">
                    <a:lumMod val="50000"/>
                  </a:schemeClr>
                </a:solidFill>
                <a:latin typeface="Bahnschrift" panose="020B0502040204020203" pitchFamily="34" charset="0"/>
                <a:ea typeface="新宋体" panose="02010609030101010101" pitchFamily="49" charset="-122"/>
              </a:rPr>
              <a:t>#include </a:t>
            </a:r>
            <a:r>
              <a:rPr lang="en-US" altLang="zh-CN" dirty="0">
                <a:solidFill>
                  <a:srgbClr val="A31515"/>
                </a:solidFill>
                <a:latin typeface="Bahnschrift" panose="020B0502040204020203" pitchFamily="34" charset="0"/>
                <a:ea typeface="新宋体" panose="02010609030101010101" pitchFamily="49" charset="-122"/>
              </a:rPr>
              <a:t>&lt;</a:t>
            </a:r>
            <a:r>
              <a:rPr lang="en-US" altLang="zh-CN" dirty="0" err="1">
                <a:solidFill>
                  <a:srgbClr val="A31515"/>
                </a:solidFill>
                <a:latin typeface="Bahnschrift" panose="020B0502040204020203" pitchFamily="34" charset="0"/>
                <a:ea typeface="新宋体" panose="02010609030101010101" pitchFamily="49" charset="-122"/>
              </a:rPr>
              <a:t>stdlib.h</a:t>
            </a:r>
            <a:r>
              <a:rPr lang="en-US" altLang="zh-CN" dirty="0">
                <a:solidFill>
                  <a:srgbClr val="A31515"/>
                </a:solidFill>
                <a:latin typeface="Bahnschrift" panose="020B0502040204020203" pitchFamily="34" charset="0"/>
                <a:ea typeface="新宋体" panose="02010609030101010101" pitchFamily="49" charset="-122"/>
              </a:rPr>
              <a:t>&gt;</a:t>
            </a:r>
            <a:endParaRPr lang="en-US" altLang="zh-CN" dirty="0">
              <a:solidFill>
                <a:srgbClr val="000000"/>
              </a:solidFill>
              <a:latin typeface="Bahnschrift" panose="020B0502040204020203" pitchFamily="34" charset="0"/>
              <a:ea typeface="新宋体" panose="02010609030101010101" pitchFamily="49" charset="-122"/>
            </a:endParaRPr>
          </a:p>
          <a:p>
            <a:endParaRPr lang="zh-CN" altLang="en-US"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int</a:t>
            </a:r>
            <a:r>
              <a:rPr lang="en-US" altLang="zh-CN" dirty="0">
                <a:solidFill>
                  <a:srgbClr val="000000"/>
                </a:solidFill>
                <a:latin typeface="Bahnschrift" panose="020B0502040204020203" pitchFamily="34" charset="0"/>
                <a:ea typeface="新宋体" panose="02010609030101010101" pitchFamily="49" charset="-122"/>
              </a:rPr>
              <a:t> main(</a:t>
            </a:r>
            <a:r>
              <a:rPr lang="en-US" altLang="zh-CN" dirty="0">
                <a:solidFill>
                  <a:srgbClr val="0000FF"/>
                </a:solidFill>
                <a:latin typeface="Bahnschrift" panose="020B0502040204020203" pitchFamily="34" charset="0"/>
                <a:ea typeface="新宋体" panose="02010609030101010101" pitchFamily="49" charset="-122"/>
              </a:rPr>
              <a:t>void</a:t>
            </a:r>
            <a:r>
              <a:rPr lang="en-US" altLang="zh-CN" dirty="0">
                <a:solidFill>
                  <a:srgbClr val="000000"/>
                </a:solidFill>
                <a:latin typeface="Bahnschrift" panose="020B0502040204020203" pitchFamily="34" charset="0"/>
                <a:ea typeface="新宋体" panose="02010609030101010101" pitchFamily="49" charset="-122"/>
              </a:rPr>
              <a: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	char</a:t>
            </a:r>
            <a:r>
              <a:rPr lang="en-US" altLang="zh-CN" dirty="0">
                <a:solidFill>
                  <a:srgbClr val="000000"/>
                </a:solidFill>
                <a:latin typeface="Bahnschrift" panose="020B0502040204020203" pitchFamily="34" charset="0"/>
                <a:ea typeface="新宋体" panose="02010609030101010101" pitchFamily="49" charset="-122"/>
              </a:rPr>
              <a:t> *chunk;</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chunk = malloc(24);</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puts(</a:t>
            </a:r>
            <a:r>
              <a:rPr lang="en-US" altLang="zh-CN" dirty="0">
                <a:solidFill>
                  <a:srgbClr val="A31515"/>
                </a:solidFill>
                <a:latin typeface="Bahnschrift" panose="020B0502040204020203" pitchFamily="34" charset="0"/>
                <a:ea typeface="新宋体" panose="02010609030101010101" pitchFamily="49" charset="-122"/>
              </a:rPr>
              <a:t>"Get input:"</a:t>
            </a:r>
            <a:r>
              <a:rPr lang="en-US" altLang="zh-CN" dirty="0">
                <a:solidFill>
                  <a:srgbClr val="000000"/>
                </a:solidFill>
                <a:latin typeface="Bahnschrift" panose="020B0502040204020203" pitchFamily="34" charset="0"/>
                <a:ea typeface="新宋体" panose="02010609030101010101" pitchFamily="49" charset="-122"/>
              </a:rPr>
              <a: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gets(chunk);</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	return</a:t>
            </a:r>
            <a:r>
              <a:rPr lang="en-US" altLang="zh-CN" dirty="0">
                <a:solidFill>
                  <a:srgbClr val="000000"/>
                </a:solidFill>
                <a:latin typeface="Bahnschrift" panose="020B0502040204020203" pitchFamily="34" charset="0"/>
                <a:ea typeface="新宋体" panose="02010609030101010101" pitchFamily="49" charset="-122"/>
              </a:rPr>
              <a:t> 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a:t>
            </a:r>
            <a:endParaRPr lang="zh-CN" altLang="en-US" dirty="0">
              <a:latin typeface="Bahnschrift" panose="020B0502040204020203" pitchFamily="34" charset="0"/>
            </a:endParaRPr>
          </a:p>
        </p:txBody>
      </p:sp>
      <p:sp>
        <p:nvSpPr>
          <p:cNvPr id="8" name="对话气泡: 圆角矩形 7"/>
          <p:cNvSpPr/>
          <p:nvPr/>
        </p:nvSpPr>
        <p:spPr>
          <a:xfrm>
            <a:off x="4424918" y="4653136"/>
            <a:ext cx="3819490" cy="576064"/>
          </a:xfrm>
          <a:prstGeom prst="wedgeRoundRectCallout">
            <a:avLst>
              <a:gd name="adj1" fmla="val -63545"/>
              <a:gd name="adj2" fmla="val -21697"/>
              <a:gd name="adj3" fmla="val 16667"/>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lumMod val="75000"/>
                  </a:schemeClr>
                </a:solidFill>
              </a:rPr>
              <a:t>输入字节数远远超过可用的字节数</a:t>
            </a:r>
            <a:endParaRPr lang="zh-CN" altLang="en-US" dirty="0">
              <a:solidFill>
                <a:schemeClr val="tx2">
                  <a:lumMod val="75000"/>
                </a:schemeClr>
              </a:solidFill>
            </a:endParaRPr>
          </a:p>
        </p:txBody>
      </p:sp>
      <p:sp>
        <p:nvSpPr>
          <p:cNvPr id="9" name="矩形 8"/>
          <p:cNvSpPr/>
          <p:nvPr/>
        </p:nvSpPr>
        <p:spPr>
          <a:xfrm>
            <a:off x="107950" y="6537722"/>
            <a:ext cx="5688632" cy="276999"/>
          </a:xfrm>
          <a:prstGeom prst="rect">
            <a:avLst/>
          </a:prstGeom>
        </p:spPr>
        <p:txBody>
          <a:bodyPr wrap="square">
            <a:spAutoFit/>
          </a:bodyPr>
          <a:lstStyle/>
          <a:p>
            <a:r>
              <a:rPr lang="zh-CN" altLang="en-US" sz="1200" dirty="0"/>
              <a:t>参考链接：</a:t>
            </a:r>
            <a:r>
              <a:rPr lang="en-US" altLang="zh-CN" sz="1200" dirty="0">
                <a:hlinkClick r:id="rId1"/>
              </a:rPr>
              <a:t>https://wiki.x10sec.org/pwn/heap/heapoverflow_basic/</a:t>
            </a:r>
            <a:endParaRPr lang="en-US" altLang="zh-CN"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堆溢出</a:t>
            </a:r>
            <a:endParaRPr kumimoji="1" lang="zh-CN" altLang="en-US" dirty="0"/>
          </a:p>
        </p:txBody>
      </p:sp>
      <p:sp>
        <p:nvSpPr>
          <p:cNvPr id="3" name="内容占位符 2"/>
          <p:cNvSpPr>
            <a:spLocks noGrp="1"/>
          </p:cNvSpPr>
          <p:nvPr>
            <p:ph idx="13"/>
          </p:nvPr>
        </p:nvSpPr>
        <p:spPr/>
        <p:txBody>
          <a:bodyPr/>
          <a:lstStyle/>
          <a:p>
            <a:r>
              <a:rPr kumimoji="1" lang="zh-CN" altLang="en-US" dirty="0"/>
              <a:t>示例结果</a:t>
            </a:r>
            <a:r>
              <a:rPr kumimoji="1" lang="en-US" altLang="zh-CN" dirty="0"/>
              <a:t>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r>
              <a:rPr kumimoji="1" lang="zh-CN" altLang="en-US" dirty="0"/>
              <a:t>堆溢出实例</a:t>
            </a:r>
            <a:endParaRPr kumimoji="1" lang="zh-CN" altLang="en-US" dirty="0"/>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22602" y="2318384"/>
            <a:ext cx="6698794" cy="1245129"/>
          </a:xfrm>
          <a:prstGeom prst="rect">
            <a:avLst/>
          </a:prstGeom>
        </p:spPr>
      </p:pic>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2602" y="4233874"/>
            <a:ext cx="6698794" cy="1292089"/>
          </a:xfrm>
          <a:prstGeom prst="rect">
            <a:avLst/>
          </a:prstGeom>
        </p:spPr>
      </p:pic>
      <p:sp>
        <p:nvSpPr>
          <p:cNvPr id="12" name="矩形 11"/>
          <p:cNvSpPr/>
          <p:nvPr/>
        </p:nvSpPr>
        <p:spPr>
          <a:xfrm>
            <a:off x="3995936" y="2276872"/>
            <a:ext cx="792088" cy="2880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987824" y="5085184"/>
            <a:ext cx="4896544" cy="4407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05084" y="2006080"/>
            <a:ext cx="7272808" cy="3139321"/>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idx="1"/>
          </p:nvPr>
        </p:nvSpPr>
        <p:spPr/>
        <p:txBody>
          <a:bodyPr/>
          <a:lstStyle/>
          <a:p>
            <a:r>
              <a:rPr kumimoji="1" lang="en-US" altLang="zh-CN" dirty="0"/>
              <a:t>double free()</a:t>
            </a:r>
            <a:endParaRPr kumimoji="1" lang="zh-CN" altLang="en-US" dirty="0"/>
          </a:p>
        </p:txBody>
      </p:sp>
      <p:sp>
        <p:nvSpPr>
          <p:cNvPr id="3" name="内容占位符 2"/>
          <p:cNvSpPr>
            <a:spLocks noGrp="1"/>
          </p:cNvSpPr>
          <p:nvPr>
            <p:ph idx="13"/>
          </p:nvPr>
        </p:nvSpPr>
        <p:spPr/>
        <p:txBody>
          <a:bodyPr/>
          <a:lstStyle/>
          <a:p>
            <a:r>
              <a:rPr kumimoji="1" lang="zh-CN" altLang="en-US" dirty="0"/>
              <a:t>申请的同一块内存释放两次</a:t>
            </a:r>
            <a:endParaRPr kumimoji="1" lang="en-US" altLang="zh-CN" dirty="0"/>
          </a:p>
          <a:p>
            <a:endParaRPr kumimoji="1" lang="en-US" altLang="zh-CN"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3608" y="5361416"/>
            <a:ext cx="7272808" cy="391768"/>
          </a:xfrm>
          <a:prstGeom prst="rect">
            <a:avLst/>
          </a:prstGeom>
        </p:spPr>
      </p:pic>
      <p:sp>
        <p:nvSpPr>
          <p:cNvPr id="16" name="矩形 15"/>
          <p:cNvSpPr/>
          <p:nvPr/>
        </p:nvSpPr>
        <p:spPr>
          <a:xfrm>
            <a:off x="3704512" y="5269480"/>
            <a:ext cx="3240360" cy="3917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187624" y="2006080"/>
            <a:ext cx="4572000" cy="3139321"/>
          </a:xfrm>
          <a:prstGeom prst="rect">
            <a:avLst/>
          </a:prstGeom>
        </p:spPr>
        <p:txBody>
          <a:bodyPr>
            <a:spAutoFit/>
          </a:bodyPr>
          <a:lstStyle/>
          <a:p>
            <a:r>
              <a:rPr lang="en-US" altLang="zh-CN" dirty="0">
                <a:solidFill>
                  <a:srgbClr val="808080"/>
                </a:solidFill>
                <a:latin typeface="Bahnschrift" panose="020B0502040204020203" pitchFamily="34" charset="0"/>
                <a:ea typeface="新宋体" panose="02010609030101010101" pitchFamily="49" charset="-122"/>
              </a:rPr>
              <a:t>#include</a:t>
            </a:r>
            <a:r>
              <a:rPr lang="en-US" altLang="zh-CN" dirty="0">
                <a:solidFill>
                  <a:srgbClr val="A31515"/>
                </a:solidFill>
                <a:latin typeface="Bahnschrift" panose="020B0502040204020203" pitchFamily="34" charset="0"/>
                <a:ea typeface="新宋体" panose="02010609030101010101" pitchFamily="49" charset="-122"/>
              </a:rPr>
              <a:t>&lt;</a:t>
            </a:r>
            <a:r>
              <a:rPr lang="en-US" altLang="zh-CN" dirty="0" err="1">
                <a:solidFill>
                  <a:srgbClr val="A31515"/>
                </a:solidFill>
                <a:latin typeface="Bahnschrift" panose="020B0502040204020203" pitchFamily="34" charset="0"/>
                <a:ea typeface="新宋体" panose="02010609030101010101" pitchFamily="49" charset="-122"/>
              </a:rPr>
              <a:t>stdio.h</a:t>
            </a:r>
            <a:r>
              <a:rPr lang="en-US" altLang="zh-CN" dirty="0">
                <a:solidFill>
                  <a:srgbClr val="A31515"/>
                </a:solidFill>
                <a:latin typeface="Bahnschrift" panose="020B0502040204020203" pitchFamily="34" charset="0"/>
                <a:ea typeface="新宋体" panose="02010609030101010101" pitchFamily="49" charset="-122"/>
              </a:rPr>
              <a:t>&gt;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808080"/>
                </a:solidFill>
                <a:latin typeface="Bahnschrift" panose="020B0502040204020203" pitchFamily="34" charset="0"/>
                <a:ea typeface="新宋体" panose="02010609030101010101" pitchFamily="49" charset="-122"/>
              </a:rPr>
              <a:t>#include</a:t>
            </a:r>
            <a:r>
              <a:rPr lang="en-US" altLang="zh-CN" dirty="0">
                <a:solidFill>
                  <a:srgbClr val="A31515"/>
                </a:solidFill>
                <a:latin typeface="Bahnschrift" panose="020B0502040204020203" pitchFamily="34" charset="0"/>
                <a:ea typeface="新宋体" panose="02010609030101010101" pitchFamily="49" charset="-122"/>
              </a:rPr>
              <a:t>&lt;</a:t>
            </a:r>
            <a:r>
              <a:rPr lang="en-US" altLang="zh-CN" dirty="0" err="1">
                <a:solidFill>
                  <a:srgbClr val="A31515"/>
                </a:solidFill>
                <a:latin typeface="Bahnschrift" panose="020B0502040204020203" pitchFamily="34" charset="0"/>
                <a:ea typeface="新宋体" panose="02010609030101010101" pitchFamily="49" charset="-122"/>
              </a:rPr>
              <a:t>stdlib.h</a:t>
            </a:r>
            <a:r>
              <a:rPr lang="en-US" altLang="zh-CN" dirty="0">
                <a:solidFill>
                  <a:srgbClr val="A31515"/>
                </a:solidFill>
                <a:latin typeface="Bahnschrift" panose="020B0502040204020203" pitchFamily="34" charset="0"/>
                <a:ea typeface="新宋体" panose="02010609030101010101" pitchFamily="49" charset="-122"/>
              </a:rPr>
              <a:t>&gt;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int</a:t>
            </a:r>
            <a:r>
              <a:rPr lang="en-US" altLang="zh-CN" dirty="0">
                <a:solidFill>
                  <a:srgbClr val="000000"/>
                </a:solidFill>
                <a:latin typeface="Bahnschrift" panose="020B0502040204020203" pitchFamily="34" charset="0"/>
                <a:ea typeface="新宋体" panose="02010609030101010101" pitchFamily="49" charset="-122"/>
              </a:rPr>
              <a:t> main()</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	int</a:t>
            </a:r>
            <a:r>
              <a:rPr lang="en-US" altLang="zh-CN" dirty="0">
                <a:solidFill>
                  <a:srgbClr val="000000"/>
                </a:solidFill>
                <a:latin typeface="Bahnschrift" panose="020B0502040204020203" pitchFamily="34" charset="0"/>
                <a:ea typeface="新宋体" panose="02010609030101010101" pitchFamily="49" charset="-122"/>
              </a:rPr>
              <a:t> * a = malloc(10);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	int</a:t>
            </a:r>
            <a:r>
              <a:rPr lang="en-US" altLang="zh-CN" dirty="0">
                <a:solidFill>
                  <a:srgbClr val="000000"/>
                </a:solidFill>
                <a:latin typeface="Bahnschrift" panose="020B0502040204020203" pitchFamily="34" charset="0"/>
                <a:ea typeface="新宋体" panose="02010609030101010101" pitchFamily="49" charset="-122"/>
              </a:rPr>
              <a:t> * b = malloc(10);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free(a);</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free(a);</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	int</a:t>
            </a:r>
            <a:r>
              <a:rPr lang="en-US" altLang="zh-CN" dirty="0">
                <a:solidFill>
                  <a:srgbClr val="000000"/>
                </a:solidFill>
                <a:latin typeface="Bahnschrift" panose="020B0502040204020203" pitchFamily="34" charset="0"/>
                <a:ea typeface="新宋体" panose="02010609030101010101" pitchFamily="49" charset="-122"/>
              </a:rPr>
              <a:t> * c = malloc(10);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	return</a:t>
            </a:r>
            <a:r>
              <a:rPr lang="en-US" altLang="zh-CN" dirty="0">
                <a:solidFill>
                  <a:srgbClr val="000000"/>
                </a:solidFill>
                <a:latin typeface="Bahnschrift" panose="020B0502040204020203" pitchFamily="34" charset="0"/>
                <a:ea typeface="新宋体" panose="02010609030101010101" pitchFamily="49" charset="-122"/>
              </a:rPr>
              <a:t> 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a:t>
            </a:r>
            <a:endParaRPr lang="zh-CN" altLang="en-US" dirty="0">
              <a:latin typeface="Bahnschrift" panose="020B0502040204020203" pitchFamily="34" charset="0"/>
            </a:endParaRPr>
          </a:p>
        </p:txBody>
      </p:sp>
      <p:sp>
        <p:nvSpPr>
          <p:cNvPr id="9" name="对话气泡: 圆角矩形 8"/>
          <p:cNvSpPr/>
          <p:nvPr/>
        </p:nvSpPr>
        <p:spPr>
          <a:xfrm>
            <a:off x="4788024" y="4348932"/>
            <a:ext cx="2990852" cy="537741"/>
          </a:xfrm>
          <a:prstGeom prst="wedgeRoundRectCallout">
            <a:avLst>
              <a:gd name="adj1" fmla="val -34881"/>
              <a:gd name="adj2" fmla="val 99873"/>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75000"/>
                  </a:schemeClr>
                </a:solidFill>
              </a:rPr>
              <a:t>有</a:t>
            </a:r>
            <a:r>
              <a:rPr lang="en-US" altLang="zh-CN" dirty="0">
                <a:solidFill>
                  <a:schemeClr val="tx1">
                    <a:lumMod val="75000"/>
                  </a:schemeClr>
                </a:solidFill>
              </a:rPr>
              <a:t>double free()</a:t>
            </a:r>
            <a:r>
              <a:rPr lang="zh-CN" altLang="en-US" dirty="0">
                <a:solidFill>
                  <a:schemeClr val="tx1">
                    <a:lumMod val="75000"/>
                  </a:schemeClr>
                </a:solidFill>
              </a:rPr>
              <a:t>检查机制</a:t>
            </a:r>
            <a:endParaRPr lang="zh-CN" altLang="en-US" dirty="0">
              <a:solidFill>
                <a:schemeClr val="tx1">
                  <a:lumMod val="75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55576" y="1815202"/>
            <a:ext cx="7731454" cy="427809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idx="1"/>
          </p:nvPr>
        </p:nvSpPr>
        <p:spPr/>
        <p:txBody>
          <a:bodyPr/>
          <a:lstStyle/>
          <a:p>
            <a:r>
              <a:rPr kumimoji="1" lang="en-US" altLang="zh-CN" dirty="0"/>
              <a:t>double free()</a:t>
            </a:r>
            <a:endParaRPr kumimoji="1" lang="zh-CN" altLang="en-US" dirty="0"/>
          </a:p>
        </p:txBody>
      </p:sp>
      <p:sp>
        <p:nvSpPr>
          <p:cNvPr id="3" name="内容占位符 2"/>
          <p:cNvSpPr>
            <a:spLocks noGrp="1"/>
          </p:cNvSpPr>
          <p:nvPr>
            <p:ph idx="13"/>
          </p:nvPr>
        </p:nvSpPr>
        <p:spPr>
          <a:xfrm>
            <a:off x="600330" y="1266791"/>
            <a:ext cx="7886700" cy="4870903"/>
          </a:xfrm>
        </p:spPr>
        <p:txBody>
          <a:bodyPr/>
          <a:lstStyle/>
          <a:p>
            <a:r>
              <a:rPr kumimoji="1" lang="zh-CN" altLang="en-US" dirty="0"/>
              <a:t>示例</a:t>
            </a:r>
            <a:endParaRPr kumimoji="1" lang="en-US" altLang="zh-CN" dirty="0"/>
          </a:p>
          <a:p>
            <a:endParaRPr kumimoji="1" lang="en-US" altLang="zh-CN" dirty="0"/>
          </a:p>
          <a:p>
            <a:pPr marL="0" indent="0">
              <a:buNone/>
            </a:pPr>
            <a:r>
              <a:rPr kumimoji="1" lang="en-US" altLang="zh-CN" dirty="0"/>
              <a:t>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sp>
        <p:nvSpPr>
          <p:cNvPr id="22" name="矩形 21"/>
          <p:cNvSpPr/>
          <p:nvPr/>
        </p:nvSpPr>
        <p:spPr>
          <a:xfrm>
            <a:off x="107950" y="6537722"/>
            <a:ext cx="5688632" cy="276999"/>
          </a:xfrm>
          <a:prstGeom prst="rect">
            <a:avLst/>
          </a:prstGeom>
        </p:spPr>
        <p:txBody>
          <a:bodyPr wrap="square">
            <a:spAutoFit/>
          </a:bodyPr>
          <a:lstStyle/>
          <a:p>
            <a:r>
              <a:rPr lang="zh-CN" altLang="en-US" sz="1200" dirty="0"/>
              <a:t>参考链接：</a:t>
            </a:r>
            <a:r>
              <a:rPr lang="en-US" altLang="zh-CN" sz="1200" dirty="0">
                <a:hlinkClick r:id="rId1"/>
              </a:rPr>
              <a:t>https://heap-exploitation.dhavalkapil.com/attacks/double_free.html</a:t>
            </a:r>
            <a:endParaRPr lang="en-US" altLang="zh-CN" sz="1200" dirty="0"/>
          </a:p>
        </p:txBody>
      </p:sp>
      <p:sp>
        <p:nvSpPr>
          <p:cNvPr id="5" name="矩形 4"/>
          <p:cNvSpPr/>
          <p:nvPr/>
        </p:nvSpPr>
        <p:spPr>
          <a:xfrm>
            <a:off x="971600" y="1844824"/>
            <a:ext cx="6867358" cy="4278094"/>
          </a:xfrm>
          <a:prstGeom prst="rect">
            <a:avLst/>
          </a:prstGeom>
        </p:spPr>
        <p:txBody>
          <a:bodyPr wrap="square">
            <a:spAutoFit/>
          </a:bodyPr>
          <a:lstStyle/>
          <a:p>
            <a:r>
              <a:rPr lang="en-US" altLang="zh-CN" sz="1600" dirty="0">
                <a:solidFill>
                  <a:srgbClr val="808080"/>
                </a:solidFill>
                <a:latin typeface="Bahnschrift" panose="020B0502040204020203" pitchFamily="34" charset="0"/>
                <a:ea typeface="Yu Gothic UI Semibold" panose="020B0700000000000000" pitchFamily="34" charset="-128"/>
              </a:rPr>
              <a:t>#include</a:t>
            </a:r>
            <a:r>
              <a:rPr lang="en-US" altLang="zh-CN" sz="1600" dirty="0">
                <a:solidFill>
                  <a:srgbClr val="A31515"/>
                </a:solidFill>
                <a:latin typeface="Bahnschrift" panose="020B0502040204020203" pitchFamily="34" charset="0"/>
                <a:ea typeface="Yu Gothic UI Semibold" panose="020B0700000000000000" pitchFamily="34" charset="-128"/>
              </a:rPr>
              <a:t>&lt;</a:t>
            </a:r>
            <a:r>
              <a:rPr lang="en-US" altLang="zh-CN" sz="1600" dirty="0" err="1">
                <a:solidFill>
                  <a:srgbClr val="A31515"/>
                </a:solidFill>
                <a:latin typeface="Bahnschrift" panose="020B0502040204020203" pitchFamily="34" charset="0"/>
                <a:ea typeface="Yu Gothic UI Semibold" panose="020B0700000000000000" pitchFamily="34" charset="-128"/>
              </a:rPr>
              <a:t>stdio.h</a:t>
            </a:r>
            <a:r>
              <a:rPr lang="en-US" altLang="zh-CN" sz="1600" dirty="0">
                <a:solidFill>
                  <a:srgbClr val="A31515"/>
                </a:solidFill>
                <a:latin typeface="Bahnschrift" panose="020B0502040204020203" pitchFamily="34" charset="0"/>
                <a:ea typeface="Yu Gothic UI Semibold" panose="020B0700000000000000" pitchFamily="34" charset="-128"/>
              </a:rPr>
              <a:t>&gt;</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808080"/>
                </a:solidFill>
                <a:latin typeface="Bahnschrift" panose="020B0502040204020203" pitchFamily="34" charset="0"/>
                <a:ea typeface="Yu Gothic UI Semibold" panose="020B0700000000000000" pitchFamily="34" charset="-128"/>
              </a:rPr>
              <a:t>#include</a:t>
            </a:r>
            <a:r>
              <a:rPr lang="en-US" altLang="zh-CN" sz="1600" dirty="0">
                <a:solidFill>
                  <a:srgbClr val="A31515"/>
                </a:solidFill>
                <a:latin typeface="Bahnschrift" panose="020B0502040204020203" pitchFamily="34" charset="0"/>
                <a:ea typeface="Yu Gothic UI Semibold" panose="020B0700000000000000" pitchFamily="34" charset="-128"/>
              </a:rPr>
              <a:t>&lt;</a:t>
            </a:r>
            <a:r>
              <a:rPr lang="en-US" altLang="zh-CN" sz="1600" dirty="0" err="1">
                <a:solidFill>
                  <a:srgbClr val="A31515"/>
                </a:solidFill>
                <a:latin typeface="Bahnschrift" panose="020B0502040204020203" pitchFamily="34" charset="0"/>
                <a:ea typeface="Yu Gothic UI Semibold" panose="020B0700000000000000" pitchFamily="34" charset="-128"/>
              </a:rPr>
              <a:t>stdlib.h</a:t>
            </a:r>
            <a:r>
              <a:rPr lang="en-US" altLang="zh-CN" sz="1600" dirty="0">
                <a:solidFill>
                  <a:srgbClr val="A31515"/>
                </a:solidFill>
                <a:latin typeface="Bahnschrift" panose="020B0502040204020203" pitchFamily="34" charset="0"/>
                <a:ea typeface="Yu Gothic UI Semibold" panose="020B0700000000000000" pitchFamily="34" charset="-128"/>
              </a:rPr>
              <a:t>&gt;</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FF"/>
                </a:solidFill>
                <a:latin typeface="Bahnschrift" panose="020B0502040204020203" pitchFamily="34" charset="0"/>
                <a:ea typeface="Yu Gothic UI Semibold" panose="020B0700000000000000" pitchFamily="34" charset="-128"/>
              </a:rPr>
              <a:t>int</a:t>
            </a:r>
            <a:r>
              <a:rPr lang="en-US" altLang="zh-CN" sz="1600" dirty="0">
                <a:solidFill>
                  <a:srgbClr val="000000"/>
                </a:solidFill>
                <a:latin typeface="Bahnschrift" panose="020B0502040204020203" pitchFamily="34" charset="0"/>
                <a:ea typeface="Yu Gothic UI Semibold" panose="020B0700000000000000" pitchFamily="34" charset="-128"/>
              </a:rPr>
              <a:t> main()</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00"/>
                </a:solidFill>
                <a:latin typeface="Bahnschrift" panose="020B0502040204020203" pitchFamily="34" charset="0"/>
                <a:ea typeface="Yu Gothic UI Semibold" panose="020B0700000000000000" pitchFamily="34" charset="-128"/>
              </a:rPr>
              <a:t>{</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00"/>
                </a:solidFill>
                <a:latin typeface="Bahnschrift" panose="020B0502040204020203" pitchFamily="34" charset="0"/>
                <a:ea typeface="Yu Gothic UI Semibold" panose="020B0700000000000000" pitchFamily="34" charset="-128"/>
              </a:rPr>
              <a:t>	</a:t>
            </a:r>
            <a:r>
              <a:rPr lang="en-US" altLang="zh-CN" sz="1600" dirty="0">
                <a:solidFill>
                  <a:srgbClr val="0000FF"/>
                </a:solidFill>
                <a:latin typeface="Bahnschrift" panose="020B0502040204020203" pitchFamily="34" charset="0"/>
                <a:ea typeface="Yu Gothic UI Semibold" panose="020B0700000000000000" pitchFamily="34" charset="-128"/>
              </a:rPr>
              <a:t>int</a:t>
            </a:r>
            <a:r>
              <a:rPr lang="en-US" altLang="zh-CN" sz="1600" dirty="0">
                <a:solidFill>
                  <a:srgbClr val="000000"/>
                </a:solidFill>
                <a:latin typeface="Bahnschrift" panose="020B0502040204020203" pitchFamily="34" charset="0"/>
                <a:ea typeface="Yu Gothic UI Semibold" panose="020B0700000000000000" pitchFamily="34" charset="-128"/>
              </a:rPr>
              <a:t> * a = malloc(10);</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FF"/>
                </a:solidFill>
                <a:latin typeface="Bahnschrift" panose="020B0502040204020203" pitchFamily="34" charset="0"/>
                <a:ea typeface="Yu Gothic UI Semibold" panose="020B0700000000000000" pitchFamily="34" charset="-128"/>
              </a:rPr>
              <a:t>	int</a:t>
            </a:r>
            <a:r>
              <a:rPr lang="en-US" altLang="zh-CN" sz="1600" dirty="0">
                <a:solidFill>
                  <a:srgbClr val="000000"/>
                </a:solidFill>
                <a:latin typeface="Bahnschrift" panose="020B0502040204020203" pitchFamily="34" charset="0"/>
                <a:ea typeface="Yu Gothic UI Semibold" panose="020B0700000000000000" pitchFamily="34" charset="-128"/>
              </a:rPr>
              <a:t> * b = malloc(10);</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FF"/>
                </a:solidFill>
                <a:latin typeface="Bahnschrift" panose="020B0502040204020203" pitchFamily="34" charset="0"/>
                <a:ea typeface="Yu Gothic UI Semibold" panose="020B0700000000000000" pitchFamily="34" charset="-128"/>
              </a:rPr>
              <a:t>	int</a:t>
            </a:r>
            <a:r>
              <a:rPr lang="en-US" altLang="zh-CN" sz="1600" dirty="0">
                <a:solidFill>
                  <a:srgbClr val="000000"/>
                </a:solidFill>
                <a:latin typeface="Bahnschrift" panose="020B0502040204020203" pitchFamily="34" charset="0"/>
                <a:ea typeface="Yu Gothic UI Semibold" panose="020B0700000000000000" pitchFamily="34" charset="-128"/>
              </a:rPr>
              <a:t> * c = malloc(10);</a:t>
            </a:r>
            <a:endParaRPr lang="zh-CN" altLang="en-US"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00"/>
                </a:solidFill>
                <a:latin typeface="Bahnschrift" panose="020B0502040204020203" pitchFamily="34" charset="0"/>
                <a:ea typeface="Yu Gothic UI Semibold" panose="020B0700000000000000" pitchFamily="34" charset="-128"/>
              </a:rPr>
              <a:t>	</a:t>
            </a:r>
            <a:r>
              <a:rPr lang="en-US" altLang="zh-CN" sz="1600" dirty="0" err="1">
                <a:solidFill>
                  <a:srgbClr val="000000"/>
                </a:solidFill>
                <a:latin typeface="Bahnschrift" panose="020B0502040204020203" pitchFamily="34" charset="0"/>
                <a:ea typeface="Yu Gothic UI Semibold" panose="020B0700000000000000" pitchFamily="34" charset="-128"/>
              </a:rPr>
              <a:t>printf</a:t>
            </a:r>
            <a:r>
              <a:rPr lang="en-US" altLang="zh-CN" sz="1600" dirty="0">
                <a:solidFill>
                  <a:srgbClr val="000000"/>
                </a:solidFill>
                <a:latin typeface="Bahnschrift" panose="020B0502040204020203" pitchFamily="34" charset="0"/>
                <a:ea typeface="Yu Gothic UI Semibold" panose="020B0700000000000000" pitchFamily="34" charset="-128"/>
              </a:rPr>
              <a:t>(</a:t>
            </a:r>
            <a:r>
              <a:rPr lang="en-US" altLang="zh-CN" sz="1600" dirty="0">
                <a:solidFill>
                  <a:srgbClr val="A31515"/>
                </a:solidFill>
                <a:latin typeface="Bahnschrift" panose="020B0502040204020203" pitchFamily="34" charset="0"/>
                <a:ea typeface="Yu Gothic UI Semibold" panose="020B0700000000000000" pitchFamily="34" charset="-128"/>
              </a:rPr>
              <a:t>"Before free:\na:0x%08x\tb:0x%08x\tc:0x%08x\n"</a:t>
            </a:r>
            <a:r>
              <a:rPr lang="en-US" altLang="zh-CN" sz="1600" dirty="0">
                <a:solidFill>
                  <a:srgbClr val="000000"/>
                </a:solidFill>
                <a:latin typeface="Bahnschrift" panose="020B0502040204020203" pitchFamily="34" charset="0"/>
                <a:ea typeface="Yu Gothic UI Semibold" panose="020B0700000000000000" pitchFamily="34" charset="-128"/>
              </a:rPr>
              <a:t>, a, b, c);</a:t>
            </a:r>
            <a:endParaRPr lang="zh-CN" altLang="en-US"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00"/>
                </a:solidFill>
                <a:latin typeface="Bahnschrift" panose="020B0502040204020203" pitchFamily="34" charset="0"/>
                <a:ea typeface="Yu Gothic UI Semibold" panose="020B0700000000000000" pitchFamily="34" charset="-128"/>
              </a:rPr>
              <a:t>	free(a);</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00"/>
                </a:solidFill>
                <a:latin typeface="Bahnschrift" panose="020B0502040204020203" pitchFamily="34" charset="0"/>
                <a:ea typeface="Yu Gothic UI Semibold" panose="020B0700000000000000" pitchFamily="34" charset="-128"/>
              </a:rPr>
              <a:t>	free(b); </a:t>
            </a:r>
            <a:r>
              <a:rPr lang="en-US" altLang="zh-CN" sz="1600" dirty="0">
                <a:solidFill>
                  <a:srgbClr val="008000"/>
                </a:solidFill>
                <a:latin typeface="Bahnschrift" panose="020B0502040204020203" pitchFamily="34" charset="0"/>
                <a:ea typeface="Yu Gothic UI Semibold" panose="020B0700000000000000" pitchFamily="34" charset="-128"/>
              </a:rPr>
              <a:t>//To bypass "double free or corruption" check</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00"/>
                </a:solidFill>
                <a:latin typeface="Bahnschrift" panose="020B0502040204020203" pitchFamily="34" charset="0"/>
                <a:ea typeface="Yu Gothic UI Semibold" panose="020B0700000000000000" pitchFamily="34" charset="-128"/>
              </a:rPr>
              <a:t>	free(a); </a:t>
            </a:r>
            <a:r>
              <a:rPr lang="en-US" altLang="zh-CN" sz="1600" dirty="0">
                <a:solidFill>
                  <a:srgbClr val="008000"/>
                </a:solidFill>
                <a:latin typeface="Bahnschrift" panose="020B0502040204020203" pitchFamily="34" charset="0"/>
                <a:ea typeface="Yu Gothic UI Semibold" panose="020B0700000000000000" pitchFamily="34" charset="-128"/>
              </a:rPr>
              <a:t>//Double free</a:t>
            </a:r>
            <a:endParaRPr lang="zh-CN" altLang="en-US"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FF"/>
                </a:solidFill>
                <a:latin typeface="Bahnschrift" panose="020B0502040204020203" pitchFamily="34" charset="0"/>
                <a:ea typeface="Yu Gothic UI Semibold" panose="020B0700000000000000" pitchFamily="34" charset="-128"/>
              </a:rPr>
              <a:t>	int</a:t>
            </a:r>
            <a:r>
              <a:rPr lang="en-US" altLang="zh-CN" sz="1600" dirty="0">
                <a:solidFill>
                  <a:srgbClr val="000000"/>
                </a:solidFill>
                <a:latin typeface="Bahnschrift" panose="020B0502040204020203" pitchFamily="34" charset="0"/>
                <a:ea typeface="Yu Gothic UI Semibold" panose="020B0700000000000000" pitchFamily="34" charset="-128"/>
              </a:rPr>
              <a:t> * d = malloc(10);</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FF"/>
                </a:solidFill>
                <a:latin typeface="Bahnschrift" panose="020B0502040204020203" pitchFamily="34" charset="0"/>
                <a:ea typeface="Yu Gothic UI Semibold" panose="020B0700000000000000" pitchFamily="34" charset="-128"/>
              </a:rPr>
              <a:t>	int</a:t>
            </a:r>
            <a:r>
              <a:rPr lang="en-US" altLang="zh-CN" sz="1600" dirty="0">
                <a:solidFill>
                  <a:srgbClr val="000000"/>
                </a:solidFill>
                <a:latin typeface="Bahnschrift" panose="020B0502040204020203" pitchFamily="34" charset="0"/>
                <a:ea typeface="Yu Gothic UI Semibold" panose="020B0700000000000000" pitchFamily="34" charset="-128"/>
              </a:rPr>
              <a:t> * e = malloc(10);</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FF"/>
                </a:solidFill>
                <a:latin typeface="Bahnschrift" panose="020B0502040204020203" pitchFamily="34" charset="0"/>
                <a:ea typeface="Yu Gothic UI Semibold" panose="020B0700000000000000" pitchFamily="34" charset="-128"/>
              </a:rPr>
              <a:t>	int</a:t>
            </a:r>
            <a:r>
              <a:rPr lang="en-US" altLang="zh-CN" sz="1600" dirty="0">
                <a:solidFill>
                  <a:srgbClr val="000000"/>
                </a:solidFill>
                <a:latin typeface="Bahnschrift" panose="020B0502040204020203" pitchFamily="34" charset="0"/>
                <a:ea typeface="Yu Gothic UI Semibold" panose="020B0700000000000000" pitchFamily="34" charset="-128"/>
              </a:rPr>
              <a:t> * f = malloc(10);</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00"/>
                </a:solidFill>
                <a:latin typeface="Bahnschrift" panose="020B0502040204020203" pitchFamily="34" charset="0"/>
                <a:ea typeface="Yu Gothic UI Semibold" panose="020B0700000000000000" pitchFamily="34" charset="-128"/>
              </a:rPr>
              <a:t>	</a:t>
            </a:r>
            <a:r>
              <a:rPr lang="en-US" altLang="zh-CN" sz="1600" dirty="0" err="1">
                <a:solidFill>
                  <a:srgbClr val="000000"/>
                </a:solidFill>
                <a:latin typeface="Bahnschrift" panose="020B0502040204020203" pitchFamily="34" charset="0"/>
                <a:ea typeface="Yu Gothic UI Semibold" panose="020B0700000000000000" pitchFamily="34" charset="-128"/>
              </a:rPr>
              <a:t>printf</a:t>
            </a:r>
            <a:r>
              <a:rPr lang="en-US" altLang="zh-CN" sz="1600" dirty="0">
                <a:solidFill>
                  <a:srgbClr val="000000"/>
                </a:solidFill>
                <a:latin typeface="Bahnschrift" panose="020B0502040204020203" pitchFamily="34" charset="0"/>
                <a:ea typeface="Yu Gothic UI Semibold" panose="020B0700000000000000" pitchFamily="34" charset="-128"/>
              </a:rPr>
              <a:t>(</a:t>
            </a:r>
            <a:r>
              <a:rPr lang="en-US" altLang="zh-CN" sz="1600" dirty="0">
                <a:solidFill>
                  <a:srgbClr val="A31515"/>
                </a:solidFill>
                <a:latin typeface="Bahnschrift" panose="020B0502040204020203" pitchFamily="34" charset="0"/>
                <a:ea typeface="Yu Gothic UI Semibold" panose="020B0700000000000000" pitchFamily="34" charset="-128"/>
              </a:rPr>
              <a:t>"After free:\nd:0x%08x\te:0x%08x\tf:0x%08x\n"</a:t>
            </a:r>
            <a:r>
              <a:rPr lang="en-US" altLang="zh-CN" sz="1600" dirty="0">
                <a:solidFill>
                  <a:srgbClr val="000000"/>
                </a:solidFill>
                <a:latin typeface="Bahnschrift" panose="020B0502040204020203" pitchFamily="34" charset="0"/>
                <a:ea typeface="Yu Gothic UI Semibold" panose="020B0700000000000000" pitchFamily="34" charset="-128"/>
              </a:rPr>
              <a:t>, d, e, f);</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FF"/>
                </a:solidFill>
                <a:latin typeface="Bahnschrift" panose="020B0502040204020203" pitchFamily="34" charset="0"/>
                <a:ea typeface="Yu Gothic UI Semibold" panose="020B0700000000000000" pitchFamily="34" charset="-128"/>
              </a:rPr>
              <a:t>	return</a:t>
            </a:r>
            <a:r>
              <a:rPr lang="en-US" altLang="zh-CN" sz="1600" dirty="0">
                <a:solidFill>
                  <a:srgbClr val="000000"/>
                </a:solidFill>
                <a:latin typeface="Bahnschrift" panose="020B0502040204020203" pitchFamily="34" charset="0"/>
                <a:ea typeface="Yu Gothic UI Semibold" panose="020B0700000000000000" pitchFamily="34" charset="-128"/>
              </a:rPr>
              <a:t> 0;</a:t>
            </a:r>
            <a:endParaRPr lang="en-US" altLang="zh-CN" sz="1600" dirty="0">
              <a:solidFill>
                <a:srgbClr val="000000"/>
              </a:solidFill>
              <a:latin typeface="Bahnschrift" panose="020B0502040204020203" pitchFamily="34" charset="0"/>
              <a:ea typeface="Yu Gothic UI Semibold" panose="020B0700000000000000" pitchFamily="34" charset="-128"/>
            </a:endParaRPr>
          </a:p>
          <a:p>
            <a:r>
              <a:rPr lang="en-US" altLang="zh-CN" sz="1600" dirty="0">
                <a:solidFill>
                  <a:srgbClr val="000000"/>
                </a:solidFill>
                <a:latin typeface="Bahnschrift" panose="020B0502040204020203" pitchFamily="34" charset="0"/>
                <a:ea typeface="Yu Gothic UI Semibold" panose="020B0700000000000000" pitchFamily="34" charset="-128"/>
              </a:rPr>
              <a:t>}</a:t>
            </a:r>
            <a:endParaRPr lang="zh-CN" altLang="en-US" sz="1600" dirty="0">
              <a:latin typeface="Bahnschrift" panose="020B0502040204020203" pitchFamily="34" charset="0"/>
              <a:ea typeface="Yu Gothic UI Semibold" panose="020B0700000000000000" pitchFamily="34" charset="-128"/>
            </a:endParaRPr>
          </a:p>
        </p:txBody>
      </p:sp>
      <p:sp>
        <p:nvSpPr>
          <p:cNvPr id="8" name="对话气泡: 圆角矩形 7"/>
          <p:cNvSpPr/>
          <p:nvPr/>
        </p:nvSpPr>
        <p:spPr>
          <a:xfrm>
            <a:off x="4405279" y="2011145"/>
            <a:ext cx="3240360" cy="1010174"/>
          </a:xfrm>
          <a:prstGeom prst="wedgeRoundRectCallout">
            <a:avLst>
              <a:gd name="adj1" fmla="val -41299"/>
              <a:gd name="adj2" fmla="val 82297"/>
              <a:gd name="adj3" fmla="val 16667"/>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75000"/>
                  </a:schemeClr>
                </a:solidFill>
              </a:rPr>
              <a:t>正在释放的指针不能是</a:t>
            </a:r>
            <a:r>
              <a:rPr lang="en-US" altLang="zh-CN" dirty="0" err="1">
                <a:solidFill>
                  <a:schemeClr val="tx1">
                    <a:lumMod val="75000"/>
                  </a:schemeClr>
                </a:solidFill>
              </a:rPr>
              <a:t>fastbin</a:t>
            </a:r>
            <a:r>
              <a:rPr lang="zh-CN" altLang="en-US" dirty="0">
                <a:solidFill>
                  <a:schemeClr val="tx1">
                    <a:lumMod val="75000"/>
                  </a:schemeClr>
                </a:solidFill>
              </a:rPr>
              <a:t>链表的最后一项</a:t>
            </a:r>
            <a:endParaRPr lang="zh-CN" altLang="en-US" dirty="0">
              <a:solidFill>
                <a:schemeClr val="tx1">
                  <a:lumMod val="75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en-US" altLang="zh-CN" dirty="0"/>
              <a:t>double free()</a:t>
            </a:r>
            <a:endParaRPr kumimoji="1" lang="zh-CN" altLang="en-US" dirty="0"/>
          </a:p>
        </p:txBody>
      </p:sp>
      <p:sp>
        <p:nvSpPr>
          <p:cNvPr id="3" name="内容占位符 2"/>
          <p:cNvSpPr>
            <a:spLocks noGrp="1"/>
          </p:cNvSpPr>
          <p:nvPr>
            <p:ph idx="13"/>
          </p:nvPr>
        </p:nvSpPr>
        <p:spPr/>
        <p:txBody>
          <a:bodyPr/>
          <a:lstStyle/>
          <a:p>
            <a:r>
              <a:rPr kumimoji="1" lang="zh-CN" altLang="en-US" dirty="0"/>
              <a:t>示例</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61239" y="4900006"/>
            <a:ext cx="6166749" cy="968451"/>
          </a:xfrm>
          <a:prstGeom prst="rect">
            <a:avLst/>
          </a:prstGeom>
        </p:spPr>
      </p:pic>
      <p:sp>
        <p:nvSpPr>
          <p:cNvPr id="17" name="矩形 16"/>
          <p:cNvSpPr/>
          <p:nvPr/>
        </p:nvSpPr>
        <p:spPr>
          <a:xfrm>
            <a:off x="1691800" y="5611456"/>
            <a:ext cx="1872208" cy="2908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868144" y="5596254"/>
            <a:ext cx="1872208" cy="2908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03648" y="2079794"/>
            <a:ext cx="1656184" cy="383307"/>
          </a:xfrm>
          <a:prstGeom prst="rect">
            <a:avLst/>
          </a:prstGeom>
          <a:noFill/>
        </p:spPr>
        <p:txBody>
          <a:bodyPr wrap="square" rtlCol="0">
            <a:spAutoFit/>
          </a:bodyPr>
          <a:lstStyle/>
          <a:p>
            <a:r>
              <a:rPr lang="en-US" altLang="zh-CN" dirty="0" err="1"/>
              <a:t>Fastbin</a:t>
            </a:r>
            <a:r>
              <a:rPr lang="en-US" altLang="zh-CN" dirty="0"/>
              <a:t>-&gt;</a:t>
            </a:r>
            <a:endParaRPr lang="zh-CN" altLang="en-US" dirty="0"/>
          </a:p>
        </p:txBody>
      </p:sp>
      <p:grpSp>
        <p:nvGrpSpPr>
          <p:cNvPr id="21" name="组合 20"/>
          <p:cNvGrpSpPr/>
          <p:nvPr/>
        </p:nvGrpSpPr>
        <p:grpSpPr>
          <a:xfrm>
            <a:off x="2474373" y="2041154"/>
            <a:ext cx="2232248" cy="2262043"/>
            <a:chOff x="2784649" y="1887037"/>
            <a:chExt cx="2232248" cy="2262043"/>
          </a:xfrm>
        </p:grpSpPr>
        <p:sp>
          <p:nvSpPr>
            <p:cNvPr id="5" name="矩形 4"/>
            <p:cNvSpPr/>
            <p:nvPr/>
          </p:nvSpPr>
          <p:spPr>
            <a:xfrm>
              <a:off x="2784649" y="3645024"/>
              <a:ext cx="2232248" cy="504056"/>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0x01048010</a:t>
              </a:r>
              <a:endParaRPr lang="zh-CN" altLang="en-US" dirty="0">
                <a:solidFill>
                  <a:schemeClr val="tx1">
                    <a:lumMod val="75000"/>
                  </a:schemeClr>
                </a:solidFill>
              </a:endParaRPr>
            </a:p>
          </p:txBody>
        </p:sp>
        <p:sp>
          <p:nvSpPr>
            <p:cNvPr id="11" name="矩形 10"/>
            <p:cNvSpPr/>
            <p:nvPr/>
          </p:nvSpPr>
          <p:spPr>
            <a:xfrm>
              <a:off x="2784649" y="2780928"/>
              <a:ext cx="2232248" cy="504056"/>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0x01048030</a:t>
              </a:r>
              <a:endParaRPr lang="zh-CN" altLang="en-US" dirty="0">
                <a:solidFill>
                  <a:schemeClr val="tx1">
                    <a:lumMod val="75000"/>
                  </a:schemeClr>
                </a:solidFill>
              </a:endParaRPr>
            </a:p>
          </p:txBody>
        </p:sp>
        <p:sp>
          <p:nvSpPr>
            <p:cNvPr id="12" name="矩形 11"/>
            <p:cNvSpPr/>
            <p:nvPr/>
          </p:nvSpPr>
          <p:spPr>
            <a:xfrm>
              <a:off x="2784649" y="1887037"/>
              <a:ext cx="2232248" cy="504056"/>
            </a:xfrm>
            <a:prstGeom prst="rect">
              <a:avLst/>
            </a:prstGeom>
            <a:solidFill>
              <a:schemeClr val="bg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0x01048010</a:t>
              </a:r>
              <a:endParaRPr lang="zh-CN" altLang="en-US" dirty="0">
                <a:solidFill>
                  <a:schemeClr val="tx1">
                    <a:lumMod val="75000"/>
                  </a:schemeClr>
                </a:solidFill>
              </a:endParaRPr>
            </a:p>
          </p:txBody>
        </p:sp>
        <p:cxnSp>
          <p:nvCxnSpPr>
            <p:cNvPr id="9" name="直接箭头连接符 8"/>
            <p:cNvCxnSpPr>
              <a:stCxn id="11" idx="2"/>
              <a:endCxn id="5" idx="0"/>
            </p:cNvCxnSpPr>
            <p:nvPr/>
          </p:nvCxnSpPr>
          <p:spPr>
            <a:xfrm>
              <a:off x="3900773" y="3284984"/>
              <a:ext cx="0" cy="36004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12" idx="2"/>
              <a:endCxn id="11" idx="0"/>
            </p:cNvCxnSpPr>
            <p:nvPr/>
          </p:nvCxnSpPr>
          <p:spPr>
            <a:xfrm>
              <a:off x="3900773" y="2391093"/>
              <a:ext cx="0" cy="389835"/>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文本框 21"/>
          <p:cNvSpPr txBox="1"/>
          <p:nvPr/>
        </p:nvSpPr>
        <p:spPr>
          <a:xfrm>
            <a:off x="4860032" y="2079794"/>
            <a:ext cx="432048" cy="369332"/>
          </a:xfrm>
          <a:prstGeom prst="rect">
            <a:avLst/>
          </a:prstGeom>
          <a:noFill/>
        </p:spPr>
        <p:txBody>
          <a:bodyPr wrap="square" rtlCol="0">
            <a:spAutoFit/>
          </a:bodyPr>
          <a:lstStyle/>
          <a:p>
            <a:r>
              <a:rPr lang="en-US" altLang="zh-CN" dirty="0"/>
              <a:t>a</a:t>
            </a:r>
            <a:endParaRPr lang="zh-CN" altLang="en-US" dirty="0"/>
          </a:p>
        </p:txBody>
      </p:sp>
      <p:sp>
        <p:nvSpPr>
          <p:cNvPr id="23" name="文本框 22"/>
          <p:cNvSpPr txBox="1"/>
          <p:nvPr/>
        </p:nvSpPr>
        <p:spPr>
          <a:xfrm>
            <a:off x="4860032" y="3799141"/>
            <a:ext cx="432048" cy="369332"/>
          </a:xfrm>
          <a:prstGeom prst="rect">
            <a:avLst/>
          </a:prstGeom>
          <a:noFill/>
        </p:spPr>
        <p:txBody>
          <a:bodyPr wrap="square" rtlCol="0">
            <a:spAutoFit/>
          </a:bodyPr>
          <a:lstStyle/>
          <a:p>
            <a:r>
              <a:rPr lang="en-US" altLang="zh-CN" dirty="0"/>
              <a:t>a</a:t>
            </a:r>
            <a:endParaRPr lang="zh-CN" altLang="en-US" dirty="0"/>
          </a:p>
        </p:txBody>
      </p:sp>
      <p:sp>
        <p:nvSpPr>
          <p:cNvPr id="24" name="文本框 23"/>
          <p:cNvSpPr txBox="1"/>
          <p:nvPr/>
        </p:nvSpPr>
        <p:spPr>
          <a:xfrm>
            <a:off x="4860032" y="2987660"/>
            <a:ext cx="432048" cy="369332"/>
          </a:xfrm>
          <a:prstGeom prst="rect">
            <a:avLst/>
          </a:prstGeom>
          <a:noFill/>
        </p:spPr>
        <p:txBody>
          <a:bodyPr wrap="square" rtlCol="0">
            <a:spAutoFit/>
          </a:bodyPr>
          <a:lstStyle/>
          <a:p>
            <a:r>
              <a:rPr lang="en-US" altLang="zh-CN" dirty="0"/>
              <a:t>b</a:t>
            </a:r>
            <a:endParaRPr lang="zh-CN" altLang="en-US" dirty="0"/>
          </a:p>
        </p:txBody>
      </p:sp>
      <p:sp>
        <p:nvSpPr>
          <p:cNvPr id="27" name="文本框 26"/>
          <p:cNvSpPr txBox="1"/>
          <p:nvPr/>
        </p:nvSpPr>
        <p:spPr>
          <a:xfrm>
            <a:off x="5980853" y="2082969"/>
            <a:ext cx="1845723" cy="369332"/>
          </a:xfrm>
          <a:prstGeom prst="rect">
            <a:avLst/>
          </a:prstGeom>
          <a:noFill/>
        </p:spPr>
        <p:txBody>
          <a:bodyPr wrap="square" rtlCol="0">
            <a:spAutoFit/>
          </a:bodyPr>
          <a:lstStyle/>
          <a:p>
            <a:r>
              <a:rPr lang="zh-CN" altLang="en-US" dirty="0"/>
              <a:t>只使用</a:t>
            </a:r>
            <a:r>
              <a:rPr lang="en-US" altLang="zh-CN" dirty="0" err="1"/>
              <a:t>fd</a:t>
            </a:r>
            <a:r>
              <a:rPr lang="zh-CN" altLang="en-US" dirty="0"/>
              <a:t>指针</a:t>
            </a:r>
            <a:endParaRPr lang="zh-CN" altLang="en-US" dirty="0"/>
          </a:p>
        </p:txBody>
      </p:sp>
      <p:sp>
        <p:nvSpPr>
          <p:cNvPr id="8" name="对话气泡: 圆角矩形 7"/>
          <p:cNvSpPr/>
          <p:nvPr/>
        </p:nvSpPr>
        <p:spPr>
          <a:xfrm>
            <a:off x="5652121" y="3496864"/>
            <a:ext cx="2605664" cy="832684"/>
          </a:xfrm>
          <a:prstGeom prst="wedgeRoundRectCallout">
            <a:avLst>
              <a:gd name="adj1" fmla="val -37119"/>
              <a:gd name="adj2" fmla="val 103530"/>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d</a:t>
            </a:r>
            <a:r>
              <a:rPr lang="zh-CN" altLang="en-US" dirty="0">
                <a:solidFill>
                  <a:schemeClr val="tx1">
                    <a:lumMod val="75000"/>
                  </a:schemeClr>
                </a:solidFill>
              </a:rPr>
              <a:t>和</a:t>
            </a:r>
            <a:r>
              <a:rPr lang="en-US" altLang="zh-CN" dirty="0">
                <a:solidFill>
                  <a:schemeClr val="tx1">
                    <a:lumMod val="75000"/>
                  </a:schemeClr>
                </a:solidFill>
              </a:rPr>
              <a:t>f</a:t>
            </a:r>
            <a:r>
              <a:rPr lang="zh-CN" altLang="en-US" dirty="0">
                <a:solidFill>
                  <a:schemeClr val="tx1">
                    <a:lumMod val="75000"/>
                  </a:schemeClr>
                </a:solidFill>
              </a:rPr>
              <a:t>指向同一块内存</a:t>
            </a:r>
            <a:endParaRPr lang="zh-CN" altLang="en-US" dirty="0">
              <a:solidFill>
                <a:schemeClr val="tx1">
                  <a:lumMod val="75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en-US" altLang="zh-CN" dirty="0"/>
              <a:t>double free()</a:t>
            </a:r>
            <a:endParaRPr kumimoji="1" lang="zh-CN" altLang="en-US" dirty="0"/>
          </a:p>
        </p:txBody>
      </p:sp>
      <p:sp>
        <p:nvSpPr>
          <p:cNvPr id="3" name="内容占位符 2"/>
          <p:cNvSpPr>
            <a:spLocks noGrp="1"/>
          </p:cNvSpPr>
          <p:nvPr>
            <p:ph idx="13"/>
          </p:nvPr>
        </p:nvSpPr>
        <p:spPr/>
        <p:txBody>
          <a:bodyPr/>
          <a:lstStyle/>
          <a:p>
            <a:r>
              <a:rPr kumimoji="1" lang="en-US" altLang="zh-CN" dirty="0"/>
              <a:t>double</a:t>
            </a:r>
            <a:r>
              <a:rPr kumimoji="1" lang="zh-CN" altLang="en-US" dirty="0"/>
              <a:t> </a:t>
            </a:r>
            <a:r>
              <a:rPr kumimoji="1" lang="en-US" altLang="zh-CN" dirty="0"/>
              <a:t>free()</a:t>
            </a:r>
            <a:r>
              <a:rPr kumimoji="1" lang="zh-CN" altLang="en-US" dirty="0"/>
              <a:t>能用来做什么？</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sp>
        <p:nvSpPr>
          <p:cNvPr id="5" name="思想气泡: 云 4"/>
          <p:cNvSpPr/>
          <p:nvPr/>
        </p:nvSpPr>
        <p:spPr>
          <a:xfrm>
            <a:off x="3275856" y="2708920"/>
            <a:ext cx="2952328" cy="2016224"/>
          </a:xfrm>
          <a:prstGeom prst="cloudCallout">
            <a:avLst/>
          </a:prstGeom>
          <a:noFill/>
          <a:ln w="19050">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75000"/>
                  </a:schemeClr>
                </a:solidFill>
              </a:rPr>
              <a:t>稍后实验演示</a:t>
            </a:r>
            <a:endParaRPr lang="zh-CN" altLang="en-US" b="1" dirty="0">
              <a:solidFill>
                <a:schemeClr val="tx1">
                  <a:lumMod val="75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en-US" altLang="zh-CN" dirty="0"/>
              <a:t>User after free </a:t>
            </a:r>
            <a:endParaRPr kumimoji="1" lang="zh-CN" altLang="en-US" dirty="0"/>
          </a:p>
        </p:txBody>
      </p:sp>
      <p:sp>
        <p:nvSpPr>
          <p:cNvPr id="3" name="内容占位符 2"/>
          <p:cNvSpPr>
            <a:spLocks noGrp="1"/>
          </p:cNvSpPr>
          <p:nvPr>
            <p:ph idx="13"/>
          </p:nvPr>
        </p:nvSpPr>
        <p:spPr/>
        <p:txBody>
          <a:bodyPr/>
          <a:lstStyle/>
          <a:p>
            <a:r>
              <a:rPr kumimoji="1" lang="en-US" altLang="zh-CN" dirty="0"/>
              <a:t>Use After Free </a:t>
            </a:r>
            <a:r>
              <a:rPr kumimoji="1" lang="zh-CN" altLang="en-US" dirty="0"/>
              <a:t>就是其字面所表达的意思，当一个内存块被释放之后再次被使用。但是其实这里有以下几种情况</a:t>
            </a:r>
            <a:endParaRPr kumimoji="1" lang="zh-CN" altLang="en-US" dirty="0"/>
          </a:p>
          <a:p>
            <a:pPr lvl="1"/>
            <a:r>
              <a:rPr kumimoji="1" lang="zh-CN" altLang="en-US" dirty="0"/>
              <a:t>内存块被释放后，其对应的指针被设置为 </a:t>
            </a:r>
            <a:r>
              <a:rPr kumimoji="1" lang="en-US" altLang="zh-CN" dirty="0"/>
              <a:t>NULL </a:t>
            </a:r>
            <a:r>
              <a:rPr kumimoji="1" lang="zh-CN" altLang="en-US" dirty="0"/>
              <a:t>， 然后再次使用，自然程序会崩溃。</a:t>
            </a:r>
            <a:endParaRPr kumimoji="1" lang="zh-CN" altLang="en-US" dirty="0"/>
          </a:p>
          <a:p>
            <a:pPr lvl="1"/>
            <a:r>
              <a:rPr kumimoji="1" lang="zh-CN" altLang="en-US" dirty="0"/>
              <a:t>内存块被释放后，其对应的指针没有被设置为 </a:t>
            </a:r>
            <a:r>
              <a:rPr kumimoji="1" lang="en-US" altLang="zh-CN" dirty="0"/>
              <a:t>NULL </a:t>
            </a:r>
            <a:r>
              <a:rPr kumimoji="1" lang="zh-CN" altLang="en-US" dirty="0"/>
              <a:t>，然后在它下一次被使用之前，没有代码对这块内存块进行修改，那么程序很有可能可以正常运转。</a:t>
            </a:r>
            <a:endParaRPr kumimoji="1" lang="zh-CN" altLang="en-US" dirty="0"/>
          </a:p>
          <a:p>
            <a:pPr lvl="1"/>
            <a:r>
              <a:rPr kumimoji="1" lang="zh-CN" altLang="en-US" dirty="0"/>
              <a:t>内存块被释放后，其对应的指针没有被设置为</a:t>
            </a:r>
            <a:r>
              <a:rPr kumimoji="1" lang="en-US" altLang="zh-CN" dirty="0"/>
              <a:t>NULL</a:t>
            </a:r>
            <a:r>
              <a:rPr kumimoji="1" lang="zh-CN" altLang="en-US" dirty="0"/>
              <a:t>，但是在它下一次使用之前，有代码对这块内存进行了修改，那么当程序再次使用这块内存时，就很有可能会出现奇怪的问题。</a:t>
            </a:r>
            <a:endParaRPr kumimoji="1" lang="zh-CN" altLang="en-US" dirty="0"/>
          </a:p>
          <a:p>
            <a:r>
              <a:rPr kumimoji="1" lang="zh-CN" altLang="en-US" dirty="0"/>
              <a:t>而我们一般所指的 </a:t>
            </a:r>
            <a:r>
              <a:rPr kumimoji="1" lang="en-US" altLang="zh-CN" dirty="0"/>
              <a:t>Use After Free </a:t>
            </a:r>
            <a:r>
              <a:rPr kumimoji="1" lang="zh-CN" altLang="en-US" dirty="0"/>
              <a:t>漏洞主要是后两种。此外，我们一般称被释放后没有被设置为</a:t>
            </a:r>
            <a:r>
              <a:rPr kumimoji="1" lang="en-US" altLang="zh-CN" dirty="0"/>
              <a:t>NULL</a:t>
            </a:r>
            <a:r>
              <a:rPr kumimoji="1" lang="zh-CN" altLang="en-US" dirty="0"/>
              <a:t>的内存指针为</a:t>
            </a:r>
            <a:r>
              <a:rPr kumimoji="1" lang="en-US" altLang="zh-CN" dirty="0"/>
              <a:t>dangling pointer(</a:t>
            </a:r>
            <a:r>
              <a:rPr kumimoji="1" lang="zh-CN" altLang="en-US" dirty="0"/>
              <a:t>野指针</a:t>
            </a:r>
            <a:r>
              <a:rPr kumimoji="1" lang="en-US" altLang="zh-CN" dirty="0"/>
              <a:t>)</a:t>
            </a:r>
            <a:r>
              <a:rPr kumimoji="1" lang="zh-CN" altLang="en-US" dirty="0"/>
              <a:t>。</a:t>
            </a:r>
            <a:endParaRPr kumimoji="1" lang="en-US" altLang="zh-CN" dirty="0"/>
          </a:p>
          <a:p>
            <a:pPr lvl="1"/>
            <a:endParaRPr kumimoji="1" lang="en-US" altLang="zh-CN" dirty="0"/>
          </a:p>
          <a:p>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755576" y="1815202"/>
            <a:ext cx="7731454" cy="4278094"/>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a:spLocks noGrp="1"/>
          </p:cNvSpPr>
          <p:nvPr>
            <p:ph type="body" idx="1"/>
          </p:nvPr>
        </p:nvSpPr>
        <p:spPr/>
        <p:txBody>
          <a:bodyPr/>
          <a:lstStyle/>
          <a:p>
            <a:r>
              <a:rPr kumimoji="1" lang="en-US" altLang="zh-CN" dirty="0"/>
              <a:t>User after free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sp>
        <p:nvSpPr>
          <p:cNvPr id="5" name="内容占位符 4"/>
          <p:cNvSpPr>
            <a:spLocks noGrp="1"/>
          </p:cNvSpPr>
          <p:nvPr>
            <p:ph idx="13"/>
          </p:nvPr>
        </p:nvSpPr>
        <p:spPr>
          <a:xfrm>
            <a:off x="628650" y="1251531"/>
            <a:ext cx="7886700" cy="4870903"/>
          </a:xfrm>
        </p:spPr>
        <p:txBody>
          <a:bodyPr/>
          <a:lstStyle/>
          <a:p>
            <a:r>
              <a:rPr lang="zh-CN" altLang="en-US" dirty="0"/>
              <a:t>示例</a:t>
            </a:r>
            <a:r>
              <a:rPr lang="en-US" altLang="zh-CN" dirty="0"/>
              <a:t>			</a:t>
            </a:r>
            <a:endParaRPr lang="zh-CN" altLang="en-US" dirty="0"/>
          </a:p>
        </p:txBody>
      </p:sp>
      <p:sp>
        <p:nvSpPr>
          <p:cNvPr id="13" name="矩形 12"/>
          <p:cNvSpPr/>
          <p:nvPr/>
        </p:nvSpPr>
        <p:spPr>
          <a:xfrm>
            <a:off x="66675" y="6196439"/>
            <a:ext cx="5688632" cy="646331"/>
          </a:xfrm>
          <a:prstGeom prst="rect">
            <a:avLst/>
          </a:prstGeom>
        </p:spPr>
        <p:txBody>
          <a:bodyPr wrap="square">
            <a:spAutoFit/>
          </a:bodyPr>
          <a:lstStyle/>
          <a:p>
            <a:r>
              <a:rPr lang="zh-CN" altLang="en-US" sz="1200" dirty="0"/>
              <a:t>参考链接：</a:t>
            </a:r>
            <a:endParaRPr lang="en-US" altLang="zh-CN" sz="1200" dirty="0"/>
          </a:p>
          <a:p>
            <a:r>
              <a:rPr lang="en-US" altLang="zh-CN" sz="1200" dirty="0">
                <a:hlinkClick r:id="rId1"/>
              </a:rPr>
              <a:t>https://blog.csdn.net/guilanl/article/details/64906474</a:t>
            </a:r>
            <a:endParaRPr lang="en-US" altLang="zh-CN" sz="1200" dirty="0"/>
          </a:p>
          <a:p>
            <a:r>
              <a:rPr lang="en-US" altLang="zh-CN" sz="1200" dirty="0">
                <a:hlinkClick r:id="rId2"/>
              </a:rPr>
              <a:t>https://blog.csdn.net/qq_27312943/article/details/53152244</a:t>
            </a:r>
            <a:endParaRPr lang="en-US" altLang="zh-CN" sz="1200" dirty="0"/>
          </a:p>
        </p:txBody>
      </p:sp>
      <p:sp>
        <p:nvSpPr>
          <p:cNvPr id="3" name="矩形 2"/>
          <p:cNvSpPr/>
          <p:nvPr/>
        </p:nvSpPr>
        <p:spPr>
          <a:xfrm>
            <a:off x="1187624" y="1831672"/>
            <a:ext cx="5931989" cy="4247317"/>
          </a:xfrm>
          <a:prstGeom prst="rect">
            <a:avLst/>
          </a:prstGeom>
        </p:spPr>
        <p:txBody>
          <a:bodyPr wrap="square">
            <a:spAutoFit/>
          </a:bodyPr>
          <a:lstStyle/>
          <a:p>
            <a:r>
              <a:rPr lang="en-US" altLang="zh-CN" dirty="0">
                <a:solidFill>
                  <a:srgbClr val="808080"/>
                </a:solidFill>
                <a:latin typeface="Bahnschrift" panose="020B0502040204020203" pitchFamily="34" charset="0"/>
                <a:ea typeface="新宋体" panose="02010609030101010101" pitchFamily="49" charset="-122"/>
              </a:rPr>
              <a:t>#include</a:t>
            </a:r>
            <a:r>
              <a:rPr lang="en-US" altLang="zh-CN" dirty="0">
                <a:solidFill>
                  <a:srgbClr val="A31515"/>
                </a:solidFill>
                <a:latin typeface="Bahnschrift" panose="020B0502040204020203" pitchFamily="34" charset="0"/>
                <a:ea typeface="新宋体" panose="02010609030101010101" pitchFamily="49" charset="-122"/>
              </a:rPr>
              <a:t>&lt;</a:t>
            </a:r>
            <a:r>
              <a:rPr lang="en-US" altLang="zh-CN" dirty="0" err="1">
                <a:solidFill>
                  <a:srgbClr val="A31515"/>
                </a:solidFill>
                <a:latin typeface="Bahnschrift" panose="020B0502040204020203" pitchFamily="34" charset="0"/>
                <a:ea typeface="新宋体" panose="02010609030101010101" pitchFamily="49" charset="-122"/>
              </a:rPr>
              <a:t>stdio.h</a:t>
            </a:r>
            <a:r>
              <a:rPr lang="en-US" altLang="zh-CN" dirty="0">
                <a:solidFill>
                  <a:srgbClr val="A31515"/>
                </a:solidFill>
                <a:latin typeface="Bahnschrift" panose="020B0502040204020203" pitchFamily="34" charset="0"/>
                <a:ea typeface="新宋体" panose="02010609030101010101" pitchFamily="49" charset="-122"/>
              </a:rPr>
              <a:t>&gt;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808080"/>
                </a:solidFill>
                <a:latin typeface="Bahnschrift" panose="020B0502040204020203" pitchFamily="34" charset="0"/>
                <a:ea typeface="新宋体" panose="02010609030101010101" pitchFamily="49" charset="-122"/>
              </a:rPr>
              <a:t>#include</a:t>
            </a:r>
            <a:r>
              <a:rPr lang="en-US" altLang="zh-CN" dirty="0">
                <a:solidFill>
                  <a:srgbClr val="A31515"/>
                </a:solidFill>
                <a:latin typeface="Bahnschrift" panose="020B0502040204020203" pitchFamily="34" charset="0"/>
                <a:ea typeface="新宋体" panose="02010609030101010101" pitchFamily="49" charset="-122"/>
              </a:rPr>
              <a:t>&lt;</a:t>
            </a:r>
            <a:r>
              <a:rPr lang="en-US" altLang="zh-CN" dirty="0" err="1">
                <a:solidFill>
                  <a:srgbClr val="A31515"/>
                </a:solidFill>
                <a:latin typeface="Bahnschrift" panose="020B0502040204020203" pitchFamily="34" charset="0"/>
                <a:ea typeface="新宋体" panose="02010609030101010101" pitchFamily="49" charset="-122"/>
              </a:rPr>
              <a:t>stdlib.h</a:t>
            </a:r>
            <a:r>
              <a:rPr lang="en-US" altLang="zh-CN" dirty="0">
                <a:solidFill>
                  <a:srgbClr val="A31515"/>
                </a:solidFill>
                <a:latin typeface="Bahnschrift" panose="020B0502040204020203" pitchFamily="34" charset="0"/>
                <a:ea typeface="新宋体" panose="02010609030101010101" pitchFamily="49" charset="-122"/>
              </a:rPr>
              <a:t>&gt;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808080"/>
                </a:solidFill>
                <a:latin typeface="Bahnschrift" panose="020B0502040204020203" pitchFamily="34" charset="0"/>
                <a:ea typeface="新宋体" panose="02010609030101010101" pitchFamily="49" charset="-122"/>
              </a:rPr>
              <a:t>#include</a:t>
            </a:r>
            <a:r>
              <a:rPr lang="en-US" altLang="zh-CN" dirty="0">
                <a:solidFill>
                  <a:srgbClr val="A31515"/>
                </a:solidFill>
                <a:latin typeface="Bahnschrift" panose="020B0502040204020203" pitchFamily="34" charset="0"/>
                <a:ea typeface="新宋体" panose="02010609030101010101" pitchFamily="49" charset="-122"/>
              </a:rPr>
              <a:t>&lt;</a:t>
            </a:r>
            <a:r>
              <a:rPr lang="en-US" altLang="zh-CN" dirty="0" err="1">
                <a:solidFill>
                  <a:srgbClr val="A31515"/>
                </a:solidFill>
                <a:latin typeface="Bahnschrift" panose="020B0502040204020203" pitchFamily="34" charset="0"/>
                <a:ea typeface="新宋体" panose="02010609030101010101" pitchFamily="49" charset="-122"/>
              </a:rPr>
              <a:t>string.h</a:t>
            </a:r>
            <a:r>
              <a:rPr lang="en-US" altLang="zh-CN" dirty="0">
                <a:solidFill>
                  <a:srgbClr val="A31515"/>
                </a:solidFill>
                <a:latin typeface="Bahnschrift" panose="020B0502040204020203" pitchFamily="34" charset="0"/>
                <a:ea typeface="新宋体" panose="02010609030101010101" pitchFamily="49" charset="-122"/>
              </a:rPr>
              <a:t>&gt;</a:t>
            </a:r>
            <a:endParaRPr lang="zh-CN" altLang="en-US"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int</a:t>
            </a:r>
            <a:r>
              <a:rPr lang="en-US" altLang="zh-CN" dirty="0">
                <a:solidFill>
                  <a:srgbClr val="000000"/>
                </a:solidFill>
                <a:latin typeface="Bahnschrift" panose="020B0502040204020203" pitchFamily="34" charset="0"/>
                <a:ea typeface="新宋体" panose="02010609030101010101" pitchFamily="49" charset="-122"/>
              </a:rPr>
              <a:t> main()</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	char</a:t>
            </a:r>
            <a:r>
              <a:rPr lang="en-US" altLang="zh-CN" dirty="0">
                <a:solidFill>
                  <a:srgbClr val="000000"/>
                </a:solidFill>
                <a:latin typeface="Bahnschrift" panose="020B0502040204020203" pitchFamily="34" charset="0"/>
                <a:ea typeface="新宋体" panose="02010609030101010101" pitchFamily="49" charset="-122"/>
              </a:rPr>
              <a:t> * p1, * p2;</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p1 = (</a:t>
            </a:r>
            <a:r>
              <a:rPr lang="en-US" altLang="zh-CN" dirty="0">
                <a:solidFill>
                  <a:srgbClr val="0000FF"/>
                </a:solidFill>
                <a:latin typeface="Bahnschrift" panose="020B0502040204020203" pitchFamily="34" charset="0"/>
                <a:ea typeface="新宋体" panose="02010609030101010101" pitchFamily="49" charset="-122"/>
              </a:rPr>
              <a:t>char</a:t>
            </a:r>
            <a:r>
              <a:rPr lang="en-US" altLang="zh-CN" dirty="0">
                <a:solidFill>
                  <a:srgbClr val="000000"/>
                </a:solidFill>
                <a:latin typeface="Bahnschrift" panose="020B0502040204020203" pitchFamily="34" charset="0"/>
                <a:ea typeface="新宋体" panose="02010609030101010101" pitchFamily="49" charset="-122"/>
              </a:rPr>
              <a:t> *)malloc(</a:t>
            </a:r>
            <a:r>
              <a:rPr lang="en-US" altLang="zh-CN" dirty="0" err="1">
                <a:solidFill>
                  <a:srgbClr val="0000FF"/>
                </a:solidFill>
                <a:latin typeface="Bahnschrift" panose="020B0502040204020203" pitchFamily="34" charset="0"/>
                <a:ea typeface="新宋体" panose="02010609030101010101" pitchFamily="49" charset="-122"/>
              </a:rPr>
              <a:t>sizeof</a:t>
            </a:r>
            <a:r>
              <a:rPr lang="en-US" altLang="zh-CN" dirty="0">
                <a:solidFill>
                  <a:srgbClr val="000000"/>
                </a:solidFill>
                <a:latin typeface="Bahnschrift" panose="020B0502040204020203" pitchFamily="34" charset="0"/>
                <a:ea typeface="新宋体" panose="02010609030101010101" pitchFamily="49" charset="-122"/>
              </a:rPr>
              <a:t>(</a:t>
            </a:r>
            <a:r>
              <a:rPr lang="en-US" altLang="zh-CN" dirty="0">
                <a:solidFill>
                  <a:srgbClr val="0000FF"/>
                </a:solidFill>
                <a:latin typeface="Bahnschrift" panose="020B0502040204020203" pitchFamily="34" charset="0"/>
                <a:ea typeface="新宋体" panose="02010609030101010101" pitchFamily="49" charset="-122"/>
              </a:rPr>
              <a:t>char</a:t>
            </a:r>
            <a:r>
              <a:rPr lang="en-US" altLang="zh-CN" dirty="0">
                <a:solidFill>
                  <a:srgbClr val="000000"/>
                </a:solidFill>
                <a:latin typeface="Bahnschrift" panose="020B0502040204020203" pitchFamily="34" charset="0"/>
                <a:ea typeface="新宋体" panose="02010609030101010101" pitchFamily="49" charset="-122"/>
              </a:rPr>
              <a:t>) * 10);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a:t>
            </a:r>
            <a:r>
              <a:rPr lang="en-US" altLang="zh-CN" dirty="0" err="1">
                <a:solidFill>
                  <a:srgbClr val="000000"/>
                </a:solidFill>
                <a:latin typeface="Bahnschrift" panose="020B0502040204020203" pitchFamily="34" charset="0"/>
                <a:ea typeface="新宋体" panose="02010609030101010101" pitchFamily="49" charset="-122"/>
              </a:rPr>
              <a:t>memcpy</a:t>
            </a:r>
            <a:r>
              <a:rPr lang="en-US" altLang="zh-CN" dirty="0">
                <a:solidFill>
                  <a:srgbClr val="000000"/>
                </a:solidFill>
                <a:latin typeface="Bahnschrift" panose="020B0502040204020203" pitchFamily="34" charset="0"/>
                <a:ea typeface="新宋体" panose="02010609030101010101" pitchFamily="49" charset="-122"/>
              </a:rPr>
              <a:t>(p1, </a:t>
            </a:r>
            <a:r>
              <a:rPr lang="en-US" altLang="zh-CN" dirty="0">
                <a:solidFill>
                  <a:srgbClr val="A31515"/>
                </a:solidFill>
                <a:latin typeface="Bahnschrift" panose="020B0502040204020203" pitchFamily="34" charset="0"/>
                <a:ea typeface="新宋体" panose="02010609030101010101" pitchFamily="49" charset="-122"/>
              </a:rPr>
              <a:t>"hello"</a:t>
            </a:r>
            <a:r>
              <a:rPr lang="en-US" altLang="zh-CN" dirty="0">
                <a:solidFill>
                  <a:srgbClr val="000000"/>
                </a:solidFill>
                <a:latin typeface="Bahnschrift" panose="020B0502040204020203" pitchFamily="34" charset="0"/>
                <a:ea typeface="新宋体" panose="02010609030101010101" pitchFamily="49" charset="-122"/>
              </a:rPr>
              <a:t>, 10);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a:t>
            </a:r>
            <a:r>
              <a:rPr lang="en-US" altLang="zh-CN" dirty="0" err="1">
                <a:solidFill>
                  <a:srgbClr val="000000"/>
                </a:solidFill>
                <a:latin typeface="Bahnschrift" panose="020B0502040204020203" pitchFamily="34" charset="0"/>
                <a:ea typeface="新宋体" panose="02010609030101010101" pitchFamily="49" charset="-122"/>
              </a:rPr>
              <a:t>printf</a:t>
            </a:r>
            <a:r>
              <a:rPr lang="en-US" altLang="zh-CN" dirty="0">
                <a:solidFill>
                  <a:srgbClr val="000000"/>
                </a:solidFill>
                <a:latin typeface="Bahnschrift" panose="020B0502040204020203" pitchFamily="34" charset="0"/>
                <a:ea typeface="新宋体" panose="02010609030101010101" pitchFamily="49" charset="-122"/>
              </a:rPr>
              <a:t>(</a:t>
            </a:r>
            <a:r>
              <a:rPr lang="en-US" altLang="zh-CN" dirty="0">
                <a:solidFill>
                  <a:srgbClr val="A31515"/>
                </a:solidFill>
                <a:latin typeface="Bahnschrift" panose="020B0502040204020203" pitchFamily="34" charset="0"/>
                <a:ea typeface="新宋体" panose="02010609030101010101" pitchFamily="49" charset="-122"/>
              </a:rPr>
              <a:t>"p1 </a:t>
            </a:r>
            <a:r>
              <a:rPr lang="en-US" altLang="zh-CN" dirty="0" err="1">
                <a:solidFill>
                  <a:srgbClr val="A31515"/>
                </a:solidFill>
                <a:latin typeface="Bahnschrift" panose="020B0502040204020203" pitchFamily="34" charset="0"/>
                <a:ea typeface="新宋体" panose="02010609030101010101" pitchFamily="49" charset="-122"/>
              </a:rPr>
              <a:t>addr</a:t>
            </a:r>
            <a:r>
              <a:rPr lang="en-US" altLang="zh-CN" dirty="0">
                <a:solidFill>
                  <a:srgbClr val="A31515"/>
                </a:solidFill>
                <a:latin typeface="Bahnschrift" panose="020B0502040204020203" pitchFamily="34" charset="0"/>
                <a:ea typeface="新宋体" panose="02010609030101010101" pitchFamily="49" charset="-122"/>
              </a:rPr>
              <a:t>: 0x%08x, %s\n"</a:t>
            </a:r>
            <a:r>
              <a:rPr lang="en-US" altLang="zh-CN" dirty="0">
                <a:solidFill>
                  <a:srgbClr val="000000"/>
                </a:solidFill>
                <a:latin typeface="Bahnschrift" panose="020B0502040204020203" pitchFamily="34" charset="0"/>
                <a:ea typeface="新宋体" panose="02010609030101010101" pitchFamily="49" charset="-122"/>
              </a:rPr>
              <a:t>, p1, p1);</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free(p1);    </a:t>
            </a:r>
            <a:r>
              <a:rPr lang="en-US" altLang="zh-CN" dirty="0">
                <a:solidFill>
                  <a:srgbClr val="008000"/>
                </a:solidFill>
                <a:latin typeface="Bahnschrift" panose="020B0502040204020203" pitchFamily="34" charset="0"/>
                <a:ea typeface="新宋体" panose="02010609030101010101" pitchFamily="49" charset="-122"/>
              </a:rPr>
              <a:t>//not Set NULL</a:t>
            </a:r>
            <a:endParaRPr lang="zh-CN" altLang="en-US"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p2 = (</a:t>
            </a:r>
            <a:r>
              <a:rPr lang="en-US" altLang="zh-CN" dirty="0">
                <a:solidFill>
                  <a:srgbClr val="0000FF"/>
                </a:solidFill>
                <a:latin typeface="Bahnschrift" panose="020B0502040204020203" pitchFamily="34" charset="0"/>
                <a:ea typeface="新宋体" panose="02010609030101010101" pitchFamily="49" charset="-122"/>
              </a:rPr>
              <a:t>char</a:t>
            </a:r>
            <a:r>
              <a:rPr lang="en-US" altLang="zh-CN" dirty="0">
                <a:solidFill>
                  <a:srgbClr val="000000"/>
                </a:solidFill>
                <a:latin typeface="Bahnschrift" panose="020B0502040204020203" pitchFamily="34" charset="0"/>
                <a:ea typeface="新宋体" panose="02010609030101010101" pitchFamily="49" charset="-122"/>
              </a:rPr>
              <a:t> *)malloc(</a:t>
            </a:r>
            <a:r>
              <a:rPr lang="en-US" altLang="zh-CN" dirty="0" err="1">
                <a:solidFill>
                  <a:srgbClr val="0000FF"/>
                </a:solidFill>
                <a:latin typeface="Bahnschrift" panose="020B0502040204020203" pitchFamily="34" charset="0"/>
                <a:ea typeface="新宋体" panose="02010609030101010101" pitchFamily="49" charset="-122"/>
              </a:rPr>
              <a:t>sizeof</a:t>
            </a:r>
            <a:r>
              <a:rPr lang="en-US" altLang="zh-CN" dirty="0">
                <a:solidFill>
                  <a:srgbClr val="000000"/>
                </a:solidFill>
                <a:latin typeface="Bahnschrift" panose="020B0502040204020203" pitchFamily="34" charset="0"/>
                <a:ea typeface="新宋体" panose="02010609030101010101" pitchFamily="49" charset="-122"/>
              </a:rPr>
              <a:t>(</a:t>
            </a:r>
            <a:r>
              <a:rPr lang="en-US" altLang="zh-CN" dirty="0">
                <a:solidFill>
                  <a:srgbClr val="0000FF"/>
                </a:solidFill>
                <a:latin typeface="Bahnschrift" panose="020B0502040204020203" pitchFamily="34" charset="0"/>
                <a:ea typeface="新宋体" panose="02010609030101010101" pitchFamily="49" charset="-122"/>
              </a:rPr>
              <a:t>char</a:t>
            </a:r>
            <a:r>
              <a:rPr lang="en-US" altLang="zh-CN" dirty="0">
                <a:solidFill>
                  <a:srgbClr val="000000"/>
                </a:solidFill>
                <a:latin typeface="Bahnschrift" panose="020B0502040204020203" pitchFamily="34" charset="0"/>
                <a:ea typeface="新宋体" panose="02010609030101010101" pitchFamily="49" charset="-122"/>
              </a:rPr>
              <a:t>) * 10);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a:t>
            </a:r>
            <a:r>
              <a:rPr lang="en-US" altLang="zh-CN" dirty="0" err="1">
                <a:solidFill>
                  <a:srgbClr val="000000"/>
                </a:solidFill>
                <a:latin typeface="Bahnschrift" panose="020B0502040204020203" pitchFamily="34" charset="0"/>
                <a:ea typeface="新宋体" panose="02010609030101010101" pitchFamily="49" charset="-122"/>
              </a:rPr>
              <a:t>memcpy</a:t>
            </a:r>
            <a:r>
              <a:rPr lang="en-US" altLang="zh-CN" dirty="0">
                <a:solidFill>
                  <a:srgbClr val="000000"/>
                </a:solidFill>
                <a:latin typeface="Bahnschrift" panose="020B0502040204020203" pitchFamily="34" charset="0"/>
                <a:ea typeface="新宋体" panose="02010609030101010101" pitchFamily="49" charset="-122"/>
              </a:rPr>
              <a:t>(p2, </a:t>
            </a:r>
            <a:r>
              <a:rPr lang="en-US" altLang="zh-CN" dirty="0">
                <a:solidFill>
                  <a:srgbClr val="A31515"/>
                </a:solidFill>
                <a:latin typeface="Bahnschrift" panose="020B0502040204020203" pitchFamily="34" charset="0"/>
                <a:ea typeface="新宋体" panose="02010609030101010101" pitchFamily="49" charset="-122"/>
              </a:rPr>
              <a:t>"world"</a:t>
            </a:r>
            <a:r>
              <a:rPr lang="en-US" altLang="zh-CN" dirty="0">
                <a:solidFill>
                  <a:srgbClr val="000000"/>
                </a:solidFill>
                <a:latin typeface="Bahnschrift" panose="020B0502040204020203" pitchFamily="34" charset="0"/>
                <a:ea typeface="新宋体" panose="02010609030101010101" pitchFamily="49" charset="-122"/>
              </a:rPr>
              <a:t>, 10);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	</a:t>
            </a:r>
            <a:r>
              <a:rPr lang="en-US" altLang="zh-CN" dirty="0" err="1">
                <a:solidFill>
                  <a:srgbClr val="000000"/>
                </a:solidFill>
                <a:latin typeface="Bahnschrift" panose="020B0502040204020203" pitchFamily="34" charset="0"/>
                <a:ea typeface="新宋体" panose="02010609030101010101" pitchFamily="49" charset="-122"/>
              </a:rPr>
              <a:t>printf</a:t>
            </a:r>
            <a:r>
              <a:rPr lang="en-US" altLang="zh-CN" dirty="0">
                <a:solidFill>
                  <a:srgbClr val="000000"/>
                </a:solidFill>
                <a:latin typeface="Bahnschrift" panose="020B0502040204020203" pitchFamily="34" charset="0"/>
                <a:ea typeface="新宋体" panose="02010609030101010101" pitchFamily="49" charset="-122"/>
              </a:rPr>
              <a:t>(</a:t>
            </a:r>
            <a:r>
              <a:rPr lang="en-US" altLang="zh-CN" dirty="0">
                <a:solidFill>
                  <a:srgbClr val="A31515"/>
                </a:solidFill>
                <a:latin typeface="Bahnschrift" panose="020B0502040204020203" pitchFamily="34" charset="0"/>
                <a:ea typeface="新宋体" panose="02010609030101010101" pitchFamily="49" charset="-122"/>
              </a:rPr>
              <a:t>"p2 </a:t>
            </a:r>
            <a:r>
              <a:rPr lang="en-US" altLang="zh-CN" dirty="0" err="1">
                <a:solidFill>
                  <a:srgbClr val="A31515"/>
                </a:solidFill>
                <a:latin typeface="Bahnschrift" panose="020B0502040204020203" pitchFamily="34" charset="0"/>
                <a:ea typeface="新宋体" panose="02010609030101010101" pitchFamily="49" charset="-122"/>
              </a:rPr>
              <a:t>addr</a:t>
            </a:r>
            <a:r>
              <a:rPr lang="en-US" altLang="zh-CN" dirty="0">
                <a:solidFill>
                  <a:srgbClr val="A31515"/>
                </a:solidFill>
                <a:latin typeface="Bahnschrift" panose="020B0502040204020203" pitchFamily="34" charset="0"/>
                <a:ea typeface="新宋体" panose="02010609030101010101" pitchFamily="49" charset="-122"/>
              </a:rPr>
              <a:t>: 0x%08x, %s\n"</a:t>
            </a:r>
            <a:r>
              <a:rPr lang="en-US" altLang="zh-CN" dirty="0">
                <a:solidFill>
                  <a:srgbClr val="000000"/>
                </a:solidFill>
                <a:latin typeface="Bahnschrift" panose="020B0502040204020203" pitchFamily="34" charset="0"/>
                <a:ea typeface="新宋体" panose="02010609030101010101" pitchFamily="49" charset="-122"/>
              </a:rPr>
              <a:t>, p2, p1);</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FF"/>
                </a:solidFill>
                <a:latin typeface="Bahnschrift" panose="020B0502040204020203" pitchFamily="34" charset="0"/>
                <a:ea typeface="新宋体" panose="02010609030101010101" pitchFamily="49" charset="-122"/>
              </a:rPr>
              <a:t>	return</a:t>
            </a:r>
            <a:r>
              <a:rPr lang="en-US" altLang="zh-CN" dirty="0">
                <a:solidFill>
                  <a:srgbClr val="000000"/>
                </a:solidFill>
                <a:latin typeface="Bahnschrift" panose="020B0502040204020203" pitchFamily="34" charset="0"/>
                <a:ea typeface="新宋体" panose="02010609030101010101" pitchFamily="49" charset="-122"/>
              </a:rPr>
              <a:t> 0;</a:t>
            </a:r>
            <a:endParaRPr lang="en-US" altLang="zh-CN" dirty="0">
              <a:solidFill>
                <a:srgbClr val="000000"/>
              </a:solidFill>
              <a:latin typeface="Bahnschrift" panose="020B0502040204020203" pitchFamily="34" charset="0"/>
              <a:ea typeface="新宋体" panose="02010609030101010101" pitchFamily="49" charset="-122"/>
            </a:endParaRPr>
          </a:p>
          <a:p>
            <a:r>
              <a:rPr lang="en-US" altLang="zh-CN" dirty="0">
                <a:solidFill>
                  <a:srgbClr val="000000"/>
                </a:solidFill>
                <a:latin typeface="Bahnschrift" panose="020B0502040204020203" pitchFamily="34" charset="0"/>
                <a:ea typeface="新宋体" panose="02010609030101010101" pitchFamily="49" charset="-122"/>
              </a:rPr>
              <a:t>}</a:t>
            </a:r>
            <a:endParaRPr lang="zh-CN" altLang="en-US" dirty="0">
              <a:latin typeface="Bahnschrift" panose="020B0502040204020203"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en-US" altLang="zh-CN" dirty="0"/>
              <a:t>User after free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sp>
        <p:nvSpPr>
          <p:cNvPr id="5" name="内容占位符 4"/>
          <p:cNvSpPr>
            <a:spLocks noGrp="1"/>
          </p:cNvSpPr>
          <p:nvPr>
            <p:ph idx="13"/>
          </p:nvPr>
        </p:nvSpPr>
        <p:spPr>
          <a:xfrm>
            <a:off x="628650" y="1412776"/>
            <a:ext cx="7886700" cy="4870903"/>
          </a:xfrm>
        </p:spPr>
        <p:txBody>
          <a:bodyPr/>
          <a:lstStyle/>
          <a:p>
            <a:r>
              <a:rPr lang="zh-CN" altLang="en-US" dirty="0"/>
              <a:t>示例</a:t>
            </a:r>
            <a:r>
              <a:rPr lang="en-US" altLang="zh-CN" dirty="0"/>
              <a:t>			</a:t>
            </a:r>
            <a:endParaRPr lang="zh-CN" altLang="en-US" dirty="0"/>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90942" y="5302186"/>
            <a:ext cx="6168030" cy="591041"/>
          </a:xfrm>
          <a:prstGeom prst="rect">
            <a:avLst/>
          </a:prstGeom>
        </p:spPr>
      </p:pic>
      <p:sp>
        <p:nvSpPr>
          <p:cNvPr id="11" name="对话气泡: 圆角矩形 10"/>
          <p:cNvSpPr/>
          <p:nvPr/>
        </p:nvSpPr>
        <p:spPr>
          <a:xfrm>
            <a:off x="5547809" y="4876989"/>
            <a:ext cx="2800670" cy="811270"/>
          </a:xfrm>
          <a:prstGeom prst="wedgeRoundRectCallout">
            <a:avLst>
              <a:gd name="adj1" fmla="val -63560"/>
              <a:gd name="adj2" fmla="val 44538"/>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50000"/>
                  </a:schemeClr>
                </a:solidFill>
              </a:rPr>
              <a:t>可以通过</a:t>
            </a:r>
            <a:r>
              <a:rPr lang="en-US" altLang="zh-CN" dirty="0">
                <a:solidFill>
                  <a:schemeClr val="tx1">
                    <a:lumMod val="50000"/>
                  </a:schemeClr>
                </a:solidFill>
              </a:rPr>
              <a:t>p2</a:t>
            </a:r>
            <a:r>
              <a:rPr lang="zh-CN" altLang="en-US" dirty="0">
                <a:solidFill>
                  <a:schemeClr val="tx1">
                    <a:lumMod val="50000"/>
                  </a:schemeClr>
                </a:solidFill>
              </a:rPr>
              <a:t>，修改</a:t>
            </a:r>
            <a:r>
              <a:rPr lang="en-US" altLang="zh-CN" dirty="0">
                <a:solidFill>
                  <a:schemeClr val="tx1">
                    <a:lumMod val="50000"/>
                  </a:schemeClr>
                </a:solidFill>
              </a:rPr>
              <a:t>p1</a:t>
            </a:r>
            <a:r>
              <a:rPr lang="zh-CN" altLang="en-US" dirty="0">
                <a:solidFill>
                  <a:schemeClr val="tx1">
                    <a:lumMod val="50000"/>
                  </a:schemeClr>
                </a:solidFill>
              </a:rPr>
              <a:t>。</a:t>
            </a:r>
            <a:endParaRPr lang="en-US" altLang="zh-CN" dirty="0">
              <a:solidFill>
                <a:schemeClr val="tx1">
                  <a:lumMod val="50000"/>
                </a:schemeClr>
              </a:solidFill>
            </a:endParaRPr>
          </a:p>
        </p:txBody>
      </p:sp>
      <p:sp>
        <p:nvSpPr>
          <p:cNvPr id="13" name="矩形 12"/>
          <p:cNvSpPr/>
          <p:nvPr/>
        </p:nvSpPr>
        <p:spPr>
          <a:xfrm>
            <a:off x="66675" y="6196439"/>
            <a:ext cx="5688632" cy="646331"/>
          </a:xfrm>
          <a:prstGeom prst="rect">
            <a:avLst/>
          </a:prstGeom>
        </p:spPr>
        <p:txBody>
          <a:bodyPr wrap="square">
            <a:spAutoFit/>
          </a:bodyPr>
          <a:lstStyle/>
          <a:p>
            <a:r>
              <a:rPr lang="zh-CN" altLang="en-US" sz="1200" dirty="0"/>
              <a:t>参考链接：</a:t>
            </a:r>
            <a:endParaRPr lang="en-US" altLang="zh-CN" sz="1200" dirty="0"/>
          </a:p>
          <a:p>
            <a:r>
              <a:rPr lang="en-US" altLang="zh-CN" sz="1200" dirty="0">
                <a:hlinkClick r:id="rId2"/>
              </a:rPr>
              <a:t>https://blog.csdn.net/guilanl/article/details/64906474</a:t>
            </a:r>
            <a:endParaRPr lang="en-US" altLang="zh-CN" sz="1200" dirty="0"/>
          </a:p>
          <a:p>
            <a:r>
              <a:rPr lang="en-US" altLang="zh-CN" sz="1200" dirty="0">
                <a:hlinkClick r:id="rId3"/>
              </a:rPr>
              <a:t>https://blog.csdn.net/qq_27312943/article/details/53152244</a:t>
            </a:r>
            <a:endParaRPr lang="en-US" altLang="zh-CN" sz="1200" dirty="0"/>
          </a:p>
        </p:txBody>
      </p:sp>
      <p:grpSp>
        <p:nvGrpSpPr>
          <p:cNvPr id="25" name="组合 24"/>
          <p:cNvGrpSpPr/>
          <p:nvPr/>
        </p:nvGrpSpPr>
        <p:grpSpPr>
          <a:xfrm>
            <a:off x="1284100" y="2491246"/>
            <a:ext cx="1908598" cy="462729"/>
            <a:chOff x="863202" y="2690320"/>
            <a:chExt cx="1908598" cy="462729"/>
          </a:xfrm>
        </p:grpSpPr>
        <p:sp>
          <p:nvSpPr>
            <p:cNvPr id="16" name="矩形 15"/>
            <p:cNvSpPr/>
            <p:nvPr/>
          </p:nvSpPr>
          <p:spPr>
            <a:xfrm>
              <a:off x="1763688" y="2690320"/>
              <a:ext cx="1008112" cy="462729"/>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hello</a:t>
              </a:r>
              <a:endParaRPr lang="zh-CN" altLang="en-US" dirty="0">
                <a:solidFill>
                  <a:schemeClr val="tx1">
                    <a:lumMod val="75000"/>
                  </a:schemeClr>
                </a:solidFill>
              </a:endParaRPr>
            </a:p>
          </p:txBody>
        </p:sp>
        <p:grpSp>
          <p:nvGrpSpPr>
            <p:cNvPr id="23" name="组合 22"/>
            <p:cNvGrpSpPr/>
            <p:nvPr/>
          </p:nvGrpSpPr>
          <p:grpSpPr>
            <a:xfrm>
              <a:off x="863202" y="2690320"/>
              <a:ext cx="900486" cy="462729"/>
              <a:chOff x="863202" y="2690320"/>
              <a:chExt cx="900486" cy="462729"/>
            </a:xfrm>
          </p:grpSpPr>
          <p:sp>
            <p:nvSpPr>
              <p:cNvPr id="8" name="矩形 7"/>
              <p:cNvSpPr/>
              <p:nvPr/>
            </p:nvSpPr>
            <p:spPr>
              <a:xfrm>
                <a:off x="863202" y="2690320"/>
                <a:ext cx="504056" cy="462729"/>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P1</a:t>
                </a:r>
                <a:endParaRPr lang="zh-CN" altLang="en-US" dirty="0">
                  <a:solidFill>
                    <a:schemeClr val="tx1">
                      <a:lumMod val="75000"/>
                    </a:schemeClr>
                  </a:solidFill>
                </a:endParaRPr>
              </a:p>
            </p:txBody>
          </p:sp>
          <p:cxnSp>
            <p:nvCxnSpPr>
              <p:cNvPr id="18" name="直接箭头连接符 17"/>
              <p:cNvCxnSpPr>
                <a:stCxn id="8" idx="3"/>
                <a:endCxn id="16" idx="1"/>
              </p:cNvCxnSpPr>
              <p:nvPr/>
            </p:nvCxnSpPr>
            <p:spPr>
              <a:xfrm>
                <a:off x="1367258" y="2921685"/>
                <a:ext cx="39643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6" name="组合 25"/>
          <p:cNvGrpSpPr/>
          <p:nvPr/>
        </p:nvGrpSpPr>
        <p:grpSpPr>
          <a:xfrm>
            <a:off x="1229312" y="3478895"/>
            <a:ext cx="2046544" cy="975950"/>
            <a:chOff x="3226482" y="2165421"/>
            <a:chExt cx="2046544" cy="975950"/>
          </a:xfrm>
        </p:grpSpPr>
        <p:sp>
          <p:nvSpPr>
            <p:cNvPr id="15" name="矩形 14"/>
            <p:cNvSpPr/>
            <p:nvPr/>
          </p:nvSpPr>
          <p:spPr>
            <a:xfrm>
              <a:off x="4185220" y="2661671"/>
              <a:ext cx="1008112" cy="479700"/>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schemeClr>
                </a:solidFill>
              </a:endParaRPr>
            </a:p>
          </p:txBody>
        </p:sp>
        <p:sp>
          <p:nvSpPr>
            <p:cNvPr id="9" name="文本框 8"/>
            <p:cNvSpPr txBox="1"/>
            <p:nvPr/>
          </p:nvSpPr>
          <p:spPr>
            <a:xfrm>
              <a:off x="4264914" y="2165421"/>
              <a:ext cx="1008112" cy="369332"/>
            </a:xfrm>
            <a:prstGeom prst="rect">
              <a:avLst/>
            </a:prstGeom>
            <a:noFill/>
          </p:spPr>
          <p:txBody>
            <a:bodyPr wrap="square" rtlCol="0">
              <a:spAutoFit/>
            </a:bodyPr>
            <a:lstStyle/>
            <a:p>
              <a:r>
                <a:rPr lang="en-US" altLang="zh-CN" dirty="0" err="1"/>
                <a:t>Fastbin</a:t>
              </a:r>
              <a:endParaRPr lang="zh-CN" altLang="en-US" dirty="0"/>
            </a:p>
          </p:txBody>
        </p:sp>
        <p:sp>
          <p:nvSpPr>
            <p:cNvPr id="19" name="矩形 18"/>
            <p:cNvSpPr/>
            <p:nvPr/>
          </p:nvSpPr>
          <p:spPr>
            <a:xfrm>
              <a:off x="3226482" y="2670156"/>
              <a:ext cx="504056" cy="462729"/>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P1</a:t>
              </a:r>
              <a:endParaRPr lang="zh-CN" altLang="en-US" dirty="0">
                <a:solidFill>
                  <a:schemeClr val="tx1">
                    <a:lumMod val="75000"/>
                  </a:schemeClr>
                </a:solidFill>
              </a:endParaRPr>
            </a:p>
          </p:txBody>
        </p:sp>
        <p:cxnSp>
          <p:nvCxnSpPr>
            <p:cNvPr id="20" name="直接箭头连接符 19"/>
            <p:cNvCxnSpPr>
              <a:stCxn id="19" idx="3"/>
              <a:endCxn id="15" idx="1"/>
            </p:cNvCxnSpPr>
            <p:nvPr/>
          </p:nvCxnSpPr>
          <p:spPr>
            <a:xfrm>
              <a:off x="3730538" y="2901521"/>
              <a:ext cx="454682"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4499992" y="2482760"/>
            <a:ext cx="2952208" cy="479700"/>
            <a:chOff x="4499992" y="2482760"/>
            <a:chExt cx="2952208" cy="479700"/>
          </a:xfrm>
        </p:grpSpPr>
        <p:grpSp>
          <p:nvGrpSpPr>
            <p:cNvPr id="27" name="组合 26"/>
            <p:cNvGrpSpPr/>
            <p:nvPr/>
          </p:nvGrpSpPr>
          <p:grpSpPr>
            <a:xfrm>
              <a:off x="4499992" y="2482760"/>
              <a:ext cx="1966850" cy="479700"/>
              <a:chOff x="3226482" y="2661671"/>
              <a:chExt cx="1966850" cy="479700"/>
            </a:xfrm>
          </p:grpSpPr>
          <p:sp>
            <p:nvSpPr>
              <p:cNvPr id="28" name="矩形 27"/>
              <p:cNvSpPr/>
              <p:nvPr/>
            </p:nvSpPr>
            <p:spPr>
              <a:xfrm>
                <a:off x="4185220" y="2661671"/>
                <a:ext cx="1008112" cy="479700"/>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schemeClr>
                  </a:solidFill>
                </a:endParaRPr>
              </a:p>
            </p:txBody>
          </p:sp>
          <p:sp>
            <p:nvSpPr>
              <p:cNvPr id="30" name="矩形 29"/>
              <p:cNvSpPr/>
              <p:nvPr/>
            </p:nvSpPr>
            <p:spPr>
              <a:xfrm>
                <a:off x="3226482" y="2670156"/>
                <a:ext cx="504056" cy="462729"/>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P2</a:t>
                </a:r>
                <a:endParaRPr lang="zh-CN" altLang="en-US" dirty="0">
                  <a:solidFill>
                    <a:schemeClr val="tx1">
                      <a:lumMod val="75000"/>
                    </a:schemeClr>
                  </a:solidFill>
                </a:endParaRPr>
              </a:p>
            </p:txBody>
          </p:sp>
          <p:cxnSp>
            <p:nvCxnSpPr>
              <p:cNvPr id="31" name="直接箭头连接符 30"/>
              <p:cNvCxnSpPr>
                <a:stCxn id="30" idx="3"/>
                <a:endCxn id="28" idx="1"/>
              </p:cNvCxnSpPr>
              <p:nvPr/>
            </p:nvCxnSpPr>
            <p:spPr>
              <a:xfrm>
                <a:off x="3730538" y="2901521"/>
                <a:ext cx="454682"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矩形 31"/>
            <p:cNvSpPr/>
            <p:nvPr/>
          </p:nvSpPr>
          <p:spPr>
            <a:xfrm>
              <a:off x="6948144" y="2491245"/>
              <a:ext cx="504056" cy="462729"/>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P1</a:t>
              </a:r>
              <a:endParaRPr lang="zh-CN" altLang="en-US" dirty="0">
                <a:solidFill>
                  <a:schemeClr val="tx1">
                    <a:lumMod val="75000"/>
                  </a:schemeClr>
                </a:solidFill>
              </a:endParaRPr>
            </a:p>
          </p:txBody>
        </p:sp>
        <p:cxnSp>
          <p:nvCxnSpPr>
            <p:cNvPr id="34" name="直接箭头连接符 33"/>
            <p:cNvCxnSpPr>
              <a:stCxn id="32" idx="1"/>
              <a:endCxn id="28" idx="3"/>
            </p:cNvCxnSpPr>
            <p:nvPr/>
          </p:nvCxnSpPr>
          <p:spPr>
            <a:xfrm flipH="1">
              <a:off x="6466842" y="2722610"/>
              <a:ext cx="481302"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4499992" y="3964069"/>
            <a:ext cx="2952208" cy="479700"/>
            <a:chOff x="4652392" y="2635160"/>
            <a:chExt cx="2952208" cy="479700"/>
          </a:xfrm>
        </p:grpSpPr>
        <p:grpSp>
          <p:nvGrpSpPr>
            <p:cNvPr id="36" name="组合 35"/>
            <p:cNvGrpSpPr/>
            <p:nvPr/>
          </p:nvGrpSpPr>
          <p:grpSpPr>
            <a:xfrm>
              <a:off x="4652392" y="2635160"/>
              <a:ext cx="1966850" cy="479700"/>
              <a:chOff x="3226482" y="2661671"/>
              <a:chExt cx="1966850" cy="479700"/>
            </a:xfrm>
          </p:grpSpPr>
          <p:sp>
            <p:nvSpPr>
              <p:cNvPr id="37" name="矩形 36"/>
              <p:cNvSpPr/>
              <p:nvPr/>
            </p:nvSpPr>
            <p:spPr>
              <a:xfrm>
                <a:off x="4185220" y="2661671"/>
                <a:ext cx="1008112" cy="479700"/>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world</a:t>
                </a:r>
                <a:endParaRPr lang="zh-CN" altLang="en-US" dirty="0">
                  <a:solidFill>
                    <a:schemeClr val="tx1">
                      <a:lumMod val="75000"/>
                    </a:schemeClr>
                  </a:solidFill>
                </a:endParaRPr>
              </a:p>
            </p:txBody>
          </p:sp>
          <p:sp>
            <p:nvSpPr>
              <p:cNvPr id="38" name="矩形 37"/>
              <p:cNvSpPr/>
              <p:nvPr/>
            </p:nvSpPr>
            <p:spPr>
              <a:xfrm>
                <a:off x="3226482" y="2670156"/>
                <a:ext cx="504056" cy="462729"/>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P2</a:t>
                </a:r>
                <a:endParaRPr lang="zh-CN" altLang="en-US" dirty="0">
                  <a:solidFill>
                    <a:schemeClr val="tx1">
                      <a:lumMod val="75000"/>
                    </a:schemeClr>
                  </a:solidFill>
                </a:endParaRPr>
              </a:p>
            </p:txBody>
          </p:sp>
          <p:cxnSp>
            <p:nvCxnSpPr>
              <p:cNvPr id="39" name="直接箭头连接符 38"/>
              <p:cNvCxnSpPr>
                <a:stCxn id="38" idx="3"/>
                <a:endCxn id="37" idx="1"/>
              </p:cNvCxnSpPr>
              <p:nvPr/>
            </p:nvCxnSpPr>
            <p:spPr>
              <a:xfrm>
                <a:off x="3730538" y="2901521"/>
                <a:ext cx="454682"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矩形 39"/>
            <p:cNvSpPr/>
            <p:nvPr/>
          </p:nvSpPr>
          <p:spPr>
            <a:xfrm>
              <a:off x="7100544" y="2643645"/>
              <a:ext cx="504056" cy="462729"/>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lumMod val="75000"/>
                    </a:schemeClr>
                  </a:solidFill>
                </a:rPr>
                <a:t>P1</a:t>
              </a:r>
              <a:endParaRPr lang="zh-CN" altLang="en-US" dirty="0">
                <a:solidFill>
                  <a:schemeClr val="tx1">
                    <a:lumMod val="75000"/>
                  </a:schemeClr>
                </a:solidFill>
              </a:endParaRPr>
            </a:p>
          </p:txBody>
        </p:sp>
        <p:cxnSp>
          <p:nvCxnSpPr>
            <p:cNvPr id="41" name="直接箭头连接符 40"/>
            <p:cNvCxnSpPr>
              <a:stCxn id="40" idx="1"/>
              <a:endCxn id="37" idx="3"/>
            </p:cNvCxnSpPr>
            <p:nvPr/>
          </p:nvCxnSpPr>
          <p:spPr>
            <a:xfrm flipH="1">
              <a:off x="6619242" y="2875010"/>
              <a:ext cx="481302"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sp>
        <p:nvSpPr>
          <p:cNvPr id="44" name="文本框 43"/>
          <p:cNvSpPr txBox="1"/>
          <p:nvPr/>
        </p:nvSpPr>
        <p:spPr>
          <a:xfrm>
            <a:off x="6345761" y="1855362"/>
            <a:ext cx="1708821" cy="369332"/>
          </a:xfrm>
          <a:prstGeom prst="rect">
            <a:avLst/>
          </a:prstGeom>
          <a:noFill/>
        </p:spPr>
        <p:txBody>
          <a:bodyPr wrap="square" rtlCol="0">
            <a:spAutoFit/>
          </a:bodyPr>
          <a:lstStyle/>
          <a:p>
            <a:r>
              <a:rPr lang="en-US" altLang="zh-CN" dirty="0"/>
              <a:t>Not set NULL</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en-US" altLang="zh-CN" dirty="0"/>
              <a:t>Unlink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sp>
        <p:nvSpPr>
          <p:cNvPr id="18" name="文本框 17"/>
          <p:cNvSpPr txBox="1"/>
          <p:nvPr/>
        </p:nvSpPr>
        <p:spPr>
          <a:xfrm>
            <a:off x="938254" y="1409055"/>
            <a:ext cx="5904536" cy="646331"/>
          </a:xfrm>
          <a:prstGeom prst="rect">
            <a:avLst/>
          </a:prstGeom>
          <a:noFill/>
        </p:spPr>
        <p:txBody>
          <a:bodyPr wrap="square" rtlCol="0">
            <a:spAutoFit/>
          </a:bodyPr>
          <a:lstStyle/>
          <a:p>
            <a:r>
              <a:rPr lang="en-US" altLang="zh-CN" dirty="0"/>
              <a:t>Unlink</a:t>
            </a:r>
            <a:r>
              <a:rPr lang="zh-CN" altLang="en-US" dirty="0"/>
              <a:t>是一个宏；</a:t>
            </a:r>
            <a:endParaRPr lang="en-US" altLang="zh-CN" dirty="0"/>
          </a:p>
          <a:p>
            <a:r>
              <a:rPr lang="zh-CN" altLang="zh-CN" dirty="0"/>
              <a:t>当某个</a:t>
            </a:r>
            <a:r>
              <a:rPr lang="en-US" altLang="zh-CN" dirty="0"/>
              <a:t>chunk</a:t>
            </a:r>
            <a:r>
              <a:rPr lang="zh-CN" altLang="zh-CN" dirty="0"/>
              <a:t>从双链表中脱节点时，会调用</a:t>
            </a:r>
            <a:r>
              <a:rPr lang="en-US" altLang="zh-CN" dirty="0"/>
              <a:t>unlink</a:t>
            </a:r>
            <a:r>
              <a:rPr lang="zh-CN" altLang="zh-CN" dirty="0"/>
              <a:t>。</a:t>
            </a:r>
            <a:endParaRPr lang="zh-CN" altLang="zh-CN" dirty="0"/>
          </a:p>
        </p:txBody>
      </p:sp>
      <p:sp>
        <p:nvSpPr>
          <p:cNvPr id="19" name="矩形 18"/>
          <p:cNvSpPr/>
          <p:nvPr/>
        </p:nvSpPr>
        <p:spPr>
          <a:xfrm>
            <a:off x="107950" y="6488740"/>
            <a:ext cx="5688632" cy="276999"/>
          </a:xfrm>
          <a:prstGeom prst="rect">
            <a:avLst/>
          </a:prstGeom>
        </p:spPr>
        <p:txBody>
          <a:bodyPr wrap="square">
            <a:spAutoFit/>
          </a:bodyPr>
          <a:lstStyle/>
          <a:p>
            <a:r>
              <a:rPr lang="zh-CN" altLang="en-US" sz="1200" dirty="0"/>
              <a:t>参考链接：</a:t>
            </a:r>
            <a:r>
              <a:rPr lang="en-US" altLang="zh-CN" sz="1200" dirty="0">
                <a:hlinkClick r:id="rId1"/>
              </a:rPr>
              <a:t>https://wiki.x10sec.org/pwn/heap/unlink/</a:t>
            </a:r>
            <a:endParaRPr lang="en-US" altLang="zh-CN" sz="1200" dirty="0"/>
          </a:p>
        </p:txBody>
      </p:sp>
      <p:grpSp>
        <p:nvGrpSpPr>
          <p:cNvPr id="5" name="组合 4"/>
          <p:cNvGrpSpPr/>
          <p:nvPr/>
        </p:nvGrpSpPr>
        <p:grpSpPr>
          <a:xfrm>
            <a:off x="1051706" y="2530822"/>
            <a:ext cx="4138096" cy="3099377"/>
            <a:chOff x="2367446" y="2330608"/>
            <a:chExt cx="4138096" cy="3099377"/>
          </a:xfrm>
        </p:grpSpPr>
        <p:grpSp>
          <p:nvGrpSpPr>
            <p:cNvPr id="26" name="组合 25"/>
            <p:cNvGrpSpPr/>
            <p:nvPr/>
          </p:nvGrpSpPr>
          <p:grpSpPr>
            <a:xfrm>
              <a:off x="2367446" y="2330608"/>
              <a:ext cx="4138096" cy="781461"/>
              <a:chOff x="1907704" y="2730361"/>
              <a:chExt cx="4138096" cy="781461"/>
            </a:xfrm>
          </p:grpSpPr>
          <p:grpSp>
            <p:nvGrpSpPr>
              <p:cNvPr id="25" name="组合 24"/>
              <p:cNvGrpSpPr/>
              <p:nvPr/>
            </p:nvGrpSpPr>
            <p:grpSpPr>
              <a:xfrm>
                <a:off x="1907704" y="2730361"/>
                <a:ext cx="4138096" cy="775111"/>
                <a:chOff x="1907704" y="2730361"/>
                <a:chExt cx="4138096" cy="775111"/>
              </a:xfrm>
            </p:grpSpPr>
            <p:sp>
              <p:nvSpPr>
                <p:cNvPr id="3" name="流程图: 过程 2"/>
                <p:cNvSpPr/>
                <p:nvPr/>
              </p:nvSpPr>
              <p:spPr>
                <a:xfrm>
                  <a:off x="1907704" y="2742510"/>
                  <a:ext cx="792088" cy="762962"/>
                </a:xfrm>
                <a:prstGeom prst="flowChartProcess">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BK</a:t>
                  </a:r>
                  <a:endParaRPr lang="zh-CN" altLang="en-US" dirty="0"/>
                </a:p>
              </p:txBody>
            </p:sp>
            <p:sp>
              <p:nvSpPr>
                <p:cNvPr id="9" name="流程图: 过程 8"/>
                <p:cNvSpPr/>
                <p:nvPr/>
              </p:nvSpPr>
              <p:spPr>
                <a:xfrm>
                  <a:off x="3584078" y="2742510"/>
                  <a:ext cx="792088" cy="762962"/>
                </a:xfrm>
                <a:prstGeom prst="flowChartProcess">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a:t>
                  </a:r>
                  <a:endParaRPr lang="zh-CN" altLang="en-US" dirty="0"/>
                </a:p>
              </p:txBody>
            </p:sp>
            <p:sp>
              <p:nvSpPr>
                <p:cNvPr id="10" name="流程图: 过程 9"/>
                <p:cNvSpPr/>
                <p:nvPr/>
              </p:nvSpPr>
              <p:spPr>
                <a:xfrm>
                  <a:off x="5253712" y="2730361"/>
                  <a:ext cx="792088" cy="762962"/>
                </a:xfrm>
                <a:prstGeom prst="flowChartProcess">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FD</a:t>
                  </a:r>
                  <a:endParaRPr lang="zh-CN" altLang="en-US" dirty="0"/>
                </a:p>
              </p:txBody>
            </p:sp>
            <p:cxnSp>
              <p:nvCxnSpPr>
                <p:cNvPr id="7" name="连接符: 曲线 6"/>
                <p:cNvCxnSpPr>
                  <a:stCxn id="9" idx="0"/>
                  <a:endCxn id="10" idx="0"/>
                </p:cNvCxnSpPr>
                <p:nvPr/>
              </p:nvCxnSpPr>
              <p:spPr>
                <a:xfrm rot="5400000" flipH="1" flipV="1">
                  <a:off x="4808865" y="1901619"/>
                  <a:ext cx="12149" cy="1669634"/>
                </a:xfrm>
                <a:prstGeom prst="curvedConnector3">
                  <a:avLst>
                    <a:gd name="adj1" fmla="val 1981636"/>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连接符: 曲线 10"/>
                <p:cNvCxnSpPr>
                  <a:stCxn id="3" idx="0"/>
                  <a:endCxn id="9" idx="0"/>
                </p:cNvCxnSpPr>
                <p:nvPr/>
              </p:nvCxnSpPr>
              <p:spPr>
                <a:xfrm rot="5400000" flipH="1" flipV="1">
                  <a:off x="3141935" y="1904323"/>
                  <a:ext cx="12700" cy="1676374"/>
                </a:xfrm>
                <a:prstGeom prst="curvedConnector3">
                  <a:avLst>
                    <a:gd name="adj1" fmla="val 1800000"/>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曲线 13"/>
                <p:cNvCxnSpPr>
                  <a:stCxn id="10" idx="2"/>
                  <a:endCxn id="9" idx="2"/>
                </p:cNvCxnSpPr>
                <p:nvPr/>
              </p:nvCxnSpPr>
              <p:spPr>
                <a:xfrm rot="5400000">
                  <a:off x="4808865" y="2664580"/>
                  <a:ext cx="12149" cy="1669634"/>
                </a:xfrm>
                <a:prstGeom prst="curvedConnector3">
                  <a:avLst>
                    <a:gd name="adj1" fmla="val 1981636"/>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4" name="连接符: 曲线 23"/>
              <p:cNvCxnSpPr>
                <a:stCxn id="9" idx="2"/>
                <a:endCxn id="3" idx="2"/>
              </p:cNvCxnSpPr>
              <p:nvPr/>
            </p:nvCxnSpPr>
            <p:spPr>
              <a:xfrm rot="5400000">
                <a:off x="3141935" y="2667285"/>
                <a:ext cx="12700" cy="1676374"/>
              </a:xfrm>
              <a:prstGeom prst="curvedConnector3">
                <a:avLst>
                  <a:gd name="adj1" fmla="val 1800000"/>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2367446" y="4654874"/>
              <a:ext cx="4138096" cy="775111"/>
              <a:chOff x="1907704" y="2730361"/>
              <a:chExt cx="4138096" cy="775111"/>
            </a:xfrm>
          </p:grpSpPr>
          <p:sp>
            <p:nvSpPr>
              <p:cNvPr id="30" name="流程图: 过程 29"/>
              <p:cNvSpPr/>
              <p:nvPr/>
            </p:nvSpPr>
            <p:spPr>
              <a:xfrm>
                <a:off x="1907704" y="2742510"/>
                <a:ext cx="792088" cy="762962"/>
              </a:xfrm>
              <a:prstGeom prst="flowChartProcess">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BK</a:t>
                </a:r>
                <a:endParaRPr lang="zh-CN" altLang="en-US" dirty="0"/>
              </a:p>
            </p:txBody>
          </p:sp>
          <p:sp>
            <p:nvSpPr>
              <p:cNvPr id="31" name="流程图: 过程 30"/>
              <p:cNvSpPr/>
              <p:nvPr/>
            </p:nvSpPr>
            <p:spPr>
              <a:xfrm>
                <a:off x="3580708" y="2742510"/>
                <a:ext cx="792088" cy="762962"/>
              </a:xfrm>
              <a:prstGeom prst="flowChartProcess">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流程图: 过程 31"/>
              <p:cNvSpPr/>
              <p:nvPr/>
            </p:nvSpPr>
            <p:spPr>
              <a:xfrm>
                <a:off x="5253712" y="2730361"/>
                <a:ext cx="792088" cy="762962"/>
              </a:xfrm>
              <a:prstGeom prst="flowChartProcess">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FD</a:t>
                </a:r>
                <a:endParaRPr lang="zh-CN" altLang="en-US" dirty="0"/>
              </a:p>
            </p:txBody>
          </p:sp>
          <p:cxnSp>
            <p:nvCxnSpPr>
              <p:cNvPr id="34" name="连接符: 曲线 33"/>
              <p:cNvCxnSpPr>
                <a:stCxn id="30" idx="0"/>
                <a:endCxn id="32" idx="0"/>
              </p:cNvCxnSpPr>
              <p:nvPr/>
            </p:nvCxnSpPr>
            <p:spPr>
              <a:xfrm rot="5400000" flipH="1" flipV="1">
                <a:off x="3970678" y="1063432"/>
                <a:ext cx="12149" cy="3346008"/>
              </a:xfrm>
              <a:prstGeom prst="curvedConnector3">
                <a:avLst>
                  <a:gd name="adj1" fmla="val 1981636"/>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曲线 34"/>
              <p:cNvCxnSpPr>
                <a:stCxn id="32" idx="2"/>
                <a:endCxn id="30" idx="2"/>
              </p:cNvCxnSpPr>
              <p:nvPr/>
            </p:nvCxnSpPr>
            <p:spPr>
              <a:xfrm rot="5400000">
                <a:off x="3970678" y="1826393"/>
                <a:ext cx="12149" cy="3346008"/>
              </a:xfrm>
              <a:prstGeom prst="curvedConnector3">
                <a:avLst>
                  <a:gd name="adj1" fmla="val 1981636"/>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38" name="箭头: 下 37"/>
            <p:cNvSpPr/>
            <p:nvPr/>
          </p:nvSpPr>
          <p:spPr>
            <a:xfrm>
              <a:off x="3846208" y="3628008"/>
              <a:ext cx="1200012" cy="491490"/>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5079860" y="3653366"/>
              <a:ext cx="879850" cy="369332"/>
            </a:xfrm>
            <a:prstGeom prst="rect">
              <a:avLst/>
            </a:prstGeom>
            <a:noFill/>
          </p:spPr>
          <p:txBody>
            <a:bodyPr wrap="square" rtlCol="0">
              <a:spAutoFit/>
            </a:bodyPr>
            <a:lstStyle/>
            <a:p>
              <a:r>
                <a:rPr lang="en-US" altLang="zh-CN" dirty="0"/>
                <a:t>unlink</a:t>
              </a:r>
              <a:endParaRPr lang="zh-CN" altLang="zh-CN" dirty="0"/>
            </a:p>
          </p:txBody>
        </p:sp>
      </p:grpSp>
      <p:sp>
        <p:nvSpPr>
          <p:cNvPr id="12" name="对话气泡: 圆角矩形 11"/>
          <p:cNvSpPr/>
          <p:nvPr/>
        </p:nvSpPr>
        <p:spPr>
          <a:xfrm>
            <a:off x="5671305" y="3041493"/>
            <a:ext cx="2443051" cy="1624174"/>
          </a:xfrm>
          <a:prstGeom prst="wedgeRoundRectCallout">
            <a:avLst>
              <a:gd name="adj1" fmla="val -43126"/>
              <a:gd name="adj2" fmla="val 66739"/>
              <a:gd name="adj3" fmla="val 16667"/>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2">
                    <a:lumMod val="75000"/>
                  </a:schemeClr>
                </a:solidFill>
              </a:rPr>
              <a:t>unlink</a:t>
            </a:r>
            <a:r>
              <a:rPr lang="zh-CN" altLang="en-US" b="1" dirty="0">
                <a:solidFill>
                  <a:schemeClr val="tx2">
                    <a:lumMod val="75000"/>
                  </a:schemeClr>
                </a:solidFill>
              </a:rPr>
              <a:t>漏洞的结果是在任意的可写地址写入任意你想写的内容</a:t>
            </a:r>
            <a:endParaRPr lang="zh-CN" altLang="en-US" dirty="0">
              <a:solidFill>
                <a:schemeClr val="tx2">
                  <a:lumMod val="75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en-US" altLang="zh-CN" dirty="0"/>
              <a:t>Unlink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19672" y="1340768"/>
            <a:ext cx="6037809" cy="48597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en-US" altLang="zh-CN" dirty="0"/>
              <a:t>Unlink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sp>
        <p:nvSpPr>
          <p:cNvPr id="87" name="文本框 86"/>
          <p:cNvSpPr txBox="1"/>
          <p:nvPr/>
        </p:nvSpPr>
        <p:spPr>
          <a:xfrm>
            <a:off x="5861888" y="4266262"/>
            <a:ext cx="1777174" cy="1477328"/>
          </a:xfrm>
          <a:prstGeom prst="rect">
            <a:avLst/>
          </a:prstGeom>
          <a:noFill/>
        </p:spPr>
        <p:txBody>
          <a:bodyPr wrap="square" rtlCol="0">
            <a:spAutoFit/>
          </a:bodyPr>
          <a:lstStyle/>
          <a:p>
            <a:r>
              <a:rPr lang="en-US" altLang="zh-CN" dirty="0">
                <a:solidFill>
                  <a:srgbClr val="FF0000"/>
                </a:solidFill>
              </a:rPr>
              <a:t>FD = *(P + 8)</a:t>
            </a:r>
            <a:endParaRPr lang="en-US" altLang="zh-CN" dirty="0">
              <a:solidFill>
                <a:srgbClr val="FF0000"/>
              </a:solidFill>
            </a:endParaRPr>
          </a:p>
          <a:p>
            <a:r>
              <a:rPr lang="en-US" altLang="zh-CN" dirty="0">
                <a:solidFill>
                  <a:srgbClr val="FF0000"/>
                </a:solidFill>
              </a:rPr>
              <a:t>BK = *(P + 12)</a:t>
            </a:r>
            <a:endParaRPr lang="en-US" altLang="zh-CN" dirty="0">
              <a:solidFill>
                <a:srgbClr val="FF0000"/>
              </a:solidFill>
            </a:endParaRPr>
          </a:p>
          <a:p>
            <a:endParaRPr lang="en-US" altLang="zh-CN" dirty="0">
              <a:solidFill>
                <a:srgbClr val="FF0000"/>
              </a:solidFill>
            </a:endParaRPr>
          </a:p>
          <a:p>
            <a:r>
              <a:rPr lang="en-US" altLang="zh-CN" dirty="0">
                <a:solidFill>
                  <a:srgbClr val="0070C0"/>
                </a:solidFill>
              </a:rPr>
              <a:t>*(FD +12) = BK</a:t>
            </a:r>
            <a:endParaRPr lang="en-US" altLang="zh-CN" dirty="0">
              <a:solidFill>
                <a:srgbClr val="0070C0"/>
              </a:solidFill>
            </a:endParaRPr>
          </a:p>
          <a:p>
            <a:r>
              <a:rPr lang="en-US" altLang="zh-CN" dirty="0">
                <a:solidFill>
                  <a:srgbClr val="0070C0"/>
                </a:solidFill>
              </a:rPr>
              <a:t>*(BK + 8) = FD</a:t>
            </a:r>
            <a:endParaRPr lang="zh-CN" altLang="en-US" dirty="0">
              <a:solidFill>
                <a:srgbClr val="0070C0"/>
              </a:solidFill>
            </a:endParaRPr>
          </a:p>
        </p:txBody>
      </p:sp>
      <p:sp>
        <p:nvSpPr>
          <p:cNvPr id="97" name="文本框 96"/>
          <p:cNvSpPr txBox="1"/>
          <p:nvPr/>
        </p:nvSpPr>
        <p:spPr>
          <a:xfrm>
            <a:off x="5885579" y="1565371"/>
            <a:ext cx="1777174" cy="1200329"/>
          </a:xfrm>
          <a:prstGeom prst="rect">
            <a:avLst/>
          </a:prstGeom>
          <a:noFill/>
        </p:spPr>
        <p:txBody>
          <a:bodyPr wrap="square" rtlCol="0">
            <a:spAutoFit/>
          </a:bodyPr>
          <a:lstStyle/>
          <a:p>
            <a:r>
              <a:rPr lang="en-US" altLang="zh-CN" dirty="0"/>
              <a:t>BK = P -&gt; bk</a:t>
            </a:r>
            <a:endParaRPr lang="en-US" altLang="zh-CN" dirty="0"/>
          </a:p>
          <a:p>
            <a:r>
              <a:rPr lang="en-US" altLang="zh-CN" dirty="0"/>
              <a:t>FD = P -&gt; </a:t>
            </a:r>
            <a:r>
              <a:rPr lang="en-US" altLang="zh-CN" dirty="0" err="1"/>
              <a:t>fd</a:t>
            </a:r>
            <a:endParaRPr lang="en-US" altLang="zh-CN" dirty="0"/>
          </a:p>
          <a:p>
            <a:r>
              <a:rPr lang="en-US" altLang="zh-CN" dirty="0"/>
              <a:t>FD-&gt;bk = BK</a:t>
            </a:r>
            <a:endParaRPr lang="en-US" altLang="zh-CN" dirty="0"/>
          </a:p>
          <a:p>
            <a:r>
              <a:rPr lang="en-US" altLang="zh-CN" dirty="0"/>
              <a:t>BK-&gt;</a:t>
            </a:r>
            <a:r>
              <a:rPr lang="en-US" altLang="zh-CN" dirty="0" err="1"/>
              <a:t>fd</a:t>
            </a:r>
            <a:r>
              <a:rPr lang="en-US" altLang="zh-CN" dirty="0"/>
              <a:t> = FD</a:t>
            </a:r>
            <a:endParaRPr lang="en-US" altLang="zh-CN" dirty="0"/>
          </a:p>
        </p:txBody>
      </p:sp>
      <p:grpSp>
        <p:nvGrpSpPr>
          <p:cNvPr id="107" name="组合 106"/>
          <p:cNvGrpSpPr/>
          <p:nvPr/>
        </p:nvGrpSpPr>
        <p:grpSpPr>
          <a:xfrm>
            <a:off x="899592" y="1268760"/>
            <a:ext cx="4248472" cy="4883364"/>
            <a:chOff x="1077546" y="795358"/>
            <a:chExt cx="3910142" cy="5606037"/>
          </a:xfrm>
        </p:grpSpPr>
        <p:grpSp>
          <p:nvGrpSpPr>
            <p:cNvPr id="106" name="组合 105"/>
            <p:cNvGrpSpPr/>
            <p:nvPr/>
          </p:nvGrpSpPr>
          <p:grpSpPr>
            <a:xfrm>
              <a:off x="1077547" y="795358"/>
              <a:ext cx="3910141" cy="5606037"/>
              <a:chOff x="1077547" y="795358"/>
              <a:chExt cx="3910141" cy="5606037"/>
            </a:xfrm>
          </p:grpSpPr>
          <p:grpSp>
            <p:nvGrpSpPr>
              <p:cNvPr id="103" name="组合 102"/>
              <p:cNvGrpSpPr/>
              <p:nvPr/>
            </p:nvGrpSpPr>
            <p:grpSpPr>
              <a:xfrm>
                <a:off x="1077549" y="2715295"/>
                <a:ext cx="3751863" cy="1778484"/>
                <a:chOff x="1066024" y="2789551"/>
                <a:chExt cx="3751863" cy="1778484"/>
              </a:xfrm>
            </p:grpSpPr>
            <p:grpSp>
              <p:nvGrpSpPr>
                <p:cNvPr id="34" name="组合 33"/>
                <p:cNvGrpSpPr/>
                <p:nvPr/>
              </p:nvGrpSpPr>
              <p:grpSpPr>
                <a:xfrm>
                  <a:off x="1066024" y="3020160"/>
                  <a:ext cx="1777178" cy="1547875"/>
                  <a:chOff x="1187624" y="2060848"/>
                  <a:chExt cx="3528392" cy="2305171"/>
                </a:xfrm>
                <a:solidFill>
                  <a:srgbClr val="FFC000"/>
                </a:solidFill>
              </p:grpSpPr>
              <p:sp>
                <p:nvSpPr>
                  <p:cNvPr id="35" name="矩形 34"/>
                  <p:cNvSpPr/>
                  <p:nvPr/>
                </p:nvSpPr>
                <p:spPr>
                  <a:xfrm>
                    <a:off x="1187624" y="2060848"/>
                    <a:ext cx="3528392" cy="576064"/>
                  </a:xfrm>
                  <a:prstGeom prst="rect">
                    <a:avLst/>
                  </a:prstGeom>
                  <a:grp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t>Pre_size</a:t>
                    </a:r>
                    <a:r>
                      <a:rPr lang="en-US" altLang="zh-CN" sz="1400" dirty="0"/>
                      <a:t>(4B)</a:t>
                    </a:r>
                    <a:endParaRPr lang="zh-CN" altLang="en-US" sz="1400" dirty="0"/>
                  </a:p>
                </p:txBody>
              </p:sp>
              <p:sp>
                <p:nvSpPr>
                  <p:cNvPr id="36" name="矩形 35"/>
                  <p:cNvSpPr/>
                  <p:nvPr/>
                </p:nvSpPr>
                <p:spPr>
                  <a:xfrm>
                    <a:off x="1187624" y="2636912"/>
                    <a:ext cx="3528391" cy="576064"/>
                  </a:xfrm>
                  <a:prstGeom prst="rect">
                    <a:avLst/>
                  </a:prstGeom>
                  <a:grp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size(4B)</a:t>
                    </a:r>
                    <a:endParaRPr lang="zh-CN" altLang="en-US" sz="1400" dirty="0"/>
                  </a:p>
                </p:txBody>
              </p:sp>
              <p:sp>
                <p:nvSpPr>
                  <p:cNvPr id="37" name="矩形 36"/>
                  <p:cNvSpPr/>
                  <p:nvPr/>
                </p:nvSpPr>
                <p:spPr>
                  <a:xfrm>
                    <a:off x="1187624" y="3212976"/>
                    <a:ext cx="3528392" cy="576064"/>
                  </a:xfrm>
                  <a:prstGeom prst="rect">
                    <a:avLst/>
                  </a:prstGeom>
                  <a:grp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0000"/>
                        </a:solidFill>
                      </a:rPr>
                      <a:t>FD</a:t>
                    </a:r>
                    <a:endParaRPr lang="zh-CN" altLang="en-US" sz="1400" b="1" dirty="0">
                      <a:solidFill>
                        <a:srgbClr val="FF0000"/>
                      </a:solidFill>
                    </a:endParaRPr>
                  </a:p>
                </p:txBody>
              </p:sp>
              <p:sp>
                <p:nvSpPr>
                  <p:cNvPr id="38" name="矩形 37"/>
                  <p:cNvSpPr/>
                  <p:nvPr/>
                </p:nvSpPr>
                <p:spPr>
                  <a:xfrm>
                    <a:off x="1187624" y="3789955"/>
                    <a:ext cx="3528392" cy="576064"/>
                  </a:xfrm>
                  <a:prstGeom prst="rect">
                    <a:avLst/>
                  </a:prstGeom>
                  <a:grp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0000"/>
                        </a:solidFill>
                      </a:rPr>
                      <a:t>BK</a:t>
                    </a:r>
                    <a:endParaRPr lang="zh-CN" altLang="en-US" sz="1400" b="1" dirty="0">
                      <a:solidFill>
                        <a:srgbClr val="FF0000"/>
                      </a:solidFill>
                    </a:endParaRPr>
                  </a:p>
                </p:txBody>
              </p:sp>
            </p:grpSp>
            <p:sp>
              <p:nvSpPr>
                <p:cNvPr id="88" name="文本框 87"/>
                <p:cNvSpPr txBox="1"/>
                <p:nvPr/>
              </p:nvSpPr>
              <p:spPr>
                <a:xfrm>
                  <a:off x="2756628" y="3941375"/>
                  <a:ext cx="2059594" cy="369331"/>
                </a:xfrm>
                <a:prstGeom prst="rect">
                  <a:avLst/>
                </a:prstGeom>
                <a:noFill/>
              </p:spPr>
              <p:txBody>
                <a:bodyPr wrap="square" rtlCol="0">
                  <a:spAutoFit/>
                </a:bodyPr>
                <a:lstStyle/>
                <a:p>
                  <a:r>
                    <a:rPr lang="en-US" altLang="zh-CN" dirty="0"/>
                    <a:t>--------P-&gt;bk(=BK)</a:t>
                  </a:r>
                  <a:endParaRPr lang="zh-CN" altLang="en-US" dirty="0"/>
                </a:p>
              </p:txBody>
            </p:sp>
            <p:sp>
              <p:nvSpPr>
                <p:cNvPr id="90" name="文本框 89"/>
                <p:cNvSpPr txBox="1"/>
                <p:nvPr/>
              </p:nvSpPr>
              <p:spPr>
                <a:xfrm>
                  <a:off x="2754964" y="3559738"/>
                  <a:ext cx="2062923" cy="369331"/>
                </a:xfrm>
                <a:prstGeom prst="rect">
                  <a:avLst/>
                </a:prstGeom>
                <a:noFill/>
              </p:spPr>
              <p:txBody>
                <a:bodyPr wrap="square" rtlCol="0">
                  <a:spAutoFit/>
                </a:bodyPr>
                <a:lstStyle/>
                <a:p>
                  <a:r>
                    <a:rPr lang="en-US" altLang="zh-CN" dirty="0"/>
                    <a:t>--------P-&gt;</a:t>
                  </a:r>
                  <a:r>
                    <a:rPr lang="en-US" altLang="zh-CN" dirty="0" err="1"/>
                    <a:t>fd</a:t>
                  </a:r>
                  <a:r>
                    <a:rPr lang="en-US" altLang="zh-CN" dirty="0"/>
                    <a:t>(=FD)</a:t>
                  </a:r>
                  <a:endParaRPr lang="zh-CN" altLang="en-US" dirty="0"/>
                </a:p>
              </p:txBody>
            </p:sp>
            <p:sp>
              <p:nvSpPr>
                <p:cNvPr id="89" name="文本框 88"/>
                <p:cNvSpPr txBox="1"/>
                <p:nvPr/>
              </p:nvSpPr>
              <p:spPr>
                <a:xfrm>
                  <a:off x="2753707" y="2789551"/>
                  <a:ext cx="1008110" cy="369331"/>
                </a:xfrm>
                <a:prstGeom prst="rect">
                  <a:avLst/>
                </a:prstGeom>
                <a:noFill/>
              </p:spPr>
              <p:txBody>
                <a:bodyPr wrap="square" rtlCol="0">
                  <a:spAutoFit/>
                </a:bodyPr>
                <a:lstStyle/>
                <a:p>
                  <a:r>
                    <a:rPr lang="en-US" altLang="zh-CN" dirty="0">
                      <a:solidFill>
                        <a:srgbClr val="FF0000"/>
                      </a:solidFill>
                    </a:rPr>
                    <a:t>--------P</a:t>
                  </a:r>
                  <a:endParaRPr lang="zh-CN" altLang="en-US" dirty="0">
                    <a:solidFill>
                      <a:srgbClr val="FF0000"/>
                    </a:solidFill>
                  </a:endParaRPr>
                </a:p>
              </p:txBody>
            </p:sp>
          </p:grpSp>
          <p:grpSp>
            <p:nvGrpSpPr>
              <p:cNvPr id="104" name="组合 103"/>
              <p:cNvGrpSpPr/>
              <p:nvPr/>
            </p:nvGrpSpPr>
            <p:grpSpPr>
              <a:xfrm>
                <a:off x="1077547" y="4629110"/>
                <a:ext cx="3779605" cy="1772285"/>
                <a:chOff x="1066023" y="4343011"/>
                <a:chExt cx="3779605" cy="1772285"/>
              </a:xfrm>
            </p:grpSpPr>
            <p:grpSp>
              <p:nvGrpSpPr>
                <p:cNvPr id="29" name="组合 28"/>
                <p:cNvGrpSpPr/>
                <p:nvPr/>
              </p:nvGrpSpPr>
              <p:grpSpPr>
                <a:xfrm>
                  <a:off x="1066023" y="4567421"/>
                  <a:ext cx="1777178" cy="1547875"/>
                  <a:chOff x="1187624" y="2060848"/>
                  <a:chExt cx="3528392" cy="2305171"/>
                </a:xfrm>
              </p:grpSpPr>
              <p:sp>
                <p:nvSpPr>
                  <p:cNvPr id="30" name="矩形 29"/>
                  <p:cNvSpPr/>
                  <p:nvPr/>
                </p:nvSpPr>
                <p:spPr>
                  <a:xfrm>
                    <a:off x="1187624" y="2060848"/>
                    <a:ext cx="3528392" cy="576064"/>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t>Pre_size</a:t>
                    </a:r>
                    <a:r>
                      <a:rPr lang="en-US" altLang="zh-CN" sz="1400" dirty="0"/>
                      <a:t>(4B)</a:t>
                    </a:r>
                    <a:endParaRPr lang="zh-CN" altLang="en-US" sz="1400" dirty="0"/>
                  </a:p>
                </p:txBody>
              </p:sp>
              <p:sp>
                <p:nvSpPr>
                  <p:cNvPr id="31" name="矩形 30"/>
                  <p:cNvSpPr/>
                  <p:nvPr/>
                </p:nvSpPr>
                <p:spPr>
                  <a:xfrm>
                    <a:off x="1187624" y="2636912"/>
                    <a:ext cx="3528391" cy="576064"/>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size(4B)</a:t>
                    </a:r>
                    <a:endParaRPr lang="zh-CN" altLang="en-US" sz="1400" dirty="0"/>
                  </a:p>
                </p:txBody>
              </p:sp>
              <p:sp>
                <p:nvSpPr>
                  <p:cNvPr id="32" name="矩形 31"/>
                  <p:cNvSpPr/>
                  <p:nvPr/>
                </p:nvSpPr>
                <p:spPr>
                  <a:xfrm>
                    <a:off x="1187624" y="3212976"/>
                    <a:ext cx="3528392" cy="576064"/>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0000"/>
                        </a:solidFill>
                      </a:rPr>
                      <a:t>FD</a:t>
                    </a:r>
                    <a:endParaRPr lang="zh-CN" altLang="en-US" sz="1400" b="1" dirty="0">
                      <a:solidFill>
                        <a:srgbClr val="FF0000"/>
                      </a:solidFill>
                    </a:endParaRPr>
                  </a:p>
                </p:txBody>
              </p:sp>
              <p:sp>
                <p:nvSpPr>
                  <p:cNvPr id="33" name="矩形 32"/>
                  <p:cNvSpPr/>
                  <p:nvPr/>
                </p:nvSpPr>
                <p:spPr>
                  <a:xfrm>
                    <a:off x="1187624" y="3789955"/>
                    <a:ext cx="3528392" cy="576064"/>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bk(4B)</a:t>
                    </a:r>
                    <a:endParaRPr lang="zh-CN" altLang="en-US" sz="1400" dirty="0"/>
                  </a:p>
                </p:txBody>
              </p:sp>
            </p:grpSp>
            <p:sp>
              <p:nvSpPr>
                <p:cNvPr id="92" name="文本框 91"/>
                <p:cNvSpPr txBox="1"/>
                <p:nvPr/>
              </p:nvSpPr>
              <p:spPr>
                <a:xfrm>
                  <a:off x="2754966" y="4343011"/>
                  <a:ext cx="1211039" cy="369332"/>
                </a:xfrm>
                <a:prstGeom prst="rect">
                  <a:avLst/>
                </a:prstGeom>
                <a:noFill/>
              </p:spPr>
              <p:txBody>
                <a:bodyPr wrap="square" rtlCol="0">
                  <a:spAutoFit/>
                </a:bodyPr>
                <a:lstStyle/>
                <a:p>
                  <a:r>
                    <a:rPr lang="en-US" altLang="zh-CN" dirty="0">
                      <a:solidFill>
                        <a:srgbClr val="FF0000"/>
                      </a:solidFill>
                    </a:rPr>
                    <a:t>---------BK</a:t>
                  </a:r>
                  <a:endParaRPr lang="zh-CN" altLang="en-US" dirty="0">
                    <a:solidFill>
                      <a:srgbClr val="FF0000"/>
                    </a:solidFill>
                  </a:endParaRPr>
                </a:p>
              </p:txBody>
            </p:sp>
            <p:sp>
              <p:nvSpPr>
                <p:cNvPr id="94" name="文本框 93"/>
                <p:cNvSpPr txBox="1"/>
                <p:nvPr/>
              </p:nvSpPr>
              <p:spPr>
                <a:xfrm>
                  <a:off x="2753708" y="5105648"/>
                  <a:ext cx="2091920" cy="423988"/>
                </a:xfrm>
                <a:prstGeom prst="rect">
                  <a:avLst/>
                </a:prstGeom>
                <a:noFill/>
              </p:spPr>
              <p:txBody>
                <a:bodyPr wrap="square" rtlCol="0">
                  <a:spAutoFit/>
                </a:bodyPr>
                <a:lstStyle/>
                <a:p>
                  <a:r>
                    <a:rPr lang="en-US" altLang="zh-CN" dirty="0"/>
                    <a:t>--------</a:t>
                  </a:r>
                  <a:r>
                    <a:rPr lang="en-US" altLang="zh-CN" dirty="0">
                      <a:solidFill>
                        <a:srgbClr val="0070C0"/>
                      </a:solidFill>
                    </a:rPr>
                    <a:t>BK-&gt;</a:t>
                  </a:r>
                  <a:r>
                    <a:rPr lang="en-US" altLang="zh-CN" dirty="0" err="1">
                      <a:solidFill>
                        <a:srgbClr val="0070C0"/>
                      </a:solidFill>
                    </a:rPr>
                    <a:t>fd</a:t>
                  </a:r>
                  <a:r>
                    <a:rPr lang="en-US" altLang="zh-CN" dirty="0">
                      <a:solidFill>
                        <a:srgbClr val="0070C0"/>
                      </a:solidFill>
                    </a:rPr>
                    <a:t>(=FD)</a:t>
                  </a:r>
                  <a:endParaRPr lang="zh-CN" altLang="en-US" dirty="0">
                    <a:solidFill>
                      <a:srgbClr val="0070C0"/>
                    </a:solidFill>
                  </a:endParaRPr>
                </a:p>
              </p:txBody>
            </p:sp>
          </p:grpSp>
          <p:grpSp>
            <p:nvGrpSpPr>
              <p:cNvPr id="102" name="组合 101"/>
              <p:cNvGrpSpPr/>
              <p:nvPr/>
            </p:nvGrpSpPr>
            <p:grpSpPr>
              <a:xfrm>
                <a:off x="1077549" y="795358"/>
                <a:ext cx="3910139" cy="2156361"/>
                <a:chOff x="1077549" y="795358"/>
                <a:chExt cx="3910139" cy="2156361"/>
              </a:xfrm>
            </p:grpSpPr>
            <p:grpSp>
              <p:nvGrpSpPr>
                <p:cNvPr id="100" name="组合 99"/>
                <p:cNvGrpSpPr/>
                <p:nvPr/>
              </p:nvGrpSpPr>
              <p:grpSpPr>
                <a:xfrm>
                  <a:off x="1077549" y="795358"/>
                  <a:ext cx="3910139" cy="1786976"/>
                  <a:chOff x="1066025" y="1233799"/>
                  <a:chExt cx="3910139" cy="1786976"/>
                </a:xfrm>
              </p:grpSpPr>
              <p:grpSp>
                <p:nvGrpSpPr>
                  <p:cNvPr id="20" name="组合 19"/>
                  <p:cNvGrpSpPr/>
                  <p:nvPr/>
                </p:nvGrpSpPr>
                <p:grpSpPr>
                  <a:xfrm>
                    <a:off x="1066025" y="1472900"/>
                    <a:ext cx="1777178" cy="1547875"/>
                    <a:chOff x="1187624" y="2060848"/>
                    <a:chExt cx="3528392" cy="2305171"/>
                  </a:xfrm>
                </p:grpSpPr>
                <p:sp>
                  <p:nvSpPr>
                    <p:cNvPr id="21" name="矩形 20"/>
                    <p:cNvSpPr/>
                    <p:nvPr/>
                  </p:nvSpPr>
                  <p:spPr>
                    <a:xfrm>
                      <a:off x="1187624" y="2060848"/>
                      <a:ext cx="3528392" cy="576064"/>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t>Pre_size</a:t>
                      </a:r>
                      <a:r>
                        <a:rPr lang="en-US" altLang="zh-CN" sz="1400" dirty="0"/>
                        <a:t>(4B)</a:t>
                      </a:r>
                      <a:endParaRPr lang="zh-CN" altLang="en-US" sz="1400" dirty="0"/>
                    </a:p>
                  </p:txBody>
                </p:sp>
                <p:sp>
                  <p:nvSpPr>
                    <p:cNvPr id="22" name="矩形 21"/>
                    <p:cNvSpPr/>
                    <p:nvPr/>
                  </p:nvSpPr>
                  <p:spPr>
                    <a:xfrm>
                      <a:off x="1187624" y="2636912"/>
                      <a:ext cx="3528391" cy="576064"/>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size(4B)</a:t>
                      </a:r>
                      <a:endParaRPr lang="zh-CN" altLang="en-US" sz="1400" dirty="0"/>
                    </a:p>
                  </p:txBody>
                </p:sp>
                <p:sp>
                  <p:nvSpPr>
                    <p:cNvPr id="23" name="矩形 22"/>
                    <p:cNvSpPr/>
                    <p:nvPr/>
                  </p:nvSpPr>
                  <p:spPr>
                    <a:xfrm>
                      <a:off x="1187624" y="3212976"/>
                      <a:ext cx="3528392" cy="576064"/>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t>fd</a:t>
                      </a:r>
                      <a:r>
                        <a:rPr lang="en-US" altLang="zh-CN" sz="1400" dirty="0"/>
                        <a:t>(4B)</a:t>
                      </a:r>
                      <a:endParaRPr lang="zh-CN" altLang="en-US" sz="1400" dirty="0"/>
                    </a:p>
                  </p:txBody>
                </p:sp>
                <p:sp>
                  <p:nvSpPr>
                    <p:cNvPr id="24" name="矩形 23"/>
                    <p:cNvSpPr/>
                    <p:nvPr/>
                  </p:nvSpPr>
                  <p:spPr>
                    <a:xfrm>
                      <a:off x="1187624" y="3789955"/>
                      <a:ext cx="3528392" cy="576064"/>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0000"/>
                          </a:solidFill>
                        </a:rPr>
                        <a:t>BK</a:t>
                      </a:r>
                      <a:endParaRPr lang="zh-CN" altLang="en-US" sz="1400" b="1" dirty="0">
                        <a:solidFill>
                          <a:srgbClr val="FF0000"/>
                        </a:solidFill>
                      </a:endParaRPr>
                    </a:p>
                  </p:txBody>
                </p:sp>
              </p:grpSp>
              <p:sp>
                <p:nvSpPr>
                  <p:cNvPr id="91" name="文本框 90"/>
                  <p:cNvSpPr txBox="1"/>
                  <p:nvPr/>
                </p:nvSpPr>
                <p:spPr>
                  <a:xfrm>
                    <a:off x="2754966" y="1233799"/>
                    <a:ext cx="1211039" cy="369332"/>
                  </a:xfrm>
                  <a:prstGeom prst="rect">
                    <a:avLst/>
                  </a:prstGeom>
                  <a:noFill/>
                </p:spPr>
                <p:txBody>
                  <a:bodyPr wrap="square" rtlCol="0">
                    <a:spAutoFit/>
                  </a:bodyPr>
                  <a:lstStyle/>
                  <a:p>
                    <a:r>
                      <a:rPr lang="en-US" altLang="zh-CN" dirty="0">
                        <a:solidFill>
                          <a:srgbClr val="FF0000"/>
                        </a:solidFill>
                      </a:rPr>
                      <a:t>--------FD</a:t>
                    </a:r>
                    <a:endParaRPr lang="zh-CN" altLang="en-US" dirty="0">
                      <a:solidFill>
                        <a:srgbClr val="FF0000"/>
                      </a:solidFill>
                    </a:endParaRPr>
                  </a:p>
                </p:txBody>
              </p:sp>
              <p:sp>
                <p:nvSpPr>
                  <p:cNvPr id="93" name="文本框 92"/>
                  <p:cNvSpPr txBox="1"/>
                  <p:nvPr/>
                </p:nvSpPr>
                <p:spPr>
                  <a:xfrm>
                    <a:off x="2754965" y="2391098"/>
                    <a:ext cx="2221199" cy="423988"/>
                  </a:xfrm>
                  <a:prstGeom prst="rect">
                    <a:avLst/>
                  </a:prstGeom>
                  <a:noFill/>
                </p:spPr>
                <p:txBody>
                  <a:bodyPr wrap="square" rtlCol="0">
                    <a:spAutoFit/>
                  </a:bodyPr>
                  <a:lstStyle/>
                  <a:p>
                    <a:r>
                      <a:rPr lang="en-US" altLang="zh-CN" dirty="0"/>
                      <a:t>--------</a:t>
                    </a:r>
                    <a:r>
                      <a:rPr lang="en-US" altLang="zh-CN" dirty="0">
                        <a:solidFill>
                          <a:srgbClr val="0070C0"/>
                        </a:solidFill>
                      </a:rPr>
                      <a:t>FD-&gt;bk(=BK)</a:t>
                    </a:r>
                    <a:endParaRPr lang="zh-CN" altLang="en-US" dirty="0">
                      <a:solidFill>
                        <a:srgbClr val="0070C0"/>
                      </a:solidFill>
                    </a:endParaRPr>
                  </a:p>
                </p:txBody>
              </p:sp>
            </p:grpSp>
            <p:sp>
              <p:nvSpPr>
                <p:cNvPr id="101" name="矩形 100"/>
                <p:cNvSpPr/>
                <p:nvPr/>
              </p:nvSpPr>
              <p:spPr>
                <a:xfrm>
                  <a:off x="1077549" y="2564904"/>
                  <a:ext cx="1777178" cy="386815"/>
                </a:xfrm>
                <a:prstGeom prst="rect">
                  <a:avLst/>
                </a:prstGeom>
                <a:solidFill>
                  <a:schemeClr val="bg2">
                    <a:lumMod val="75000"/>
                  </a:schemeClr>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 spaces</a:t>
                  </a:r>
                  <a:endParaRPr lang="zh-CN" altLang="en-US" sz="1400" dirty="0"/>
                </a:p>
              </p:txBody>
            </p:sp>
          </p:grpSp>
        </p:grpSp>
        <p:sp>
          <p:nvSpPr>
            <p:cNvPr id="105" name="矩形 104"/>
            <p:cNvSpPr/>
            <p:nvPr/>
          </p:nvSpPr>
          <p:spPr>
            <a:xfrm>
              <a:off x="1077546" y="4484543"/>
              <a:ext cx="1777178" cy="386815"/>
            </a:xfrm>
            <a:prstGeom prst="rect">
              <a:avLst/>
            </a:prstGeom>
            <a:solidFill>
              <a:srgbClr val="FFC000"/>
            </a:solidFill>
            <a:ln w="19050">
              <a:solidFill>
                <a:srgbClr val="6228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Data spaces</a:t>
              </a:r>
              <a:endParaRPr lang="zh-CN" altLang="en-US" sz="1400" dirty="0"/>
            </a:p>
          </p:txBody>
        </p:sp>
      </p:grpSp>
      <p:sp>
        <p:nvSpPr>
          <p:cNvPr id="108" name="箭头: 下 107"/>
          <p:cNvSpPr/>
          <p:nvPr/>
        </p:nvSpPr>
        <p:spPr>
          <a:xfrm>
            <a:off x="5724128" y="3162686"/>
            <a:ext cx="1777174" cy="842378"/>
          </a:xfrm>
          <a:prstGeom prst="down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kumimoji="1" lang="zh-CN" altLang="en-US" dirty="0"/>
              <a:t>有防护机制的</a:t>
            </a:r>
            <a:r>
              <a:rPr kumimoji="1" lang="en-US" altLang="zh-CN" dirty="0"/>
              <a:t>Unlink </a:t>
            </a:r>
            <a:endParaRPr kumimoji="1"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
        <p:nvSpPr>
          <p:cNvPr id="6" name="标题 5"/>
          <p:cNvSpPr>
            <a:spLocks noGrp="1"/>
          </p:cNvSpPr>
          <p:nvPr>
            <p:ph type="title"/>
          </p:nvPr>
        </p:nvSpPr>
        <p:spPr/>
        <p:txBody>
          <a:bodyPr/>
          <a:lstStyle/>
          <a:p>
            <a:endParaRPr kumimoji="1" lang="zh-CN" altLang="en-US"/>
          </a:p>
        </p:txBody>
      </p:sp>
      <p:pic>
        <p:nvPicPr>
          <p:cNvPr id="11" name="内容占位符 10"/>
          <p:cNvPicPr>
            <a:picLocks noGrp="1" noChangeAspect="1"/>
          </p:cNvPicPr>
          <p:nvPr>
            <p:ph idx="13"/>
          </p:nvPr>
        </p:nvPicPr>
        <p:blipFill>
          <a:blip r:embed="rId1">
            <a:extLst>
              <a:ext uri="{28A0092B-C50C-407E-A947-70E740481C1C}">
                <a14:useLocalDpi xmlns:a14="http://schemas.microsoft.com/office/drawing/2010/main" val="0"/>
              </a:ext>
            </a:extLst>
          </a:blip>
          <a:stretch>
            <a:fillRect/>
          </a:stretch>
        </p:blipFill>
        <p:spPr>
          <a:xfrm>
            <a:off x="753590" y="1844824"/>
            <a:ext cx="7636819" cy="2080756"/>
          </a:xfrm>
        </p:spPr>
      </p:pic>
      <p:sp>
        <p:nvSpPr>
          <p:cNvPr id="3" name="矩形 2"/>
          <p:cNvSpPr/>
          <p:nvPr/>
        </p:nvSpPr>
        <p:spPr>
          <a:xfrm>
            <a:off x="1115616" y="2474155"/>
            <a:ext cx="6768752" cy="4320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对话气泡: 圆角矩形 4"/>
          <p:cNvSpPr/>
          <p:nvPr/>
        </p:nvSpPr>
        <p:spPr>
          <a:xfrm>
            <a:off x="3059832" y="3568862"/>
            <a:ext cx="4248472" cy="765871"/>
          </a:xfrm>
          <a:prstGeom prst="wedgeRoundRectCallout">
            <a:avLst>
              <a:gd name="adj1" fmla="val -40990"/>
              <a:gd name="adj2" fmla="val -91319"/>
              <a:gd name="adj3" fmla="val 16667"/>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75000"/>
                  </a:schemeClr>
                </a:solidFill>
              </a:rPr>
              <a:t>检测该节点的</a:t>
            </a:r>
            <a:r>
              <a:rPr lang="en-US" altLang="zh-CN" dirty="0" err="1">
                <a:solidFill>
                  <a:schemeClr val="tx1">
                    <a:lumMod val="75000"/>
                  </a:schemeClr>
                </a:solidFill>
              </a:rPr>
              <a:t>fd,bk</a:t>
            </a:r>
            <a:r>
              <a:rPr lang="zh-CN" altLang="en-US" dirty="0">
                <a:solidFill>
                  <a:schemeClr val="tx1">
                    <a:lumMod val="75000"/>
                  </a:schemeClr>
                </a:solidFill>
              </a:rPr>
              <a:t>是否构成双向链表</a:t>
            </a:r>
            <a:endParaRPr lang="zh-CN" altLang="en-US" dirty="0">
              <a:solidFill>
                <a:schemeClr val="tx1">
                  <a:lumMod val="75000"/>
                </a:schemeClr>
              </a:solidFill>
            </a:endParaRPr>
          </a:p>
        </p:txBody>
      </p:sp>
      <p:sp>
        <p:nvSpPr>
          <p:cNvPr id="10" name="Rectangle 4"/>
          <p:cNvSpPr>
            <a:spLocks noChangeArrowheads="1"/>
          </p:cNvSpPr>
          <p:nvPr/>
        </p:nvSpPr>
        <p:spPr bwMode="auto">
          <a:xfrm>
            <a:off x="899592" y="4712868"/>
            <a:ext cx="6120680" cy="1043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pPr>
            <a:r>
              <a:rPr lang="zh-CN" altLang="en-US" sz="2400" dirty="0">
                <a:solidFill>
                  <a:schemeClr val="tx2">
                    <a:lumMod val="75000"/>
                  </a:schemeClr>
                </a:solidFill>
                <a:latin typeface="Arial Unicode MS" panose="020B0604020202020204" pitchFamily="34" charset="-122"/>
                <a:ea typeface="Monaco"/>
              </a:rPr>
              <a:t>即满足：</a:t>
            </a:r>
            <a:endParaRPr lang="en-US" altLang="zh-CN" sz="2400" dirty="0">
              <a:solidFill>
                <a:schemeClr val="tx2">
                  <a:lumMod val="75000"/>
                </a:schemeClr>
              </a:solidFill>
              <a:latin typeface="Arial Unicode MS" panose="020B0604020202020204" pitchFamily="34" charset="-122"/>
              <a:ea typeface="Monaco"/>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sz="2400" b="0" i="0" u="none" strike="noStrike" cap="none" normalizeH="0" baseline="0" dirty="0">
                <a:ln>
                  <a:noFill/>
                </a:ln>
                <a:solidFill>
                  <a:schemeClr val="tx2">
                    <a:lumMod val="75000"/>
                  </a:schemeClr>
                </a:solidFill>
                <a:effectLst/>
                <a:latin typeface="Arial Unicode MS" panose="020B0604020202020204" pitchFamily="34" charset="-122"/>
                <a:ea typeface="Monaco"/>
              </a:rPr>
              <a:t>(1)</a:t>
            </a:r>
            <a:r>
              <a:rPr kumimoji="0" lang="zh-CN" altLang="zh-CN" sz="2400" b="0" i="0" u="none" strike="noStrike" cap="none" normalizeH="0" baseline="0" dirty="0">
                <a:ln>
                  <a:noFill/>
                </a:ln>
                <a:solidFill>
                  <a:schemeClr val="tx2">
                    <a:lumMod val="75000"/>
                  </a:schemeClr>
                </a:solidFill>
                <a:effectLst/>
                <a:latin typeface="Arial Unicode MS" panose="020B0604020202020204" pitchFamily="34" charset="-122"/>
                <a:ea typeface="Monaco"/>
              </a:rPr>
              <a:t>P-&gt;fd-&gt;bk=P</a:t>
            </a:r>
            <a:r>
              <a:rPr kumimoji="0" lang="en-US" altLang="zh-CN" sz="2400" b="0" i="0" u="none" strike="noStrike" cap="none" normalizeH="0" baseline="0" dirty="0">
                <a:ln>
                  <a:noFill/>
                </a:ln>
                <a:solidFill>
                  <a:schemeClr val="tx2">
                    <a:lumMod val="75000"/>
                  </a:schemeClr>
                </a:solidFill>
                <a:effectLst/>
                <a:latin typeface="Arial Unicode MS" panose="020B0604020202020204" pitchFamily="34" charset="-122"/>
                <a:ea typeface="Monaco"/>
              </a:rPr>
              <a:t>    (2)</a:t>
            </a:r>
            <a:r>
              <a:rPr kumimoji="0" lang="zh-CN" altLang="zh-CN" sz="2400" b="0" i="0" u="none" strike="noStrike" cap="none" normalizeH="0" baseline="0" dirty="0">
                <a:ln>
                  <a:noFill/>
                </a:ln>
                <a:solidFill>
                  <a:schemeClr val="tx2">
                    <a:lumMod val="75000"/>
                  </a:schemeClr>
                </a:solidFill>
                <a:effectLst/>
                <a:latin typeface="Arial Unicode MS" panose="020B0604020202020204" pitchFamily="34" charset="-122"/>
                <a:ea typeface="Monaco"/>
              </a:rPr>
              <a:t>P-&gt;bk-&gt;fd=P</a:t>
            </a:r>
            <a:endParaRPr kumimoji="0" lang="zh-CN" altLang="zh-CN" sz="2400" b="0" i="0" u="none" strike="noStrike" cap="none" normalizeH="0" baseline="0" dirty="0">
              <a:ln>
                <a:noFill/>
              </a:ln>
              <a:solidFill>
                <a:schemeClr val="tx2">
                  <a:lumMod val="75000"/>
                </a:schemeClr>
              </a:solidFill>
              <a:effectLs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2"/>
          <p:cNvSpPr>
            <a:spLocks noGrp="1"/>
          </p:cNvSpPr>
          <p:nvPr/>
        </p:nvSpPr>
        <p:spPr>
          <a:xfrm>
            <a:off x="3419475" y="6021388"/>
            <a:ext cx="2432050" cy="425450"/>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endParaRPr lang="en-US" altLang="zh-CN" sz="2800" b="1" noProof="1">
              <a:solidFill>
                <a:schemeClr val="accent1">
                  <a:lumMod val="50000"/>
                </a:schemeClr>
              </a:solidFill>
              <a:effectLst>
                <a:outerShdw blurRad="38100" dist="38100" dir="2700000" algn="tl">
                  <a:srgbClr val="000000">
                    <a:alpha val="43137"/>
                  </a:srgbClr>
                </a:outerShdw>
              </a:effectLst>
              <a:latin typeface="Californian FB" panose="0207040306080B030204" pitchFamily="18" charset="0"/>
              <a:ea typeface="方正姚体" charset="0"/>
            </a:endParaRPr>
          </a:p>
        </p:txBody>
      </p:sp>
      <p:sp>
        <p:nvSpPr>
          <p:cNvPr id="9" name="文本框 8"/>
          <p:cNvSpPr txBox="1"/>
          <p:nvPr/>
        </p:nvSpPr>
        <p:spPr>
          <a:xfrm>
            <a:off x="1988" y="-72000"/>
            <a:ext cx="9142012" cy="523220"/>
          </a:xfrm>
          <a:prstGeom prst="rect">
            <a:avLst/>
          </a:prstGeom>
          <a:solidFill>
            <a:srgbClr val="D8F6F8"/>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charset="0"/>
                <a:ea typeface="隶书" charset="0"/>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charset="0"/>
              <a:ea typeface="隶书" charset="0"/>
              <a:sym typeface="+mn-ea"/>
            </a:endParaRPr>
          </a:p>
        </p:txBody>
      </p:sp>
      <p:sp>
        <p:nvSpPr>
          <p:cNvPr id="10" name="副标题 2"/>
          <p:cNvSpPr>
            <a:spLocks noGrp="1"/>
          </p:cNvSpPr>
          <p:nvPr/>
        </p:nvSpPr>
        <p:spPr>
          <a:xfrm>
            <a:off x="1935480" y="2548255"/>
            <a:ext cx="5272405" cy="1498600"/>
          </a:xfrm>
          <a:prstGeom prst="rect">
            <a:avLst/>
          </a:prstGeom>
          <a:noFill/>
          <a:ln w="9525">
            <a:noFill/>
            <a:miter/>
          </a:ln>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altLang="zh-CN" sz="96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ootlight MT Light" pitchFamily="18" charset="0"/>
                <a:ea typeface="楷体" panose="02010609060101010101" charset="-122"/>
              </a:rPr>
              <a:t>Q&amp;A</a:t>
            </a:r>
            <a:endParaRPr lang="zh-CN" altLang="en-US" sz="96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ootlight MT Light" pitchFamily="18" charset="0"/>
              <a:ea typeface="楷体" panose="02010609060101010101" charset="-122"/>
            </a:endParaRPr>
          </a:p>
          <a:p>
            <a:pPr>
              <a:defRPr/>
            </a:pPr>
            <a:endParaRPr lang="zh-CN" altLang="en-US" sz="54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楷体" panose="02010609060101010101" charset="-122"/>
              <a:ea typeface="楷体" panose="02010609060101010101" charset="-122"/>
            </a:endParaRPr>
          </a:p>
        </p:txBody>
      </p:sp>
      <p:sp>
        <p:nvSpPr>
          <p:cNvPr id="2" name="文本占位符 1"/>
          <p:cNvSpPr>
            <a:spLocks noGrp="1"/>
          </p:cNvSpPr>
          <p:nvPr>
            <p:ph type="body" idx="1"/>
          </p:nvPr>
        </p:nvSpPr>
        <p:spPr/>
        <p:txBody>
          <a:bodyPr/>
          <a:lstStyle/>
          <a:p>
            <a:r>
              <a:rPr lang="zh-CN" altLang="en-US" dirty="0"/>
              <a:t>问题</a:t>
            </a:r>
            <a:endParaRPr lang="zh-CN" altLang="en-US" dirty="0"/>
          </a:p>
        </p:txBody>
      </p:sp>
      <p:sp>
        <p:nvSpPr>
          <p:cNvPr id="4" name="灯片编号占位符 3"/>
          <p:cNvSpPr>
            <a:spLocks noGrp="1"/>
          </p:cNvSpPr>
          <p:nvPr>
            <p:ph type="sldNum" sz="quarter" idx="10"/>
          </p:nvPr>
        </p:nvSpPr>
        <p:spPr/>
        <p:txBody>
          <a:bodyPr/>
          <a:lstStyle/>
          <a:p>
            <a:fld id="{8A6D26B4-866C-4665-A6B1-E1D86A7FEB5A}" type="slidenum">
              <a:rPr lang="zh-CN" altLang="en-US" smtClean="0"/>
            </a:fld>
            <a:endParaRPr lang="zh-CN" altLang="en-US" dirty="0"/>
          </a:p>
        </p:txBody>
      </p:sp>
    </p:spTree>
    <p:custDataLst>
      <p:tags r:id="rId1"/>
    </p:custDataLst>
  </p:cSld>
  <p:clrMapOvr>
    <a:masterClrMapping/>
  </p:clrMapOvr>
</p:sld>
</file>

<file path=ppt/tags/tag1.xml><?xml version="1.0" encoding="utf-8"?>
<p:tagLst xmlns:p="http://schemas.openxmlformats.org/presentationml/2006/main">
  <p:tag name="KSO_WM_TAG_VERSION" val="1.0"/>
  <p:tag name="KSO_WM_TEMPLATE_CATEGORY" val="custom"/>
  <p:tag name="KSO_WM_TEMPLATE_INDEX" val="457"/>
</p:tagLst>
</file>

<file path=ppt/tags/tag2.xml><?xml version="1.0" encoding="utf-8"?>
<p:tagLst xmlns:p="http://schemas.openxmlformats.org/presentationml/2006/main">
  <p:tag name="KSO_WM_TAG_VERSION" val="1.0"/>
  <p:tag name="KSO_WM_TEMPLATE_CATEGORY" val="custom"/>
  <p:tag name="KSO_WM_TEMPLATE_INDEX" val="457"/>
</p:tagLst>
</file>

<file path=ppt/tags/tag3.xml><?xml version="1.0" encoding="utf-8"?>
<p:tagLst xmlns:p="http://schemas.openxmlformats.org/presentationml/2006/main">
  <p:tag name="KSO_WM_TEMPLATE_CATEGORY" val="custom"/>
  <p:tag name="KSO_WM_TEMPLATE_INDEX" val="457"/>
</p:tagLst>
</file>

<file path=ppt/tags/tag4.xml><?xml version="1.0" encoding="utf-8"?>
<p:tagLst xmlns:p="http://schemas.openxmlformats.org/presentationml/2006/main">
  <p:tag name="KSO_WM_TEMPLATE_CATEGORY" val="custom"/>
  <p:tag name="KSO_WM_TEMPLATE_INDEX" val="457"/>
</p:tagLst>
</file>

<file path=ppt/tags/tag5.xml><?xml version="1.0" encoding="utf-8"?>
<p:tagLst xmlns:p="http://schemas.openxmlformats.org/presentationml/2006/main">
  <p:tag name="KSO_WM_TEMPLATE_CATEGORY" val="custom"/>
  <p:tag name="KSO_WM_TEMPLATE_INDEX" val="457"/>
</p:tagLst>
</file>

<file path=ppt/theme/theme1.xml><?xml version="1.0" encoding="utf-8"?>
<a:theme xmlns:a="http://schemas.openxmlformats.org/drawingml/2006/main" name="A000120140530A99PPBG">
  <a:themeElements>
    <a:clrScheme name="457.17">
      <a:dk1>
        <a:srgbClr val="47494B"/>
      </a:dk1>
      <a:lt1>
        <a:srgbClr val="FFFFFF"/>
      </a:lt1>
      <a:dk2>
        <a:srgbClr val="454749"/>
      </a:dk2>
      <a:lt2>
        <a:srgbClr val="FFFFFF"/>
      </a:lt2>
      <a:accent1>
        <a:srgbClr val="22B1DE"/>
      </a:accent1>
      <a:accent2>
        <a:srgbClr val="0B99F9"/>
      </a:accent2>
      <a:accent3>
        <a:srgbClr val="7B93D7"/>
      </a:accent3>
      <a:accent4>
        <a:srgbClr val="8980CE"/>
      </a:accent4>
      <a:accent5>
        <a:srgbClr val="3DBFD1"/>
      </a:accent5>
      <a:accent6>
        <a:srgbClr val="FFC000"/>
      </a:accent6>
      <a:hlink>
        <a:srgbClr val="92D050"/>
      </a:hlink>
      <a:folHlink>
        <a:srgbClr val="AFB2B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软件安全原理(2018-2019秋季） 课程设计 zw 201806</Template>
  <TotalTime>0</TotalTime>
  <Words>6588</Words>
  <Application>WPS 演示</Application>
  <PresentationFormat>全屏显示(4:3)</PresentationFormat>
  <Paragraphs>692</Paragraphs>
  <Slides>33</Slides>
  <Notes>37</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33</vt:i4>
      </vt:variant>
    </vt:vector>
  </HeadingPairs>
  <TitlesOfParts>
    <vt:vector size="62" baseType="lpstr">
      <vt:lpstr>Arial</vt:lpstr>
      <vt:lpstr>宋体</vt:lpstr>
      <vt:lpstr>Wingdings</vt:lpstr>
      <vt:lpstr>黑体</vt:lpstr>
      <vt:lpstr>幼圆</vt:lpstr>
      <vt:lpstr>Bodoni MT Condensed</vt:lpstr>
      <vt:lpstr>华文中宋</vt:lpstr>
      <vt:lpstr>Arial Narrow</vt:lpstr>
      <vt:lpstr>微软雅黑</vt:lpstr>
      <vt:lpstr>隶书</vt:lpstr>
      <vt:lpstr>楷体</vt:lpstr>
      <vt:lpstr>Times New Roman</vt:lpstr>
      <vt:lpstr>Californian FB</vt:lpstr>
      <vt:lpstr>方正姚体</vt:lpstr>
      <vt:lpstr>隶书</vt:lpstr>
      <vt:lpstr>Bahnschrift</vt:lpstr>
      <vt:lpstr>等线</vt:lpstr>
      <vt:lpstr>新宋体</vt:lpstr>
      <vt:lpstr>Arial Unicode MS</vt:lpstr>
      <vt:lpstr>Segoe Print</vt:lpstr>
      <vt:lpstr>Calibri</vt:lpstr>
      <vt:lpstr>Yu Gothic UI Semibold</vt:lpstr>
      <vt:lpstr>Helvetica</vt:lpstr>
      <vt:lpstr>letter-spacing:0.0000pt</vt:lpstr>
      <vt:lpstr>Arial Unicode MS</vt:lpstr>
      <vt:lpstr>Monaco</vt:lpstr>
      <vt:lpstr>方正姚体</vt:lpstr>
      <vt:lpstr>Footlight MT Light</vt:lpstr>
      <vt:lpstr>A000120140530A99PPBG</vt:lpstr>
      <vt:lpstr>PowerPoint 演示文稿</vt:lpstr>
      <vt:lpstr>PowerPoint 演示文稿</vt:lpstr>
      <vt:lpstr>PowerPoint 演示文稿</vt:lpstr>
      <vt:lpstr>背景知识</vt:lpstr>
      <vt:lpstr>背景知识</vt:lpstr>
      <vt:lpstr>背景知识</vt:lpstr>
      <vt:lpstr>背景知识</vt:lpstr>
      <vt:lpstr>背景知识</vt:lpstr>
      <vt:lpstr>PowerPoint 演示文稿</vt:lpstr>
      <vt:lpstr>内存分配及释放的函数</vt:lpstr>
      <vt:lpstr>内存分配及释放的函数</vt:lpstr>
      <vt:lpstr>内存分配及释放的函数</vt:lpstr>
      <vt:lpstr>内存分配及释放的函数</vt:lpstr>
      <vt:lpstr>内存分配及释放的函数</vt:lpstr>
      <vt:lpstr>内存分配及释放的函数</vt:lpstr>
      <vt:lpstr>内存分配及释放的函数</vt:lpstr>
      <vt:lpstr>PowerPoint 演示文稿</vt:lpstr>
      <vt:lpstr>PowerPoint 演示文稿</vt:lpstr>
      <vt:lpstr>PowerPoint 演示文稿</vt:lpstr>
      <vt:lpstr>堆溢出实例</vt:lpstr>
      <vt:lpstr>堆溢出实例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邹维</dc:creator>
  <cp:lastModifiedBy>L丶e</cp:lastModifiedBy>
  <cp:revision>295</cp:revision>
  <dcterms:created xsi:type="dcterms:W3CDTF">2018-06-26T07:11:00Z</dcterms:created>
  <dcterms:modified xsi:type="dcterms:W3CDTF">2019-09-17T11:07:37Z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2052-11.1.0.8907</vt:lpwstr>
  </property>
</Properties>
</file>