
<file path=[Content_Types].xml><?xml version="1.0" encoding="utf-8"?>
<Types xmlns="http://schemas.openxmlformats.org/package/2006/content-types">
  <Default Extension="xml" ContentType="application/xml"/>
  <Default Extension="jpeg" ContentType="image/jpeg"/>
  <Default Extension="png" ContentType="image/png"/>
  <Default Extension="tmp"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4"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handoutMasterIdLst>
    <p:handoutMasterId r:id="rId33"/>
  </p:handoutMasterIdLst>
  <p:sldIdLst>
    <p:sldId id="405" r:id="rId2"/>
    <p:sldId id="406" r:id="rId3"/>
    <p:sldId id="404" r:id="rId4"/>
    <p:sldId id="409" r:id="rId5"/>
    <p:sldId id="315" r:id="rId6"/>
    <p:sldId id="410" r:id="rId7"/>
    <p:sldId id="411" r:id="rId8"/>
    <p:sldId id="412" r:id="rId9"/>
    <p:sldId id="413" r:id="rId10"/>
    <p:sldId id="414" r:id="rId11"/>
    <p:sldId id="417" r:id="rId12"/>
    <p:sldId id="415" r:id="rId13"/>
    <p:sldId id="427" r:id="rId14"/>
    <p:sldId id="428" r:id="rId15"/>
    <p:sldId id="429" r:id="rId16"/>
    <p:sldId id="421" r:id="rId17"/>
    <p:sldId id="435" r:id="rId18"/>
    <p:sldId id="436" r:id="rId19"/>
    <p:sldId id="437" r:id="rId20"/>
    <p:sldId id="438" r:id="rId21"/>
    <p:sldId id="439" r:id="rId22"/>
    <p:sldId id="440" r:id="rId23"/>
    <p:sldId id="441" r:id="rId24"/>
    <p:sldId id="442" r:id="rId25"/>
    <p:sldId id="443" r:id="rId26"/>
    <p:sldId id="444" r:id="rId27"/>
    <p:sldId id="445" r:id="rId28"/>
    <p:sldId id="446" r:id="rId29"/>
    <p:sldId id="447" r:id="rId30"/>
    <p:sldId id="326" r:id="rId3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1pPr>
    <a:lvl2pPr marL="457200"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2pPr>
    <a:lvl3pPr marL="914400"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3pPr>
    <a:lvl4pPr marL="1371600"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4pPr>
    <a:lvl5pPr marL="1828800"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5pPr>
    <a:lvl6pPr marL="2286000" algn="l" defTabSz="914400" rtl="0" eaLnBrk="1" latinLnBrk="0" hangingPunct="1">
      <a:defRPr kern="1200">
        <a:solidFill>
          <a:schemeClr val="tx1"/>
        </a:solidFill>
        <a:latin typeface="Arial" pitchFamily="34" charset="0"/>
        <a:ea typeface="黑体" pitchFamily="49" charset="-122"/>
        <a:cs typeface="+mn-cs"/>
      </a:defRPr>
    </a:lvl6pPr>
    <a:lvl7pPr marL="2743200" algn="l" defTabSz="914400" rtl="0" eaLnBrk="1" latinLnBrk="0" hangingPunct="1">
      <a:defRPr kern="1200">
        <a:solidFill>
          <a:schemeClr val="tx1"/>
        </a:solidFill>
        <a:latin typeface="Arial" pitchFamily="34" charset="0"/>
        <a:ea typeface="黑体" pitchFamily="49" charset="-122"/>
        <a:cs typeface="+mn-cs"/>
      </a:defRPr>
    </a:lvl7pPr>
    <a:lvl8pPr marL="3200400" algn="l" defTabSz="914400" rtl="0" eaLnBrk="1" latinLnBrk="0" hangingPunct="1">
      <a:defRPr kern="1200">
        <a:solidFill>
          <a:schemeClr val="tx1"/>
        </a:solidFill>
        <a:latin typeface="Arial" pitchFamily="34" charset="0"/>
        <a:ea typeface="黑体" pitchFamily="49" charset="-122"/>
        <a:cs typeface="+mn-cs"/>
      </a:defRPr>
    </a:lvl8pPr>
    <a:lvl9pPr marL="3657600" algn="l" defTabSz="914400" rtl="0" eaLnBrk="1" latinLnBrk="0" hangingPunct="1">
      <a:defRPr kern="1200">
        <a:solidFill>
          <a:schemeClr val="tx1"/>
        </a:solidFill>
        <a:latin typeface="Arial" pitchFamily="34" charset="0"/>
        <a:ea typeface="黑体"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0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2820"/>
    <a:srgbClr val="D8F6F8"/>
    <a:srgbClr val="E1F8F7"/>
    <a:srgbClr val="92D050"/>
    <a:srgbClr val="2795A4"/>
    <a:srgbClr val="FFFFCC"/>
    <a:srgbClr val="FF7C8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3" autoAdjust="0"/>
    <p:restoredTop sz="94231" autoAdjust="0"/>
  </p:normalViewPr>
  <p:slideViewPr>
    <p:cSldViewPr>
      <p:cViewPr varScale="1">
        <p:scale>
          <a:sx n="119" d="100"/>
          <a:sy n="119" d="100"/>
        </p:scale>
        <p:origin x="1416" y="120"/>
      </p:cViewPr>
      <p:guideLst>
        <p:guide orient="horz" pos="2160"/>
        <p:guide pos="2802"/>
      </p:guideLst>
    </p:cSldViewPr>
  </p:slideViewPr>
  <p:outlineViewPr>
    <p:cViewPr>
      <p:scale>
        <a:sx n="33" d="100"/>
        <a:sy n="33" d="100"/>
      </p:scale>
      <p:origin x="72" y="5133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2" d="100"/>
          <a:sy n="52" d="100"/>
        </p:scale>
        <p:origin x="2674" y="58"/>
      </p:cViewPr>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handoutMaster" Target="handoutMasters/handout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24037;&#20316;&#31807;1"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24037;&#20316;&#31807;1"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Users\maoguai\Desktop\learning\&#38593;&#26646;&#28246;\&#28431;&#27934;&#21033;&#29992;&#19982;&#25915;&#38450;&#23454;&#36341;\&#24037;&#20316;&#31807;1.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24037;&#20316;&#31807;1"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Users\maoguai\Desktop\learning\&#38593;&#26646;&#28246;\&#28431;&#27934;&#21033;&#29992;&#19982;&#25915;&#38450;&#23454;&#36341;\&#24037;&#20316;&#31807;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dirty="0" err="1"/>
              <a:t>objdump</a:t>
            </a:r>
            <a:endParaRPr lang="zh-CN" alt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Sheet1!$A$2</c:f>
              <c:strCache>
                <c:ptCount val="1"/>
                <c:pt idx="0">
                  <c:v>AFL</c:v>
                </c:pt>
              </c:strCache>
            </c:strRef>
          </c:tx>
          <c:spPr>
            <a:ln w="28575" cap="rnd">
              <a:solidFill>
                <a:schemeClr val="accent1"/>
              </a:solidFill>
              <a:prstDash val="sysDot"/>
              <a:round/>
            </a:ln>
            <a:effectLst/>
          </c:spPr>
          <c:marker>
            <c:symbol val="none"/>
          </c:marker>
          <c:cat>
            <c:numRef>
              <c:f>Sheet1!$B$1:$I$1</c:f>
              <c:numCache>
                <c:formatCode>General</c:formatCode>
                <c:ptCount val="8"/>
                <c:pt idx="0">
                  <c:v>0.0</c:v>
                </c:pt>
                <c:pt idx="1">
                  <c:v>2.0</c:v>
                </c:pt>
                <c:pt idx="2">
                  <c:v>4.0</c:v>
                </c:pt>
                <c:pt idx="3">
                  <c:v>6.0</c:v>
                </c:pt>
                <c:pt idx="4">
                  <c:v>8.0</c:v>
                </c:pt>
                <c:pt idx="5">
                  <c:v>10.0</c:v>
                </c:pt>
                <c:pt idx="6">
                  <c:v>12.0</c:v>
                </c:pt>
                <c:pt idx="7">
                  <c:v>14.0</c:v>
                </c:pt>
              </c:numCache>
            </c:numRef>
          </c:cat>
          <c:val>
            <c:numRef>
              <c:f>Sheet1!$B$2:$I$2</c:f>
              <c:numCache>
                <c:formatCode>General</c:formatCode>
                <c:ptCount val="8"/>
                <c:pt idx="0">
                  <c:v>0.0</c:v>
                </c:pt>
                <c:pt idx="1">
                  <c:v>0.0</c:v>
                </c:pt>
                <c:pt idx="2">
                  <c:v>0.0</c:v>
                </c:pt>
                <c:pt idx="3">
                  <c:v>0.0</c:v>
                </c:pt>
                <c:pt idx="4">
                  <c:v>0.0</c:v>
                </c:pt>
                <c:pt idx="5">
                  <c:v>1.0</c:v>
                </c:pt>
                <c:pt idx="6">
                  <c:v>1.0</c:v>
                </c:pt>
                <c:pt idx="7">
                  <c:v>1.0</c:v>
                </c:pt>
              </c:numCache>
            </c:numRef>
          </c:val>
          <c:smooth val="0"/>
          <c:extLst xmlns:c16r2="http://schemas.microsoft.com/office/drawing/2015/06/chart">
            <c:ext xmlns:c16="http://schemas.microsoft.com/office/drawing/2014/chart" uri="{C3380CC4-5D6E-409C-BE32-E72D297353CC}">
              <c16:uniqueId val="{00000000-DF22-1B4A-9DB3-9E69A36ECD8D}"/>
            </c:ext>
          </c:extLst>
        </c:ser>
        <c:ser>
          <c:idx val="1"/>
          <c:order val="1"/>
          <c:tx>
            <c:strRef>
              <c:f>Sheet1!$A$3</c:f>
              <c:strCache>
                <c:ptCount val="1"/>
                <c:pt idx="0">
                  <c:v>AFLfast</c:v>
                </c:pt>
              </c:strCache>
            </c:strRef>
          </c:tx>
          <c:spPr>
            <a:ln w="28575" cap="rnd">
              <a:solidFill>
                <a:schemeClr val="accent2"/>
              </a:solidFill>
              <a:round/>
            </a:ln>
            <a:effectLst/>
          </c:spPr>
          <c:marker>
            <c:symbol val="none"/>
          </c:marker>
          <c:cat>
            <c:numRef>
              <c:f>Sheet1!$B$1:$I$1</c:f>
              <c:numCache>
                <c:formatCode>General</c:formatCode>
                <c:ptCount val="8"/>
                <c:pt idx="0">
                  <c:v>0.0</c:v>
                </c:pt>
                <c:pt idx="1">
                  <c:v>2.0</c:v>
                </c:pt>
                <c:pt idx="2">
                  <c:v>4.0</c:v>
                </c:pt>
                <c:pt idx="3">
                  <c:v>6.0</c:v>
                </c:pt>
                <c:pt idx="4">
                  <c:v>8.0</c:v>
                </c:pt>
                <c:pt idx="5">
                  <c:v>10.0</c:v>
                </c:pt>
                <c:pt idx="6">
                  <c:v>12.0</c:v>
                </c:pt>
                <c:pt idx="7">
                  <c:v>14.0</c:v>
                </c:pt>
              </c:numCache>
            </c:numRef>
          </c:cat>
          <c:val>
            <c:numRef>
              <c:f>Sheet1!$B$3:$I$3</c:f>
              <c:numCache>
                <c:formatCode>General</c:formatCode>
                <c:ptCount val="8"/>
                <c:pt idx="0">
                  <c:v>0.0</c:v>
                </c:pt>
                <c:pt idx="1">
                  <c:v>0.0</c:v>
                </c:pt>
                <c:pt idx="2">
                  <c:v>0.0</c:v>
                </c:pt>
                <c:pt idx="3">
                  <c:v>0.0</c:v>
                </c:pt>
                <c:pt idx="4">
                  <c:v>0.0</c:v>
                </c:pt>
                <c:pt idx="5">
                  <c:v>0.0</c:v>
                </c:pt>
                <c:pt idx="6">
                  <c:v>0.0</c:v>
                </c:pt>
                <c:pt idx="7">
                  <c:v>0.0</c:v>
                </c:pt>
              </c:numCache>
            </c:numRef>
          </c:val>
          <c:smooth val="0"/>
          <c:extLst xmlns:c16r2="http://schemas.microsoft.com/office/drawing/2015/06/chart">
            <c:ext xmlns:c16="http://schemas.microsoft.com/office/drawing/2014/chart" uri="{C3380CC4-5D6E-409C-BE32-E72D297353CC}">
              <c16:uniqueId val="{00000001-DF22-1B4A-9DB3-9E69A36ECD8D}"/>
            </c:ext>
          </c:extLst>
        </c:ser>
        <c:ser>
          <c:idx val="2"/>
          <c:order val="2"/>
          <c:tx>
            <c:strRef>
              <c:f>Sheet1!$A$4</c:f>
              <c:strCache>
                <c:ptCount val="1"/>
                <c:pt idx="0">
                  <c:v>AFLslow1.2</c:v>
                </c:pt>
              </c:strCache>
            </c:strRef>
          </c:tx>
          <c:spPr>
            <a:ln w="28575" cap="rnd">
              <a:solidFill>
                <a:srgbClr val="FF0000"/>
              </a:solidFill>
              <a:round/>
            </a:ln>
            <a:effectLst/>
          </c:spPr>
          <c:marker>
            <c:symbol val="none"/>
          </c:marker>
          <c:cat>
            <c:numRef>
              <c:f>Sheet1!$B$1:$I$1</c:f>
              <c:numCache>
                <c:formatCode>General</c:formatCode>
                <c:ptCount val="8"/>
                <c:pt idx="0">
                  <c:v>0.0</c:v>
                </c:pt>
                <c:pt idx="1">
                  <c:v>2.0</c:v>
                </c:pt>
                <c:pt idx="2">
                  <c:v>4.0</c:v>
                </c:pt>
                <c:pt idx="3">
                  <c:v>6.0</c:v>
                </c:pt>
                <c:pt idx="4">
                  <c:v>8.0</c:v>
                </c:pt>
                <c:pt idx="5">
                  <c:v>10.0</c:v>
                </c:pt>
                <c:pt idx="6">
                  <c:v>12.0</c:v>
                </c:pt>
                <c:pt idx="7">
                  <c:v>14.0</c:v>
                </c:pt>
              </c:numCache>
            </c:numRef>
          </c:cat>
          <c:val>
            <c:numRef>
              <c:f>Sheet1!$B$4:$I$4</c:f>
              <c:numCache>
                <c:formatCode>General</c:formatCode>
                <c:ptCount val="8"/>
                <c:pt idx="0">
                  <c:v>0.0</c:v>
                </c:pt>
                <c:pt idx="1">
                  <c:v>12.0</c:v>
                </c:pt>
                <c:pt idx="2">
                  <c:v>12.0</c:v>
                </c:pt>
                <c:pt idx="3">
                  <c:v>12.0</c:v>
                </c:pt>
                <c:pt idx="4">
                  <c:v>12.0</c:v>
                </c:pt>
                <c:pt idx="5">
                  <c:v>12.0</c:v>
                </c:pt>
                <c:pt idx="6">
                  <c:v>12.0</c:v>
                </c:pt>
                <c:pt idx="7">
                  <c:v>12.0</c:v>
                </c:pt>
              </c:numCache>
            </c:numRef>
          </c:val>
          <c:smooth val="0"/>
          <c:extLst xmlns:c16r2="http://schemas.microsoft.com/office/drawing/2015/06/chart">
            <c:ext xmlns:c16="http://schemas.microsoft.com/office/drawing/2014/chart" uri="{C3380CC4-5D6E-409C-BE32-E72D297353CC}">
              <c16:uniqueId val="{00000002-DF22-1B4A-9DB3-9E69A36ECD8D}"/>
            </c:ext>
          </c:extLst>
        </c:ser>
        <c:ser>
          <c:idx val="3"/>
          <c:order val="3"/>
          <c:tx>
            <c:strRef>
              <c:f>Sheet1!$A$5</c:f>
              <c:strCache>
                <c:ptCount val="1"/>
                <c:pt idx="0">
                  <c:v>AFLslow1.3</c:v>
                </c:pt>
              </c:strCache>
            </c:strRef>
          </c:tx>
          <c:spPr>
            <a:ln w="28575" cap="rnd">
              <a:solidFill>
                <a:srgbClr val="622820"/>
              </a:solidFill>
              <a:round/>
            </a:ln>
            <a:effectLst/>
          </c:spPr>
          <c:marker>
            <c:symbol val="none"/>
          </c:marker>
          <c:cat>
            <c:numRef>
              <c:f>Sheet1!$B$1:$I$1</c:f>
              <c:numCache>
                <c:formatCode>General</c:formatCode>
                <c:ptCount val="8"/>
                <c:pt idx="0">
                  <c:v>0.0</c:v>
                </c:pt>
                <c:pt idx="1">
                  <c:v>2.0</c:v>
                </c:pt>
                <c:pt idx="2">
                  <c:v>4.0</c:v>
                </c:pt>
                <c:pt idx="3">
                  <c:v>6.0</c:v>
                </c:pt>
                <c:pt idx="4">
                  <c:v>8.0</c:v>
                </c:pt>
                <c:pt idx="5">
                  <c:v>10.0</c:v>
                </c:pt>
                <c:pt idx="6">
                  <c:v>12.0</c:v>
                </c:pt>
                <c:pt idx="7">
                  <c:v>14.0</c:v>
                </c:pt>
              </c:numCache>
            </c:numRef>
          </c:cat>
          <c:val>
            <c:numRef>
              <c:f>Sheet1!$B$5:$I$5</c:f>
              <c:numCache>
                <c:formatCode>General</c:formatCode>
                <c:ptCount val="8"/>
                <c:pt idx="0">
                  <c:v>0.0</c:v>
                </c:pt>
                <c:pt idx="1">
                  <c:v>0.0</c:v>
                </c:pt>
                <c:pt idx="2">
                  <c:v>0.0</c:v>
                </c:pt>
                <c:pt idx="3">
                  <c:v>0.0</c:v>
                </c:pt>
                <c:pt idx="4">
                  <c:v>0.0</c:v>
                </c:pt>
                <c:pt idx="5">
                  <c:v>9.0</c:v>
                </c:pt>
                <c:pt idx="6">
                  <c:v>10.0</c:v>
                </c:pt>
                <c:pt idx="7">
                  <c:v>11.0</c:v>
                </c:pt>
              </c:numCache>
            </c:numRef>
          </c:val>
          <c:smooth val="0"/>
          <c:extLst xmlns:c16r2="http://schemas.microsoft.com/office/drawing/2015/06/chart">
            <c:ext xmlns:c16="http://schemas.microsoft.com/office/drawing/2014/chart" uri="{C3380CC4-5D6E-409C-BE32-E72D297353CC}">
              <c16:uniqueId val="{00000003-DF22-1B4A-9DB3-9E69A36ECD8D}"/>
            </c:ext>
          </c:extLst>
        </c:ser>
        <c:ser>
          <c:idx val="4"/>
          <c:order val="4"/>
          <c:tx>
            <c:strRef>
              <c:f>Sheet1!$A$6</c:f>
              <c:strCache>
                <c:ptCount val="1"/>
                <c:pt idx="0">
                  <c:v>AFLslow1.4</c:v>
                </c:pt>
              </c:strCache>
            </c:strRef>
          </c:tx>
          <c:spPr>
            <a:ln w="28575" cap="rnd">
              <a:solidFill>
                <a:schemeClr val="accent6">
                  <a:lumMod val="60000"/>
                  <a:lumOff val="40000"/>
                </a:schemeClr>
              </a:solidFill>
              <a:round/>
            </a:ln>
            <a:effectLst/>
          </c:spPr>
          <c:marker>
            <c:symbol val="none"/>
          </c:marker>
          <c:cat>
            <c:numRef>
              <c:f>Sheet1!$B$1:$I$1</c:f>
              <c:numCache>
                <c:formatCode>General</c:formatCode>
                <c:ptCount val="8"/>
                <c:pt idx="0">
                  <c:v>0.0</c:v>
                </c:pt>
                <c:pt idx="1">
                  <c:v>2.0</c:v>
                </c:pt>
                <c:pt idx="2">
                  <c:v>4.0</c:v>
                </c:pt>
                <c:pt idx="3">
                  <c:v>6.0</c:v>
                </c:pt>
                <c:pt idx="4">
                  <c:v>8.0</c:v>
                </c:pt>
                <c:pt idx="5">
                  <c:v>10.0</c:v>
                </c:pt>
                <c:pt idx="6">
                  <c:v>12.0</c:v>
                </c:pt>
                <c:pt idx="7">
                  <c:v>14.0</c:v>
                </c:pt>
              </c:numCache>
            </c:numRef>
          </c:cat>
          <c:val>
            <c:numRef>
              <c:f>Sheet1!$B$6:$I$6</c:f>
              <c:numCache>
                <c:formatCode>General</c:formatCode>
                <c:ptCount val="8"/>
                <c:pt idx="0">
                  <c:v>0.0</c:v>
                </c:pt>
                <c:pt idx="1">
                  <c:v>0.0</c:v>
                </c:pt>
                <c:pt idx="2">
                  <c:v>0.0</c:v>
                </c:pt>
                <c:pt idx="3">
                  <c:v>0.0</c:v>
                </c:pt>
                <c:pt idx="4">
                  <c:v>0.0</c:v>
                </c:pt>
                <c:pt idx="5">
                  <c:v>0.0</c:v>
                </c:pt>
                <c:pt idx="6">
                  <c:v>0.0</c:v>
                </c:pt>
                <c:pt idx="7">
                  <c:v>0.0</c:v>
                </c:pt>
              </c:numCache>
            </c:numRef>
          </c:val>
          <c:smooth val="0"/>
          <c:extLst xmlns:c16r2="http://schemas.microsoft.com/office/drawing/2015/06/chart">
            <c:ext xmlns:c16="http://schemas.microsoft.com/office/drawing/2014/chart" uri="{C3380CC4-5D6E-409C-BE32-E72D297353CC}">
              <c16:uniqueId val="{00000004-DF22-1B4A-9DB3-9E69A36ECD8D}"/>
            </c:ext>
          </c:extLst>
        </c:ser>
        <c:dLbls>
          <c:showLegendKey val="0"/>
          <c:showVal val="0"/>
          <c:showCatName val="0"/>
          <c:showSerName val="0"/>
          <c:showPercent val="0"/>
          <c:showBubbleSize val="0"/>
        </c:dLbls>
        <c:smooth val="0"/>
        <c:axId val="-1462101840"/>
        <c:axId val="-1571251920"/>
      </c:lineChart>
      <c:catAx>
        <c:axId val="-1462101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71251920"/>
        <c:crosses val="autoZero"/>
        <c:auto val="1"/>
        <c:lblAlgn val="ctr"/>
        <c:lblOffset val="100"/>
        <c:noMultiLvlLbl val="0"/>
      </c:catAx>
      <c:valAx>
        <c:axId val="-15712519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46210184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dirty="0"/>
              <a:t>nm-new</a:t>
            </a:r>
            <a:endParaRPr lang="zh-CN" alt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Sheet1!$L$2</c:f>
              <c:strCache>
                <c:ptCount val="1"/>
                <c:pt idx="0">
                  <c:v>AFL</c:v>
                </c:pt>
              </c:strCache>
            </c:strRef>
          </c:tx>
          <c:spPr>
            <a:ln w="28575" cap="rnd">
              <a:solidFill>
                <a:schemeClr val="accent1"/>
              </a:solidFill>
              <a:prstDash val="sysDot"/>
              <a:round/>
            </a:ln>
            <a:effectLst/>
          </c:spPr>
          <c:marker>
            <c:symbol val="none"/>
          </c:marker>
          <c:cat>
            <c:numRef>
              <c:f>Sheet1!$M$1:$V$1</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Sheet1!$M$2:$V$2</c:f>
              <c:numCache>
                <c:formatCode>General</c:formatCode>
                <c:ptCount val="10"/>
                <c:pt idx="0">
                  <c:v>0.0</c:v>
                </c:pt>
                <c:pt idx="1">
                  <c:v>125.0</c:v>
                </c:pt>
                <c:pt idx="2">
                  <c:v>250.0</c:v>
                </c:pt>
                <c:pt idx="3">
                  <c:v>350.0</c:v>
                </c:pt>
                <c:pt idx="4">
                  <c:v>420.0</c:v>
                </c:pt>
                <c:pt idx="5">
                  <c:v>448.0</c:v>
                </c:pt>
                <c:pt idx="6">
                  <c:v>448.0</c:v>
                </c:pt>
                <c:pt idx="7">
                  <c:v>448.0</c:v>
                </c:pt>
                <c:pt idx="8">
                  <c:v>448.0</c:v>
                </c:pt>
                <c:pt idx="9">
                  <c:v>448.0</c:v>
                </c:pt>
              </c:numCache>
            </c:numRef>
          </c:val>
          <c:smooth val="0"/>
          <c:extLst xmlns:c16r2="http://schemas.microsoft.com/office/drawing/2015/06/chart">
            <c:ext xmlns:c16="http://schemas.microsoft.com/office/drawing/2014/chart" uri="{C3380CC4-5D6E-409C-BE32-E72D297353CC}">
              <c16:uniqueId val="{00000000-F44F-2F46-AFB2-5BF8EC9447AA}"/>
            </c:ext>
          </c:extLst>
        </c:ser>
        <c:ser>
          <c:idx val="1"/>
          <c:order val="1"/>
          <c:tx>
            <c:strRef>
              <c:f>Sheet1!$L$3</c:f>
              <c:strCache>
                <c:ptCount val="1"/>
                <c:pt idx="0">
                  <c:v>AFLfast</c:v>
                </c:pt>
              </c:strCache>
            </c:strRef>
          </c:tx>
          <c:spPr>
            <a:ln w="28575" cap="rnd">
              <a:solidFill>
                <a:schemeClr val="accent2"/>
              </a:solidFill>
              <a:round/>
            </a:ln>
            <a:effectLst/>
          </c:spPr>
          <c:marker>
            <c:symbol val="none"/>
          </c:marker>
          <c:cat>
            <c:numRef>
              <c:f>Sheet1!$M$1:$V$1</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Sheet1!$M$3:$V$3</c:f>
              <c:numCache>
                <c:formatCode>General</c:formatCode>
                <c:ptCount val="10"/>
                <c:pt idx="0">
                  <c:v>0.0</c:v>
                </c:pt>
                <c:pt idx="1">
                  <c:v>280.0</c:v>
                </c:pt>
                <c:pt idx="2">
                  <c:v>600.0</c:v>
                </c:pt>
                <c:pt idx="3">
                  <c:v>660.0</c:v>
                </c:pt>
                <c:pt idx="4">
                  <c:v>700.0</c:v>
                </c:pt>
                <c:pt idx="5">
                  <c:v>780.0</c:v>
                </c:pt>
                <c:pt idx="6">
                  <c:v>820.0</c:v>
                </c:pt>
                <c:pt idx="7">
                  <c:v>890.0</c:v>
                </c:pt>
                <c:pt idx="8">
                  <c:v>950.0</c:v>
                </c:pt>
                <c:pt idx="9">
                  <c:v>985.0</c:v>
                </c:pt>
              </c:numCache>
            </c:numRef>
          </c:val>
          <c:smooth val="0"/>
          <c:extLst xmlns:c16r2="http://schemas.microsoft.com/office/drawing/2015/06/chart">
            <c:ext xmlns:c16="http://schemas.microsoft.com/office/drawing/2014/chart" uri="{C3380CC4-5D6E-409C-BE32-E72D297353CC}">
              <c16:uniqueId val="{00000001-F44F-2F46-AFB2-5BF8EC9447AA}"/>
            </c:ext>
          </c:extLst>
        </c:ser>
        <c:ser>
          <c:idx val="2"/>
          <c:order val="2"/>
          <c:tx>
            <c:strRef>
              <c:f>Sheet1!$L$4</c:f>
              <c:strCache>
                <c:ptCount val="1"/>
                <c:pt idx="0">
                  <c:v>AFLslow1.2</c:v>
                </c:pt>
              </c:strCache>
            </c:strRef>
          </c:tx>
          <c:spPr>
            <a:ln w="28575" cap="rnd">
              <a:solidFill>
                <a:srgbClr val="FF0000"/>
              </a:solidFill>
              <a:round/>
            </a:ln>
            <a:effectLst/>
          </c:spPr>
          <c:marker>
            <c:symbol val="none"/>
          </c:marker>
          <c:cat>
            <c:numRef>
              <c:f>Sheet1!$M$1:$V$1</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Sheet1!$M$4:$V$4</c:f>
              <c:numCache>
                <c:formatCode>General</c:formatCode>
                <c:ptCount val="10"/>
                <c:pt idx="0">
                  <c:v>0.0</c:v>
                </c:pt>
                <c:pt idx="1">
                  <c:v>190.0</c:v>
                </c:pt>
                <c:pt idx="2">
                  <c:v>280.0</c:v>
                </c:pt>
                <c:pt idx="3">
                  <c:v>740.0</c:v>
                </c:pt>
                <c:pt idx="4">
                  <c:v>900.0</c:v>
                </c:pt>
                <c:pt idx="5">
                  <c:v>1120.0</c:v>
                </c:pt>
                <c:pt idx="6">
                  <c:v>1200.0</c:v>
                </c:pt>
                <c:pt idx="7">
                  <c:v>1250.0</c:v>
                </c:pt>
                <c:pt idx="8">
                  <c:v>1280.0</c:v>
                </c:pt>
                <c:pt idx="9">
                  <c:v>1280.0</c:v>
                </c:pt>
              </c:numCache>
            </c:numRef>
          </c:val>
          <c:smooth val="0"/>
          <c:extLst xmlns:c16r2="http://schemas.microsoft.com/office/drawing/2015/06/chart">
            <c:ext xmlns:c16="http://schemas.microsoft.com/office/drawing/2014/chart" uri="{C3380CC4-5D6E-409C-BE32-E72D297353CC}">
              <c16:uniqueId val="{00000002-F44F-2F46-AFB2-5BF8EC9447AA}"/>
            </c:ext>
          </c:extLst>
        </c:ser>
        <c:ser>
          <c:idx val="3"/>
          <c:order val="3"/>
          <c:tx>
            <c:strRef>
              <c:f>Sheet1!$L$5</c:f>
              <c:strCache>
                <c:ptCount val="1"/>
                <c:pt idx="0">
                  <c:v>AFLslow1.3</c:v>
                </c:pt>
              </c:strCache>
            </c:strRef>
          </c:tx>
          <c:spPr>
            <a:ln w="28575" cap="rnd">
              <a:solidFill>
                <a:srgbClr val="622820"/>
              </a:solidFill>
              <a:round/>
            </a:ln>
            <a:effectLst/>
          </c:spPr>
          <c:marker>
            <c:symbol val="none"/>
          </c:marker>
          <c:cat>
            <c:numRef>
              <c:f>Sheet1!$M$1:$V$1</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Sheet1!$M$5:$V$5</c:f>
              <c:numCache>
                <c:formatCode>General</c:formatCode>
                <c:ptCount val="10"/>
                <c:pt idx="0">
                  <c:v>0.0</c:v>
                </c:pt>
                <c:pt idx="1">
                  <c:v>300.0</c:v>
                </c:pt>
                <c:pt idx="2">
                  <c:v>600.0</c:v>
                </c:pt>
                <c:pt idx="3">
                  <c:v>700.0</c:v>
                </c:pt>
                <c:pt idx="4">
                  <c:v>780.0</c:v>
                </c:pt>
                <c:pt idx="5">
                  <c:v>890.0</c:v>
                </c:pt>
                <c:pt idx="6">
                  <c:v>950.0</c:v>
                </c:pt>
                <c:pt idx="7">
                  <c:v>980.0</c:v>
                </c:pt>
                <c:pt idx="8">
                  <c:v>991.0</c:v>
                </c:pt>
              </c:numCache>
            </c:numRef>
          </c:val>
          <c:smooth val="0"/>
          <c:extLst xmlns:c16r2="http://schemas.microsoft.com/office/drawing/2015/06/chart">
            <c:ext xmlns:c16="http://schemas.microsoft.com/office/drawing/2014/chart" uri="{C3380CC4-5D6E-409C-BE32-E72D297353CC}">
              <c16:uniqueId val="{00000003-F44F-2F46-AFB2-5BF8EC9447AA}"/>
            </c:ext>
          </c:extLst>
        </c:ser>
        <c:ser>
          <c:idx val="4"/>
          <c:order val="4"/>
          <c:tx>
            <c:strRef>
              <c:f>Sheet1!$L$6</c:f>
              <c:strCache>
                <c:ptCount val="1"/>
                <c:pt idx="0">
                  <c:v>AFLslow1.4</c:v>
                </c:pt>
              </c:strCache>
            </c:strRef>
          </c:tx>
          <c:spPr>
            <a:ln w="28575" cap="rnd">
              <a:solidFill>
                <a:srgbClr val="FFC000"/>
              </a:solidFill>
              <a:round/>
            </a:ln>
            <a:effectLst/>
          </c:spPr>
          <c:marker>
            <c:symbol val="none"/>
          </c:marker>
          <c:cat>
            <c:numRef>
              <c:f>Sheet1!$M$1:$V$1</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Sheet1!$M$6:$V$6</c:f>
              <c:numCache>
                <c:formatCode>General</c:formatCode>
                <c:ptCount val="10"/>
                <c:pt idx="0">
                  <c:v>0.0</c:v>
                </c:pt>
                <c:pt idx="1">
                  <c:v>180.0</c:v>
                </c:pt>
                <c:pt idx="2">
                  <c:v>300.0</c:v>
                </c:pt>
                <c:pt idx="3">
                  <c:v>700.0</c:v>
                </c:pt>
                <c:pt idx="4">
                  <c:v>800.0</c:v>
                </c:pt>
                <c:pt idx="5">
                  <c:v>840.0</c:v>
                </c:pt>
                <c:pt idx="6">
                  <c:v>890.0</c:v>
                </c:pt>
                <c:pt idx="7">
                  <c:v>950.0</c:v>
                </c:pt>
                <c:pt idx="8">
                  <c:v>1000.0</c:v>
                </c:pt>
                <c:pt idx="9">
                  <c:v>1044.0</c:v>
                </c:pt>
              </c:numCache>
            </c:numRef>
          </c:val>
          <c:smooth val="0"/>
          <c:extLst xmlns:c16r2="http://schemas.microsoft.com/office/drawing/2015/06/chart">
            <c:ext xmlns:c16="http://schemas.microsoft.com/office/drawing/2014/chart" uri="{C3380CC4-5D6E-409C-BE32-E72D297353CC}">
              <c16:uniqueId val="{00000004-F44F-2F46-AFB2-5BF8EC9447AA}"/>
            </c:ext>
          </c:extLst>
        </c:ser>
        <c:dLbls>
          <c:showLegendKey val="0"/>
          <c:showVal val="0"/>
          <c:showCatName val="0"/>
          <c:showSerName val="0"/>
          <c:showPercent val="0"/>
          <c:showBubbleSize val="0"/>
        </c:dLbls>
        <c:smooth val="0"/>
        <c:axId val="-1467132720"/>
        <c:axId val="-1528137488"/>
      </c:lineChart>
      <c:catAx>
        <c:axId val="-1467132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28137488"/>
        <c:crosses val="autoZero"/>
        <c:auto val="1"/>
        <c:lblAlgn val="ctr"/>
        <c:lblOffset val="100"/>
        <c:noMultiLvlLbl val="0"/>
      </c:catAx>
      <c:valAx>
        <c:axId val="-1528137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46713272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dirty="0"/>
              <a:t>size</a:t>
            </a:r>
            <a:endParaRPr lang="zh-CN" alt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0.0979168853893263"/>
          <c:y val="0.0232640711577719"/>
          <c:w val="0.902083114610674"/>
          <c:h val="0.629539224263634"/>
        </c:manualLayout>
      </c:layout>
      <c:lineChart>
        <c:grouping val="standard"/>
        <c:varyColors val="0"/>
        <c:ser>
          <c:idx val="0"/>
          <c:order val="0"/>
          <c:tx>
            <c:strRef>
              <c:f>Sheet1!$C$28</c:f>
              <c:strCache>
                <c:ptCount val="1"/>
                <c:pt idx="0">
                  <c:v>AFL</c:v>
                </c:pt>
              </c:strCache>
            </c:strRef>
          </c:tx>
          <c:spPr>
            <a:ln w="28575" cap="rnd">
              <a:solidFill>
                <a:schemeClr val="accent1"/>
              </a:solidFill>
              <a:prstDash val="sysDot"/>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Sheet1!$D$28:$M$28</c:f>
              <c:numCache>
                <c:formatCode>General</c:formatCode>
                <c:ptCount val="10"/>
                <c:pt idx="0">
                  <c:v>0.0</c:v>
                </c:pt>
                <c:pt idx="1">
                  <c:v>0.0</c:v>
                </c:pt>
                <c:pt idx="2">
                  <c:v>0.0</c:v>
                </c:pt>
                <c:pt idx="3">
                  <c:v>0.0</c:v>
                </c:pt>
                <c:pt idx="4">
                  <c:v>0.0</c:v>
                </c:pt>
                <c:pt idx="5">
                  <c:v>0.0</c:v>
                </c:pt>
                <c:pt idx="6">
                  <c:v>0.0</c:v>
                </c:pt>
                <c:pt idx="7">
                  <c:v>0.0</c:v>
                </c:pt>
                <c:pt idx="8">
                  <c:v>0.0</c:v>
                </c:pt>
                <c:pt idx="9">
                  <c:v>0.0</c:v>
                </c:pt>
              </c:numCache>
            </c:numRef>
          </c:val>
          <c:smooth val="0"/>
          <c:extLst xmlns:c16r2="http://schemas.microsoft.com/office/drawing/2015/06/chart">
            <c:ext xmlns:c16="http://schemas.microsoft.com/office/drawing/2014/chart" uri="{C3380CC4-5D6E-409C-BE32-E72D297353CC}">
              <c16:uniqueId val="{00000000-1EE1-F24A-A87B-929BBAA49BF7}"/>
            </c:ext>
          </c:extLst>
        </c:ser>
        <c:ser>
          <c:idx val="1"/>
          <c:order val="1"/>
          <c:tx>
            <c:strRef>
              <c:f>Sheet1!$C$29</c:f>
              <c:strCache>
                <c:ptCount val="1"/>
                <c:pt idx="0">
                  <c:v>AFLfast</c:v>
                </c:pt>
              </c:strCache>
            </c:strRef>
          </c:tx>
          <c:spPr>
            <a:ln w="28575" cap="rnd">
              <a:solidFill>
                <a:schemeClr val="accent2"/>
              </a:solidFill>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Sheet1!$D$29:$M$29</c:f>
              <c:numCache>
                <c:formatCode>General</c:formatCode>
                <c:ptCount val="10"/>
                <c:pt idx="0">
                  <c:v>0.0</c:v>
                </c:pt>
                <c:pt idx="1">
                  <c:v>0.0</c:v>
                </c:pt>
                <c:pt idx="2">
                  <c:v>0.0</c:v>
                </c:pt>
                <c:pt idx="3">
                  <c:v>0.0</c:v>
                </c:pt>
                <c:pt idx="4">
                  <c:v>0.0</c:v>
                </c:pt>
                <c:pt idx="5">
                  <c:v>0.0</c:v>
                </c:pt>
                <c:pt idx="6">
                  <c:v>0.0</c:v>
                </c:pt>
                <c:pt idx="7">
                  <c:v>0.0</c:v>
                </c:pt>
                <c:pt idx="8">
                  <c:v>0.0</c:v>
                </c:pt>
                <c:pt idx="9">
                  <c:v>0.0</c:v>
                </c:pt>
              </c:numCache>
            </c:numRef>
          </c:val>
          <c:smooth val="0"/>
          <c:extLst xmlns:c16r2="http://schemas.microsoft.com/office/drawing/2015/06/chart">
            <c:ext xmlns:c16="http://schemas.microsoft.com/office/drawing/2014/chart" uri="{C3380CC4-5D6E-409C-BE32-E72D297353CC}">
              <c16:uniqueId val="{00000001-1EE1-F24A-A87B-929BBAA49BF7}"/>
            </c:ext>
          </c:extLst>
        </c:ser>
        <c:ser>
          <c:idx val="2"/>
          <c:order val="2"/>
          <c:tx>
            <c:strRef>
              <c:f>Sheet1!$C$30</c:f>
              <c:strCache>
                <c:ptCount val="1"/>
                <c:pt idx="0">
                  <c:v>AFLslow1.2</c:v>
                </c:pt>
              </c:strCache>
            </c:strRef>
          </c:tx>
          <c:spPr>
            <a:ln w="28575" cap="rnd">
              <a:solidFill>
                <a:srgbClr val="FF0000"/>
              </a:solidFill>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Sheet1!$D$30:$M$30</c:f>
              <c:numCache>
                <c:formatCode>General</c:formatCode>
                <c:ptCount val="10"/>
                <c:pt idx="0">
                  <c:v>0.0</c:v>
                </c:pt>
                <c:pt idx="1">
                  <c:v>10.0</c:v>
                </c:pt>
                <c:pt idx="2">
                  <c:v>11.0</c:v>
                </c:pt>
                <c:pt idx="3">
                  <c:v>11.0</c:v>
                </c:pt>
                <c:pt idx="4">
                  <c:v>11.0</c:v>
                </c:pt>
                <c:pt idx="5">
                  <c:v>13.0</c:v>
                </c:pt>
                <c:pt idx="6">
                  <c:v>14.0</c:v>
                </c:pt>
                <c:pt idx="7">
                  <c:v>14.0</c:v>
                </c:pt>
                <c:pt idx="8">
                  <c:v>14.0</c:v>
                </c:pt>
                <c:pt idx="9">
                  <c:v>14.0</c:v>
                </c:pt>
              </c:numCache>
            </c:numRef>
          </c:val>
          <c:smooth val="0"/>
          <c:extLst xmlns:c16r2="http://schemas.microsoft.com/office/drawing/2015/06/chart">
            <c:ext xmlns:c16="http://schemas.microsoft.com/office/drawing/2014/chart" uri="{C3380CC4-5D6E-409C-BE32-E72D297353CC}">
              <c16:uniqueId val="{00000002-1EE1-F24A-A87B-929BBAA49BF7}"/>
            </c:ext>
          </c:extLst>
        </c:ser>
        <c:ser>
          <c:idx val="3"/>
          <c:order val="3"/>
          <c:tx>
            <c:strRef>
              <c:f>Sheet1!$C$31</c:f>
              <c:strCache>
                <c:ptCount val="1"/>
                <c:pt idx="0">
                  <c:v>AFLslow1.3</c:v>
                </c:pt>
              </c:strCache>
            </c:strRef>
          </c:tx>
          <c:spPr>
            <a:ln w="28575" cap="rnd">
              <a:solidFill>
                <a:srgbClr val="622820"/>
              </a:solidFill>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Sheet1!$D$31:$M$31</c:f>
              <c:numCache>
                <c:formatCode>General</c:formatCode>
                <c:ptCount val="10"/>
                <c:pt idx="0">
                  <c:v>0.0</c:v>
                </c:pt>
                <c:pt idx="1">
                  <c:v>12.0</c:v>
                </c:pt>
                <c:pt idx="2">
                  <c:v>12.0</c:v>
                </c:pt>
                <c:pt idx="3">
                  <c:v>12.0</c:v>
                </c:pt>
                <c:pt idx="4">
                  <c:v>12.0</c:v>
                </c:pt>
                <c:pt idx="5">
                  <c:v>13.0</c:v>
                </c:pt>
                <c:pt idx="6">
                  <c:v>13.0</c:v>
                </c:pt>
                <c:pt idx="7">
                  <c:v>13.0</c:v>
                </c:pt>
                <c:pt idx="8">
                  <c:v>13.0</c:v>
                </c:pt>
                <c:pt idx="9">
                  <c:v>13.0</c:v>
                </c:pt>
              </c:numCache>
            </c:numRef>
          </c:val>
          <c:smooth val="0"/>
          <c:extLst xmlns:c16r2="http://schemas.microsoft.com/office/drawing/2015/06/chart">
            <c:ext xmlns:c16="http://schemas.microsoft.com/office/drawing/2014/chart" uri="{C3380CC4-5D6E-409C-BE32-E72D297353CC}">
              <c16:uniqueId val="{00000003-1EE1-F24A-A87B-929BBAA49BF7}"/>
            </c:ext>
          </c:extLst>
        </c:ser>
        <c:ser>
          <c:idx val="4"/>
          <c:order val="4"/>
          <c:tx>
            <c:strRef>
              <c:f>Sheet1!$C$32</c:f>
              <c:strCache>
                <c:ptCount val="1"/>
                <c:pt idx="0">
                  <c:v>AFLslow1.4</c:v>
                </c:pt>
              </c:strCache>
            </c:strRef>
          </c:tx>
          <c:spPr>
            <a:ln w="28575" cap="rnd">
              <a:solidFill>
                <a:schemeClr val="accent6">
                  <a:lumMod val="60000"/>
                  <a:lumOff val="40000"/>
                </a:schemeClr>
              </a:solidFill>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Sheet1!$D$32:$M$32</c:f>
              <c:numCache>
                <c:formatCode>General</c:formatCode>
                <c:ptCount val="10"/>
                <c:pt idx="0">
                  <c:v>0.0</c:v>
                </c:pt>
                <c:pt idx="1">
                  <c:v>0.0</c:v>
                </c:pt>
                <c:pt idx="2">
                  <c:v>0.0</c:v>
                </c:pt>
                <c:pt idx="3">
                  <c:v>0.0</c:v>
                </c:pt>
                <c:pt idx="4">
                  <c:v>0.0</c:v>
                </c:pt>
                <c:pt idx="5">
                  <c:v>0.0</c:v>
                </c:pt>
                <c:pt idx="6">
                  <c:v>0.0</c:v>
                </c:pt>
                <c:pt idx="7">
                  <c:v>0.0</c:v>
                </c:pt>
                <c:pt idx="8">
                  <c:v>0.0</c:v>
                </c:pt>
                <c:pt idx="9">
                  <c:v>0.0</c:v>
                </c:pt>
              </c:numCache>
            </c:numRef>
          </c:val>
          <c:smooth val="0"/>
          <c:extLst xmlns:c16r2="http://schemas.microsoft.com/office/drawing/2015/06/chart">
            <c:ext xmlns:c16="http://schemas.microsoft.com/office/drawing/2014/chart" uri="{C3380CC4-5D6E-409C-BE32-E72D297353CC}">
              <c16:uniqueId val="{00000004-1EE1-F24A-A87B-929BBAA49BF7}"/>
            </c:ext>
          </c:extLst>
        </c:ser>
        <c:dLbls>
          <c:showLegendKey val="0"/>
          <c:showVal val="0"/>
          <c:showCatName val="0"/>
          <c:showSerName val="0"/>
          <c:showPercent val="0"/>
          <c:showBubbleSize val="0"/>
        </c:dLbls>
        <c:smooth val="0"/>
        <c:axId val="-1527930720"/>
        <c:axId val="-1571562912"/>
      </c:lineChart>
      <c:catAx>
        <c:axId val="-1527930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71562912"/>
        <c:crosses val="autoZero"/>
        <c:auto val="1"/>
        <c:lblAlgn val="ctr"/>
        <c:lblOffset val="100"/>
        <c:noMultiLvlLbl val="0"/>
      </c:catAx>
      <c:valAx>
        <c:axId val="-1571562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2793072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dirty="0"/>
              <a:t>图</a:t>
            </a:r>
            <a:r>
              <a:rPr lang="en-US" altLang="zh-CN" dirty="0"/>
              <a:t>1</a:t>
            </a:r>
            <a:r>
              <a:rPr lang="zh-CN" altLang="en-US" dirty="0"/>
              <a:t> </a:t>
            </a:r>
            <a:r>
              <a:rPr lang="en-US" altLang="zh-CN" dirty="0" err="1"/>
              <a:t>objdump</a:t>
            </a:r>
            <a:r>
              <a:rPr lang="zh-CN" altLang="en-US" dirty="0"/>
              <a:t>中更多新路径的影响</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1"/>
          <c:order val="0"/>
          <c:tx>
            <c:strRef>
              <c:f>Sheet1!$A$3</c:f>
              <c:strCache>
                <c:ptCount val="1"/>
                <c:pt idx="0">
                  <c:v>AFLfast</c:v>
                </c:pt>
              </c:strCache>
            </c:strRef>
          </c:tx>
          <c:spPr>
            <a:ln w="28575" cap="rnd">
              <a:solidFill>
                <a:schemeClr val="accent2"/>
              </a:solidFill>
              <a:round/>
            </a:ln>
            <a:effectLst/>
          </c:spPr>
          <c:marker>
            <c:symbol val="none"/>
          </c:marker>
          <c:cat>
            <c:numRef>
              <c:f>Sheet1!$B$1:$I$1</c:f>
              <c:numCache>
                <c:formatCode>General</c:formatCode>
                <c:ptCount val="8"/>
                <c:pt idx="0">
                  <c:v>0.0</c:v>
                </c:pt>
                <c:pt idx="1">
                  <c:v>2.0</c:v>
                </c:pt>
                <c:pt idx="2">
                  <c:v>4.0</c:v>
                </c:pt>
                <c:pt idx="3">
                  <c:v>6.0</c:v>
                </c:pt>
                <c:pt idx="4">
                  <c:v>8.0</c:v>
                </c:pt>
                <c:pt idx="5">
                  <c:v>10.0</c:v>
                </c:pt>
                <c:pt idx="6">
                  <c:v>12.0</c:v>
                </c:pt>
                <c:pt idx="7">
                  <c:v>14.0</c:v>
                </c:pt>
              </c:numCache>
            </c:numRef>
          </c:cat>
          <c:val>
            <c:numRef>
              <c:f>Sheet1!$B$3:$I$3</c:f>
              <c:numCache>
                <c:formatCode>General</c:formatCode>
                <c:ptCount val="8"/>
                <c:pt idx="0">
                  <c:v>0.0</c:v>
                </c:pt>
                <c:pt idx="1">
                  <c:v>0.0</c:v>
                </c:pt>
                <c:pt idx="2">
                  <c:v>0.0</c:v>
                </c:pt>
                <c:pt idx="3">
                  <c:v>0.0</c:v>
                </c:pt>
                <c:pt idx="4">
                  <c:v>0.0</c:v>
                </c:pt>
                <c:pt idx="5">
                  <c:v>0.0</c:v>
                </c:pt>
                <c:pt idx="6">
                  <c:v>0.0</c:v>
                </c:pt>
                <c:pt idx="7">
                  <c:v>0.0</c:v>
                </c:pt>
              </c:numCache>
            </c:numRef>
          </c:val>
          <c:smooth val="0"/>
          <c:extLst xmlns:c16r2="http://schemas.microsoft.com/office/drawing/2015/06/chart">
            <c:ext xmlns:c16="http://schemas.microsoft.com/office/drawing/2014/chart" uri="{C3380CC4-5D6E-409C-BE32-E72D297353CC}">
              <c16:uniqueId val="{00000001-84A1-D143-8144-BA6197CA6E7A}"/>
            </c:ext>
          </c:extLst>
        </c:ser>
        <c:ser>
          <c:idx val="2"/>
          <c:order val="1"/>
          <c:tx>
            <c:strRef>
              <c:f>Sheet1!$A$4</c:f>
              <c:strCache>
                <c:ptCount val="1"/>
                <c:pt idx="0">
                  <c:v>AFLslow1.2</c:v>
                </c:pt>
              </c:strCache>
            </c:strRef>
          </c:tx>
          <c:spPr>
            <a:ln w="28575" cap="rnd">
              <a:solidFill>
                <a:srgbClr val="FF0000"/>
              </a:solidFill>
              <a:round/>
            </a:ln>
            <a:effectLst/>
          </c:spPr>
          <c:marker>
            <c:symbol val="none"/>
          </c:marker>
          <c:cat>
            <c:numRef>
              <c:f>Sheet1!$B$1:$I$1</c:f>
              <c:numCache>
                <c:formatCode>General</c:formatCode>
                <c:ptCount val="8"/>
                <c:pt idx="0">
                  <c:v>0.0</c:v>
                </c:pt>
                <c:pt idx="1">
                  <c:v>2.0</c:v>
                </c:pt>
                <c:pt idx="2">
                  <c:v>4.0</c:v>
                </c:pt>
                <c:pt idx="3">
                  <c:v>6.0</c:v>
                </c:pt>
                <c:pt idx="4">
                  <c:v>8.0</c:v>
                </c:pt>
                <c:pt idx="5">
                  <c:v>10.0</c:v>
                </c:pt>
                <c:pt idx="6">
                  <c:v>12.0</c:v>
                </c:pt>
                <c:pt idx="7">
                  <c:v>14.0</c:v>
                </c:pt>
              </c:numCache>
            </c:numRef>
          </c:cat>
          <c:val>
            <c:numRef>
              <c:f>Sheet1!$B$4:$I$4</c:f>
              <c:numCache>
                <c:formatCode>General</c:formatCode>
                <c:ptCount val="8"/>
                <c:pt idx="0">
                  <c:v>0.0</c:v>
                </c:pt>
                <c:pt idx="1">
                  <c:v>12.0</c:v>
                </c:pt>
                <c:pt idx="2">
                  <c:v>12.0</c:v>
                </c:pt>
                <c:pt idx="3">
                  <c:v>12.0</c:v>
                </c:pt>
                <c:pt idx="4">
                  <c:v>12.0</c:v>
                </c:pt>
                <c:pt idx="5">
                  <c:v>12.0</c:v>
                </c:pt>
                <c:pt idx="6">
                  <c:v>12.0</c:v>
                </c:pt>
                <c:pt idx="7">
                  <c:v>12.0</c:v>
                </c:pt>
              </c:numCache>
            </c:numRef>
          </c:val>
          <c:smooth val="0"/>
          <c:extLst xmlns:c16r2="http://schemas.microsoft.com/office/drawing/2015/06/chart">
            <c:ext xmlns:c16="http://schemas.microsoft.com/office/drawing/2014/chart" uri="{C3380CC4-5D6E-409C-BE32-E72D297353CC}">
              <c16:uniqueId val="{00000002-84A1-D143-8144-BA6197CA6E7A}"/>
            </c:ext>
          </c:extLst>
        </c:ser>
        <c:ser>
          <c:idx val="3"/>
          <c:order val="2"/>
          <c:tx>
            <c:strRef>
              <c:f>Sheet1!$A$5</c:f>
              <c:strCache>
                <c:ptCount val="1"/>
                <c:pt idx="0">
                  <c:v>AFLslow1.3</c:v>
                </c:pt>
              </c:strCache>
            </c:strRef>
          </c:tx>
          <c:spPr>
            <a:ln w="28575" cap="rnd">
              <a:solidFill>
                <a:srgbClr val="622820"/>
              </a:solidFill>
              <a:round/>
            </a:ln>
            <a:effectLst/>
          </c:spPr>
          <c:marker>
            <c:symbol val="none"/>
          </c:marker>
          <c:cat>
            <c:numRef>
              <c:f>Sheet1!$B$1:$I$1</c:f>
              <c:numCache>
                <c:formatCode>General</c:formatCode>
                <c:ptCount val="8"/>
                <c:pt idx="0">
                  <c:v>0.0</c:v>
                </c:pt>
                <c:pt idx="1">
                  <c:v>2.0</c:v>
                </c:pt>
                <c:pt idx="2">
                  <c:v>4.0</c:v>
                </c:pt>
                <c:pt idx="3">
                  <c:v>6.0</c:v>
                </c:pt>
                <c:pt idx="4">
                  <c:v>8.0</c:v>
                </c:pt>
                <c:pt idx="5">
                  <c:v>10.0</c:v>
                </c:pt>
                <c:pt idx="6">
                  <c:v>12.0</c:v>
                </c:pt>
                <c:pt idx="7">
                  <c:v>14.0</c:v>
                </c:pt>
              </c:numCache>
            </c:numRef>
          </c:cat>
          <c:val>
            <c:numRef>
              <c:f>Sheet1!$B$5:$I$5</c:f>
              <c:numCache>
                <c:formatCode>General</c:formatCode>
                <c:ptCount val="8"/>
                <c:pt idx="0">
                  <c:v>0.0</c:v>
                </c:pt>
                <c:pt idx="1">
                  <c:v>0.0</c:v>
                </c:pt>
                <c:pt idx="2">
                  <c:v>0.0</c:v>
                </c:pt>
                <c:pt idx="3">
                  <c:v>0.0</c:v>
                </c:pt>
                <c:pt idx="4">
                  <c:v>0.0</c:v>
                </c:pt>
                <c:pt idx="5">
                  <c:v>9.0</c:v>
                </c:pt>
                <c:pt idx="6">
                  <c:v>10.0</c:v>
                </c:pt>
                <c:pt idx="7">
                  <c:v>11.0</c:v>
                </c:pt>
              </c:numCache>
            </c:numRef>
          </c:val>
          <c:smooth val="0"/>
          <c:extLst xmlns:c16r2="http://schemas.microsoft.com/office/drawing/2015/06/chart">
            <c:ext xmlns:c16="http://schemas.microsoft.com/office/drawing/2014/chart" uri="{C3380CC4-5D6E-409C-BE32-E72D297353CC}">
              <c16:uniqueId val="{00000003-84A1-D143-8144-BA6197CA6E7A}"/>
            </c:ext>
          </c:extLst>
        </c:ser>
        <c:ser>
          <c:idx val="4"/>
          <c:order val="3"/>
          <c:tx>
            <c:strRef>
              <c:f>Sheet1!$A$6</c:f>
              <c:strCache>
                <c:ptCount val="1"/>
                <c:pt idx="0">
                  <c:v>AFLslow1.4</c:v>
                </c:pt>
              </c:strCache>
            </c:strRef>
          </c:tx>
          <c:spPr>
            <a:ln w="28575" cap="rnd">
              <a:solidFill>
                <a:schemeClr val="accent6">
                  <a:lumMod val="60000"/>
                  <a:lumOff val="40000"/>
                </a:schemeClr>
              </a:solidFill>
              <a:round/>
            </a:ln>
            <a:effectLst/>
          </c:spPr>
          <c:marker>
            <c:symbol val="none"/>
          </c:marker>
          <c:cat>
            <c:numRef>
              <c:f>Sheet1!$B$1:$I$1</c:f>
              <c:numCache>
                <c:formatCode>General</c:formatCode>
                <c:ptCount val="8"/>
                <c:pt idx="0">
                  <c:v>0.0</c:v>
                </c:pt>
                <c:pt idx="1">
                  <c:v>2.0</c:v>
                </c:pt>
                <c:pt idx="2">
                  <c:v>4.0</c:v>
                </c:pt>
                <c:pt idx="3">
                  <c:v>6.0</c:v>
                </c:pt>
                <c:pt idx="4">
                  <c:v>8.0</c:v>
                </c:pt>
                <c:pt idx="5">
                  <c:v>10.0</c:v>
                </c:pt>
                <c:pt idx="6">
                  <c:v>12.0</c:v>
                </c:pt>
                <c:pt idx="7">
                  <c:v>14.0</c:v>
                </c:pt>
              </c:numCache>
            </c:numRef>
          </c:cat>
          <c:val>
            <c:numRef>
              <c:f>Sheet1!$B$6:$I$6</c:f>
              <c:numCache>
                <c:formatCode>General</c:formatCode>
                <c:ptCount val="8"/>
                <c:pt idx="0">
                  <c:v>0.0</c:v>
                </c:pt>
                <c:pt idx="1">
                  <c:v>0.0</c:v>
                </c:pt>
                <c:pt idx="2">
                  <c:v>0.0</c:v>
                </c:pt>
                <c:pt idx="3">
                  <c:v>0.0</c:v>
                </c:pt>
                <c:pt idx="4">
                  <c:v>0.0</c:v>
                </c:pt>
                <c:pt idx="5">
                  <c:v>0.0</c:v>
                </c:pt>
                <c:pt idx="6">
                  <c:v>0.0</c:v>
                </c:pt>
                <c:pt idx="7">
                  <c:v>0.0</c:v>
                </c:pt>
              </c:numCache>
            </c:numRef>
          </c:val>
          <c:smooth val="0"/>
          <c:extLst xmlns:c16r2="http://schemas.microsoft.com/office/drawing/2015/06/chart">
            <c:ext xmlns:c16="http://schemas.microsoft.com/office/drawing/2014/chart" uri="{C3380CC4-5D6E-409C-BE32-E72D297353CC}">
              <c16:uniqueId val="{00000004-84A1-D143-8144-BA6197CA6E7A}"/>
            </c:ext>
          </c:extLst>
        </c:ser>
        <c:dLbls>
          <c:showLegendKey val="0"/>
          <c:showVal val="0"/>
          <c:showCatName val="0"/>
          <c:showSerName val="0"/>
          <c:showPercent val="0"/>
          <c:showBubbleSize val="0"/>
        </c:dLbls>
        <c:smooth val="0"/>
        <c:axId val="-1572605888"/>
        <c:axId val="-1467428064"/>
      </c:lineChart>
      <c:catAx>
        <c:axId val="-1572605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467428064"/>
        <c:crosses val="autoZero"/>
        <c:auto val="1"/>
        <c:lblAlgn val="ctr"/>
        <c:lblOffset val="100"/>
        <c:noMultiLvlLbl val="0"/>
      </c:catAx>
      <c:valAx>
        <c:axId val="-14674280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726058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dirty="0"/>
              <a:t>图</a:t>
            </a:r>
            <a:r>
              <a:rPr lang="en-US" altLang="zh-CN" dirty="0"/>
              <a:t>2</a:t>
            </a:r>
            <a:r>
              <a:rPr lang="zh-CN" altLang="en-US" dirty="0"/>
              <a:t> </a:t>
            </a:r>
            <a:r>
              <a:rPr lang="en-US" altLang="zh-CN" dirty="0"/>
              <a:t>size</a:t>
            </a:r>
            <a:r>
              <a:rPr lang="zh-CN" altLang="en-US" dirty="0"/>
              <a:t>中</a:t>
            </a:r>
            <a:r>
              <a:rPr lang="zh-CN" altLang="en-US" sz="1400" b="0" i="0" u="none" strike="noStrike" baseline="0" dirty="0">
                <a:effectLst/>
              </a:rPr>
              <a:t>更多新路径的影响</a:t>
            </a:r>
            <a:r>
              <a:rPr lang="zh-CN" altLang="en-US" sz="1400" b="0" i="0" u="none" strike="noStrike" baseline="0" dirty="0"/>
              <a:t> </a:t>
            </a:r>
            <a:endParaRPr lang="zh-CN" altLang="en-US" dirty="0"/>
          </a:p>
        </c:rich>
      </c:tx>
      <c:layout>
        <c:manualLayout>
          <c:xMode val="edge"/>
          <c:yMode val="edge"/>
          <c:x val="0.447997841509674"/>
          <c:y val="0.00678343431926367"/>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0.0886344012458655"/>
          <c:y val="0.19175900730793"/>
          <c:w val="0.87732941953818"/>
          <c:h val="0.470766987746543"/>
        </c:manualLayout>
      </c:layout>
      <c:lineChart>
        <c:grouping val="standard"/>
        <c:varyColors val="0"/>
        <c:ser>
          <c:idx val="0"/>
          <c:order val="0"/>
          <c:tx>
            <c:strRef>
              <c:f>Sheet1!$C$28</c:f>
              <c:strCache>
                <c:ptCount val="1"/>
                <c:pt idx="0">
                  <c:v>AFL</c:v>
                </c:pt>
              </c:strCache>
            </c:strRef>
          </c:tx>
          <c:spPr>
            <a:ln w="28575" cap="rnd">
              <a:solidFill>
                <a:schemeClr val="accent1"/>
              </a:solidFill>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Sheet1!$D$28:$M$28</c:f>
              <c:numCache>
                <c:formatCode>General</c:formatCode>
                <c:ptCount val="10"/>
                <c:pt idx="0">
                  <c:v>0.0</c:v>
                </c:pt>
                <c:pt idx="1">
                  <c:v>0.0</c:v>
                </c:pt>
                <c:pt idx="2">
                  <c:v>0.0</c:v>
                </c:pt>
                <c:pt idx="3">
                  <c:v>0.0</c:v>
                </c:pt>
                <c:pt idx="4">
                  <c:v>0.0</c:v>
                </c:pt>
                <c:pt idx="5">
                  <c:v>0.0</c:v>
                </c:pt>
                <c:pt idx="6">
                  <c:v>0.0</c:v>
                </c:pt>
                <c:pt idx="7">
                  <c:v>0.0</c:v>
                </c:pt>
                <c:pt idx="8">
                  <c:v>0.0</c:v>
                </c:pt>
                <c:pt idx="9">
                  <c:v>0.0</c:v>
                </c:pt>
              </c:numCache>
            </c:numRef>
          </c:val>
          <c:smooth val="0"/>
          <c:extLst xmlns:c16r2="http://schemas.microsoft.com/office/drawing/2015/06/chart">
            <c:ext xmlns:c16="http://schemas.microsoft.com/office/drawing/2014/chart" uri="{C3380CC4-5D6E-409C-BE32-E72D297353CC}">
              <c16:uniqueId val="{00000000-12C9-0C46-AC35-1024EB4F75C7}"/>
            </c:ext>
          </c:extLst>
        </c:ser>
        <c:ser>
          <c:idx val="1"/>
          <c:order val="1"/>
          <c:tx>
            <c:strRef>
              <c:f>Sheet1!$C$29</c:f>
              <c:strCache>
                <c:ptCount val="1"/>
                <c:pt idx="0">
                  <c:v>AFLfast</c:v>
                </c:pt>
              </c:strCache>
            </c:strRef>
          </c:tx>
          <c:spPr>
            <a:ln w="28575" cap="rnd">
              <a:solidFill>
                <a:schemeClr val="accent2"/>
              </a:solidFill>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Sheet1!$D$29:$M$29</c:f>
              <c:numCache>
                <c:formatCode>General</c:formatCode>
                <c:ptCount val="10"/>
                <c:pt idx="0">
                  <c:v>0.0</c:v>
                </c:pt>
                <c:pt idx="1">
                  <c:v>0.0</c:v>
                </c:pt>
                <c:pt idx="2">
                  <c:v>0.0</c:v>
                </c:pt>
                <c:pt idx="3">
                  <c:v>0.0</c:v>
                </c:pt>
                <c:pt idx="4">
                  <c:v>0.0</c:v>
                </c:pt>
                <c:pt idx="5">
                  <c:v>0.0</c:v>
                </c:pt>
                <c:pt idx="6">
                  <c:v>0.0</c:v>
                </c:pt>
                <c:pt idx="7">
                  <c:v>0.0</c:v>
                </c:pt>
                <c:pt idx="8">
                  <c:v>0.0</c:v>
                </c:pt>
                <c:pt idx="9">
                  <c:v>0.0</c:v>
                </c:pt>
              </c:numCache>
            </c:numRef>
          </c:val>
          <c:smooth val="0"/>
          <c:extLst xmlns:c16r2="http://schemas.microsoft.com/office/drawing/2015/06/chart">
            <c:ext xmlns:c16="http://schemas.microsoft.com/office/drawing/2014/chart" uri="{C3380CC4-5D6E-409C-BE32-E72D297353CC}">
              <c16:uniqueId val="{00000001-12C9-0C46-AC35-1024EB4F75C7}"/>
            </c:ext>
          </c:extLst>
        </c:ser>
        <c:ser>
          <c:idx val="2"/>
          <c:order val="2"/>
          <c:tx>
            <c:strRef>
              <c:f>Sheet1!$C$30</c:f>
              <c:strCache>
                <c:ptCount val="1"/>
                <c:pt idx="0">
                  <c:v>AFLslow1.2</c:v>
                </c:pt>
              </c:strCache>
            </c:strRef>
          </c:tx>
          <c:spPr>
            <a:ln w="28575" cap="rnd">
              <a:solidFill>
                <a:srgbClr val="622820"/>
              </a:solidFill>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Sheet1!$D$30:$M$30</c:f>
              <c:numCache>
                <c:formatCode>General</c:formatCode>
                <c:ptCount val="10"/>
                <c:pt idx="0">
                  <c:v>0.0</c:v>
                </c:pt>
                <c:pt idx="1">
                  <c:v>10.0</c:v>
                </c:pt>
                <c:pt idx="2">
                  <c:v>11.0</c:v>
                </c:pt>
                <c:pt idx="3">
                  <c:v>11.0</c:v>
                </c:pt>
                <c:pt idx="4">
                  <c:v>11.0</c:v>
                </c:pt>
                <c:pt idx="5">
                  <c:v>13.0</c:v>
                </c:pt>
                <c:pt idx="6">
                  <c:v>14.0</c:v>
                </c:pt>
                <c:pt idx="7">
                  <c:v>14.0</c:v>
                </c:pt>
                <c:pt idx="8">
                  <c:v>14.0</c:v>
                </c:pt>
                <c:pt idx="9">
                  <c:v>14.0</c:v>
                </c:pt>
              </c:numCache>
            </c:numRef>
          </c:val>
          <c:smooth val="0"/>
          <c:extLst xmlns:c16r2="http://schemas.microsoft.com/office/drawing/2015/06/chart">
            <c:ext xmlns:c16="http://schemas.microsoft.com/office/drawing/2014/chart" uri="{C3380CC4-5D6E-409C-BE32-E72D297353CC}">
              <c16:uniqueId val="{00000002-12C9-0C46-AC35-1024EB4F75C7}"/>
            </c:ext>
          </c:extLst>
        </c:ser>
        <c:ser>
          <c:idx val="3"/>
          <c:order val="3"/>
          <c:tx>
            <c:strRef>
              <c:f>Sheet1!$C$31</c:f>
              <c:strCache>
                <c:ptCount val="1"/>
                <c:pt idx="0">
                  <c:v>AFLslow1.3</c:v>
                </c:pt>
              </c:strCache>
            </c:strRef>
          </c:tx>
          <c:spPr>
            <a:ln w="28575" cap="rnd">
              <a:solidFill>
                <a:srgbClr val="FF0000"/>
              </a:solidFill>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Sheet1!$D$31:$M$31</c:f>
              <c:numCache>
                <c:formatCode>General</c:formatCode>
                <c:ptCount val="10"/>
                <c:pt idx="0">
                  <c:v>0.0</c:v>
                </c:pt>
                <c:pt idx="1">
                  <c:v>12.0</c:v>
                </c:pt>
                <c:pt idx="2">
                  <c:v>12.0</c:v>
                </c:pt>
                <c:pt idx="3">
                  <c:v>12.0</c:v>
                </c:pt>
                <c:pt idx="4">
                  <c:v>12.0</c:v>
                </c:pt>
                <c:pt idx="5">
                  <c:v>13.0</c:v>
                </c:pt>
                <c:pt idx="6">
                  <c:v>13.0</c:v>
                </c:pt>
                <c:pt idx="7">
                  <c:v>13.0</c:v>
                </c:pt>
                <c:pt idx="8">
                  <c:v>13.0</c:v>
                </c:pt>
                <c:pt idx="9">
                  <c:v>13.0</c:v>
                </c:pt>
              </c:numCache>
            </c:numRef>
          </c:val>
          <c:smooth val="0"/>
          <c:extLst xmlns:c16r2="http://schemas.microsoft.com/office/drawing/2015/06/chart">
            <c:ext xmlns:c16="http://schemas.microsoft.com/office/drawing/2014/chart" uri="{C3380CC4-5D6E-409C-BE32-E72D297353CC}">
              <c16:uniqueId val="{00000003-12C9-0C46-AC35-1024EB4F75C7}"/>
            </c:ext>
          </c:extLst>
        </c:ser>
        <c:ser>
          <c:idx val="4"/>
          <c:order val="4"/>
          <c:tx>
            <c:strRef>
              <c:f>Sheet1!$C$32</c:f>
              <c:strCache>
                <c:ptCount val="1"/>
                <c:pt idx="0">
                  <c:v>AFLslow1.4</c:v>
                </c:pt>
              </c:strCache>
            </c:strRef>
          </c:tx>
          <c:spPr>
            <a:ln w="28575" cap="rnd">
              <a:solidFill>
                <a:schemeClr val="accent6">
                  <a:lumMod val="60000"/>
                  <a:lumOff val="40000"/>
                </a:schemeClr>
              </a:solidFill>
              <a:round/>
            </a:ln>
            <a:effectLst/>
          </c:spPr>
          <c:marker>
            <c:symbol val="none"/>
          </c:marker>
          <c:cat>
            <c:numRef>
              <c:f>Sheet1!$D$27:$M$27</c:f>
              <c:numCache>
                <c:formatCode>General</c:formatCode>
                <c:ptCount val="10"/>
                <c:pt idx="0">
                  <c:v>0.0</c:v>
                </c:pt>
                <c:pt idx="1">
                  <c:v>2.0</c:v>
                </c:pt>
                <c:pt idx="2">
                  <c:v>4.0</c:v>
                </c:pt>
                <c:pt idx="3">
                  <c:v>6.0</c:v>
                </c:pt>
                <c:pt idx="4">
                  <c:v>8.0</c:v>
                </c:pt>
                <c:pt idx="5">
                  <c:v>10.0</c:v>
                </c:pt>
                <c:pt idx="6">
                  <c:v>12.0</c:v>
                </c:pt>
                <c:pt idx="7">
                  <c:v>14.0</c:v>
                </c:pt>
                <c:pt idx="8">
                  <c:v>16.0</c:v>
                </c:pt>
                <c:pt idx="9">
                  <c:v>18.0</c:v>
                </c:pt>
              </c:numCache>
            </c:numRef>
          </c:cat>
          <c:val>
            <c:numRef>
              <c:f>Sheet1!$D$32:$M$32</c:f>
              <c:numCache>
                <c:formatCode>General</c:formatCode>
                <c:ptCount val="10"/>
                <c:pt idx="0">
                  <c:v>0.0</c:v>
                </c:pt>
                <c:pt idx="1">
                  <c:v>0.0</c:v>
                </c:pt>
                <c:pt idx="2">
                  <c:v>0.0</c:v>
                </c:pt>
                <c:pt idx="3">
                  <c:v>0.0</c:v>
                </c:pt>
                <c:pt idx="4">
                  <c:v>0.0</c:v>
                </c:pt>
                <c:pt idx="5">
                  <c:v>0.0</c:v>
                </c:pt>
                <c:pt idx="6">
                  <c:v>0.0</c:v>
                </c:pt>
                <c:pt idx="7">
                  <c:v>0.0</c:v>
                </c:pt>
                <c:pt idx="8">
                  <c:v>0.0</c:v>
                </c:pt>
                <c:pt idx="9">
                  <c:v>0.0</c:v>
                </c:pt>
              </c:numCache>
            </c:numRef>
          </c:val>
          <c:smooth val="0"/>
          <c:extLst xmlns:c16r2="http://schemas.microsoft.com/office/drawing/2015/06/chart">
            <c:ext xmlns:c16="http://schemas.microsoft.com/office/drawing/2014/chart" uri="{C3380CC4-5D6E-409C-BE32-E72D297353CC}">
              <c16:uniqueId val="{00000004-12C9-0C46-AC35-1024EB4F75C7}"/>
            </c:ext>
          </c:extLst>
        </c:ser>
        <c:dLbls>
          <c:showLegendKey val="0"/>
          <c:showVal val="0"/>
          <c:showCatName val="0"/>
          <c:showSerName val="0"/>
          <c:showPercent val="0"/>
          <c:showBubbleSize val="0"/>
        </c:dLbls>
        <c:smooth val="0"/>
        <c:axId val="-1467436256"/>
        <c:axId val="-1467432064"/>
      </c:lineChart>
      <c:catAx>
        <c:axId val="-1467436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467432064"/>
        <c:crosses val="autoZero"/>
        <c:auto val="1"/>
        <c:lblAlgn val="ctr"/>
        <c:lblOffset val="100"/>
        <c:noMultiLvlLbl val="0"/>
      </c:catAx>
      <c:valAx>
        <c:axId val="-14674320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467436256"/>
        <c:crosses val="autoZero"/>
        <c:crossBetween val="between"/>
      </c:valAx>
      <c:spPr>
        <a:noFill/>
        <a:ln>
          <a:noFill/>
        </a:ln>
        <a:effectLst/>
      </c:spPr>
    </c:plotArea>
    <c:legend>
      <c:legendPos val="b"/>
      <c:legendEntry>
        <c:idx val="0"/>
        <c:delete val="1"/>
      </c:legendEntry>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5F99A4-3D89-426B-9B10-9124F9AB426E}" type="datetimeFigureOut">
              <a:rPr lang="zh-CN" altLang="en-US" smtClean="0"/>
              <a:t>2019/10/15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729F7B-682B-4325-B612-281EF0254699}" type="slidenum">
              <a:rPr lang="zh-CN" altLang="en-US" smtClean="0"/>
              <a:t>‹#›</a:t>
            </a:fld>
            <a:endParaRPr lang="zh-CN" altLang="en-US"/>
          </a:p>
        </p:txBody>
      </p:sp>
    </p:spTree>
    <p:extLst>
      <p:ext uri="{BB962C8B-B14F-4D97-AF65-F5344CB8AC3E}">
        <p14:creationId xmlns:p14="http://schemas.microsoft.com/office/powerpoint/2010/main" val="31009446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fld id="{F6B0E6E8-EC68-4B94-BECB-01FE5843A22C}" type="datetimeFigureOut">
              <a:rPr lang="zh-CN" altLang="en-US"/>
              <a:pPr>
                <a:defRPr/>
              </a:pPr>
              <a:t>2019/10/15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buFont typeface="Arial" pitchFamily="34" charset="0"/>
              <a:buNone/>
              <a:defRPr sz="1200"/>
            </a:lvl1pPr>
          </a:lstStyle>
          <a:p>
            <a:fld id="{A6E2E758-AF5E-403E-8886-D2B0E2F05021}" type="slidenum">
              <a:rPr lang="zh-CN" altLang="en-US"/>
              <a:pPr/>
              <a:t>‹#›</a:t>
            </a:fld>
            <a:endParaRPr lang="zh-CN" altLang="en-US"/>
          </a:p>
        </p:txBody>
      </p:sp>
    </p:spTree>
    <p:extLst>
      <p:ext uri="{BB962C8B-B14F-4D97-AF65-F5344CB8AC3E}">
        <p14:creationId xmlns:p14="http://schemas.microsoft.com/office/powerpoint/2010/main" val="25432644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大家好，我们是第八组，今天由我们组给大家展示一下关于模糊测试实践的内容</a:t>
            </a:r>
          </a:p>
          <a:p>
            <a:endParaRPr lang="zh-CN" altLang="en-US" dirty="0"/>
          </a:p>
        </p:txBody>
      </p:sp>
    </p:spTree>
    <p:extLst>
      <p:ext uri="{BB962C8B-B14F-4D97-AF65-F5344CB8AC3E}">
        <p14:creationId xmlns:p14="http://schemas.microsoft.com/office/powerpoint/2010/main" val="3418130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3</a:t>
            </a:fld>
            <a:endParaRPr lang="zh-CN" altLang="en-US"/>
          </a:p>
        </p:txBody>
      </p:sp>
    </p:spTree>
    <p:extLst>
      <p:ext uri="{BB962C8B-B14F-4D97-AF65-F5344CB8AC3E}">
        <p14:creationId xmlns:p14="http://schemas.microsoft.com/office/powerpoint/2010/main" val="40252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4</a:t>
            </a:fld>
            <a:endParaRPr lang="zh-CN" altLang="en-US"/>
          </a:p>
        </p:txBody>
      </p:sp>
    </p:spTree>
    <p:extLst>
      <p:ext uri="{BB962C8B-B14F-4D97-AF65-F5344CB8AC3E}">
        <p14:creationId xmlns:p14="http://schemas.microsoft.com/office/powerpoint/2010/main" val="3077518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A6E2E758-AF5E-403E-8886-D2B0E2F05021}" type="slidenum">
              <a:rPr lang="zh-CN" altLang="en-US" smtClean="0"/>
              <a:pPr/>
              <a:t>5</a:t>
            </a:fld>
            <a:endParaRPr lang="zh-CN" altLang="en-US"/>
          </a:p>
        </p:txBody>
      </p:sp>
    </p:spTree>
    <p:extLst>
      <p:ext uri="{BB962C8B-B14F-4D97-AF65-F5344CB8AC3E}">
        <p14:creationId xmlns:p14="http://schemas.microsoft.com/office/powerpoint/2010/main" val="65838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6</a:t>
            </a:fld>
            <a:endParaRPr lang="zh-CN" altLang="en-US"/>
          </a:p>
        </p:txBody>
      </p:sp>
    </p:spTree>
    <p:extLst>
      <p:ext uri="{BB962C8B-B14F-4D97-AF65-F5344CB8AC3E}">
        <p14:creationId xmlns:p14="http://schemas.microsoft.com/office/powerpoint/2010/main" val="2981136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7</a:t>
            </a:fld>
            <a:endParaRPr lang="zh-CN" altLang="en-US"/>
          </a:p>
        </p:txBody>
      </p:sp>
    </p:spTree>
    <p:extLst>
      <p:ext uri="{BB962C8B-B14F-4D97-AF65-F5344CB8AC3E}">
        <p14:creationId xmlns:p14="http://schemas.microsoft.com/office/powerpoint/2010/main" val="1863033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a:t>首先是</a:t>
                </a:r>
                <a:r>
                  <a:rPr lang="en-US" altLang="zh-CN" dirty="0" err="1"/>
                  <a:t>AFLFast</a:t>
                </a:r>
                <a:r>
                  <a:rPr lang="zh-CN" altLang="en-US" dirty="0"/>
                  <a:t>，为什么要对</a:t>
                </a:r>
                <a:r>
                  <a:rPr lang="en-US" altLang="zh-CN" dirty="0"/>
                  <a:t>AFL</a:t>
                </a:r>
                <a:r>
                  <a:rPr lang="zh-CN" altLang="en-US" dirty="0"/>
                  <a:t>改进呢？通过刚刚</a:t>
                </a:r>
                <a:r>
                  <a:rPr lang="en-US" altLang="zh-CN" dirty="0"/>
                  <a:t>AFL</a:t>
                </a:r>
                <a:r>
                  <a:rPr lang="zh-CN" altLang="en-US" dirty="0"/>
                  <a:t>的算法可以看出，</a:t>
                </a:r>
                <a:r>
                  <a:rPr lang="en-US" altLang="zh-CN" dirty="0"/>
                  <a:t>AFL</a:t>
                </a:r>
                <a:r>
                  <a:rPr lang="zh-CN" altLang="en-US" dirty="0"/>
                  <a:t>的选择策略会偏向于高频路径，使得大部分模糊路径是相同的，无效路径居多。</a:t>
                </a:r>
                <a:endParaRPr lang="en-US" altLang="zh-CN" dirty="0"/>
              </a:p>
              <a:p>
                <a:r>
                  <a:rPr lang="zh-CN" altLang="en-US" dirty="0"/>
                  <a:t>比如这里，起始字符是****，要变成</a:t>
                </a:r>
                <a:r>
                  <a:rPr lang="en-US" altLang="zh-CN" dirty="0"/>
                  <a:t>bad!</a:t>
                </a:r>
                <a:r>
                  <a:rPr lang="zh-CN" altLang="en-US" dirty="0"/>
                  <a:t>才会使目标程序产生崩溃。假设要从第一个状态到第二个状态，也就是从****变异到</a:t>
                </a:r>
                <a:r>
                  <a:rPr lang="en-US" altLang="zh-CN" dirty="0"/>
                  <a:t>b***</a:t>
                </a:r>
                <a:r>
                  <a:rPr lang="zh-CN" altLang="en-US" dirty="0"/>
                  <a:t>，选择第一个位置进行变异的概率为</a:t>
                </a:r>
                <a:r>
                  <a:rPr lang="en-US" altLang="zh-CN" i="0" dirty="0">
                    <a:latin typeface="Cambria Math" panose="02040503050406030204" pitchFamily="18" charset="0"/>
                  </a:rPr>
                  <a:t>1/4</a:t>
                </a:r>
                <a:r>
                  <a:rPr lang="zh-CN" altLang="en-US" dirty="0"/>
                  <a:t>，</a:t>
                </a:r>
                <a:r>
                  <a:rPr lang="en-US" altLang="zh-CN" dirty="0"/>
                  <a:t>ASCII</a:t>
                </a:r>
                <a:r>
                  <a:rPr lang="zh-CN" altLang="en-US" dirty="0"/>
                  <a:t>码中，选择字符</a:t>
                </a:r>
                <a:r>
                  <a:rPr lang="en-US" altLang="zh-CN" dirty="0"/>
                  <a:t>b</a:t>
                </a:r>
                <a:r>
                  <a:rPr lang="zh-CN" altLang="en-US" dirty="0"/>
                  <a:t>的概率为</a:t>
                </a:r>
                <a:r>
                  <a:rPr lang="en-US" altLang="zh-CN" i="0" dirty="0">
                    <a:latin typeface="Cambria Math" panose="02040503050406030204" pitchFamily="18" charset="0"/>
                  </a:rPr>
                  <a:t>1/</a:t>
                </a:r>
                <a:r>
                  <a:rPr lang="en-US" altLang="zh-CN" b="0" i="0" dirty="0">
                    <a:latin typeface="Cambria Math" panose="02040503050406030204" pitchFamily="18" charset="0"/>
                  </a:rPr>
                  <a:t>2^8 </a:t>
                </a:r>
                <a:r>
                  <a:rPr lang="zh-CN" altLang="en-US" dirty="0"/>
                  <a:t>，因此，从第一个状态变异到第二个状态的概率为</a:t>
                </a:r>
                <a:r>
                  <a:rPr lang="en-US" altLang="zh-CN" b="0" i="0">
                    <a:latin typeface="Cambria Math" panose="02040503050406030204" pitchFamily="18" charset="0"/>
                  </a:rPr>
                  <a:t>1/2^10 </a:t>
                </a:r>
                <a:r>
                  <a:rPr lang="zh-CN" altLang="en-US" dirty="0"/>
                  <a:t>。同样的可以求出其它状态变换的概率。</a:t>
                </a:r>
                <a:endParaRPr lang="en-US" altLang="zh-CN" dirty="0"/>
              </a:p>
              <a:p>
                <a:r>
                  <a:rPr lang="zh-CN" altLang="en-US" dirty="0"/>
                  <a:t>但是</a:t>
                </a:r>
                <a:r>
                  <a:rPr lang="en-US" altLang="zh-CN" dirty="0"/>
                  <a:t>AFL</a:t>
                </a:r>
                <a:r>
                  <a:rPr lang="zh-CN" altLang="en-US" dirty="0"/>
                  <a:t>倾向于高频路径，而不会是倾向于可能会产生崩溃的低频路径，也就是图中红色箭头这条路径。</a:t>
                </a:r>
                <a:endParaRPr lang="en-US" altLang="zh-CN" dirty="0"/>
              </a:p>
              <a:p>
                <a:r>
                  <a:rPr lang="zh-CN" altLang="en-US" dirty="0"/>
                  <a:t>因此，</a:t>
                </a:r>
                <a:r>
                  <a:rPr lang="en-US" altLang="zh-CN" dirty="0" err="1"/>
                  <a:t>AFLFast</a:t>
                </a:r>
                <a:r>
                  <a:rPr lang="zh-CN" altLang="en-US" dirty="0"/>
                  <a:t>在能量分配时会偏向于低频路径，从而探索更多的路径</a:t>
                </a:r>
              </a:p>
            </p:txBody>
          </p:sp>
        </mc:Fallback>
      </mc:AlternateContent>
      <p:sp>
        <p:nvSpPr>
          <p:cNvPr id="4" name="灯片编号占位符 3"/>
          <p:cNvSpPr>
            <a:spLocks noGrp="1"/>
          </p:cNvSpPr>
          <p:nvPr>
            <p:ph type="sldNum" sz="quarter" idx="5"/>
          </p:nvPr>
        </p:nvSpPr>
        <p:spPr/>
        <p:txBody>
          <a:bodyPr/>
          <a:lstStyle/>
          <a:p>
            <a:fld id="{A6E2E758-AF5E-403E-8886-D2B0E2F05021}" type="slidenum">
              <a:rPr lang="zh-CN" altLang="en-US" smtClean="0"/>
              <a:pPr/>
              <a:t>8</a:t>
            </a:fld>
            <a:endParaRPr lang="zh-CN" altLang="en-US"/>
          </a:p>
        </p:txBody>
      </p:sp>
    </p:spTree>
    <p:extLst>
      <p:ext uri="{BB962C8B-B14F-4D97-AF65-F5344CB8AC3E}">
        <p14:creationId xmlns:p14="http://schemas.microsoft.com/office/powerpoint/2010/main" val="3514145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9</a:t>
            </a:fld>
            <a:endParaRPr lang="zh-CN" altLang="en-US"/>
          </a:p>
        </p:txBody>
      </p:sp>
    </p:spTree>
    <p:extLst>
      <p:ext uri="{BB962C8B-B14F-4D97-AF65-F5344CB8AC3E}">
        <p14:creationId xmlns:p14="http://schemas.microsoft.com/office/powerpoint/2010/main" val="498366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10</a:t>
            </a:fld>
            <a:endParaRPr lang="zh-CN" altLang="en-US"/>
          </a:p>
        </p:txBody>
      </p:sp>
    </p:spTree>
    <p:extLst>
      <p:ext uri="{BB962C8B-B14F-4D97-AF65-F5344CB8AC3E}">
        <p14:creationId xmlns:p14="http://schemas.microsoft.com/office/powerpoint/2010/main" val="3204402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11</a:t>
            </a:fld>
            <a:endParaRPr lang="zh-CN" altLang="en-US"/>
          </a:p>
        </p:txBody>
      </p:sp>
    </p:spTree>
    <p:extLst>
      <p:ext uri="{BB962C8B-B14F-4D97-AF65-F5344CB8AC3E}">
        <p14:creationId xmlns:p14="http://schemas.microsoft.com/office/powerpoint/2010/main" val="184663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12</a:t>
            </a:fld>
            <a:endParaRPr lang="zh-CN" altLang="en-US"/>
          </a:p>
        </p:txBody>
      </p:sp>
    </p:spTree>
    <p:extLst>
      <p:ext uri="{BB962C8B-B14F-4D97-AF65-F5344CB8AC3E}">
        <p14:creationId xmlns:p14="http://schemas.microsoft.com/office/powerpoint/2010/main" val="3660940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13</a:t>
            </a:fld>
            <a:endParaRPr lang="zh-CN" altLang="en-US"/>
          </a:p>
        </p:txBody>
      </p:sp>
    </p:spTree>
    <p:extLst>
      <p:ext uri="{BB962C8B-B14F-4D97-AF65-F5344CB8AC3E}">
        <p14:creationId xmlns:p14="http://schemas.microsoft.com/office/powerpoint/2010/main" val="2872886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14</a:t>
            </a:fld>
            <a:endParaRPr lang="zh-CN" altLang="en-US"/>
          </a:p>
        </p:txBody>
      </p:sp>
    </p:spTree>
    <p:extLst>
      <p:ext uri="{BB962C8B-B14F-4D97-AF65-F5344CB8AC3E}">
        <p14:creationId xmlns:p14="http://schemas.microsoft.com/office/powerpoint/2010/main" val="3606571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15</a:t>
            </a:fld>
            <a:endParaRPr lang="zh-CN" altLang="en-US"/>
          </a:p>
        </p:txBody>
      </p:sp>
    </p:spTree>
    <p:extLst>
      <p:ext uri="{BB962C8B-B14F-4D97-AF65-F5344CB8AC3E}">
        <p14:creationId xmlns:p14="http://schemas.microsoft.com/office/powerpoint/2010/main" val="462782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16</a:t>
            </a:fld>
            <a:endParaRPr lang="zh-CN" altLang="en-US"/>
          </a:p>
        </p:txBody>
      </p:sp>
    </p:spTree>
    <p:extLst>
      <p:ext uri="{BB962C8B-B14F-4D97-AF65-F5344CB8AC3E}">
        <p14:creationId xmlns:p14="http://schemas.microsoft.com/office/powerpoint/2010/main" val="1896623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A6E2E758-AF5E-403E-8886-D2B0E2F05021}" type="slidenum">
              <a:rPr lang="zh-CN" altLang="en-US" smtClean="0"/>
              <a:pPr/>
              <a:t>21</a:t>
            </a:fld>
            <a:endParaRPr lang="zh-CN" altLang="en-US"/>
          </a:p>
        </p:txBody>
      </p:sp>
    </p:spTree>
    <p:extLst>
      <p:ext uri="{BB962C8B-B14F-4D97-AF65-F5344CB8AC3E}">
        <p14:creationId xmlns:p14="http://schemas.microsoft.com/office/powerpoint/2010/main" val="1331394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A6E2E758-AF5E-403E-8886-D2B0E2F05021}" type="slidenum">
              <a:rPr lang="zh-CN" altLang="en-US" smtClean="0"/>
              <a:pPr/>
              <a:t>22</a:t>
            </a:fld>
            <a:endParaRPr lang="zh-CN" altLang="en-US"/>
          </a:p>
        </p:txBody>
      </p:sp>
    </p:spTree>
    <p:extLst>
      <p:ext uri="{BB962C8B-B14F-4D97-AF65-F5344CB8AC3E}">
        <p14:creationId xmlns:p14="http://schemas.microsoft.com/office/powerpoint/2010/main" val="1863800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A6E2E758-AF5E-403E-8886-D2B0E2F05021}" type="slidenum">
              <a:rPr lang="zh-CN" altLang="en-US" smtClean="0"/>
              <a:pPr/>
              <a:t>26</a:t>
            </a:fld>
            <a:endParaRPr lang="zh-CN" altLang="en-US"/>
          </a:p>
        </p:txBody>
      </p:sp>
    </p:spTree>
    <p:extLst>
      <p:ext uri="{BB962C8B-B14F-4D97-AF65-F5344CB8AC3E}">
        <p14:creationId xmlns:p14="http://schemas.microsoft.com/office/powerpoint/2010/main" val="1319366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bg>
      <p:bgPr>
        <a:solidFill>
          <a:schemeClr val="bg1"/>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 xmlns:a16="http://schemas.microsoft.com/office/drawing/2014/main" id="{AE509461-BB2A-4380-AE77-26BE25D5F3C3}"/>
              </a:ext>
            </a:extLst>
          </p:cNvPr>
          <p:cNvSpPr/>
          <p:nvPr userDrawn="1"/>
        </p:nvSpPr>
        <p:spPr>
          <a:xfrm>
            <a:off x="0" y="0"/>
            <a:ext cx="9144000" cy="65722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Slide Number Placeholder 5">
            <a:extLst>
              <a:ext uri="{FF2B5EF4-FFF2-40B4-BE49-F238E27FC236}">
                <a16:creationId xmlns="" xmlns:a16="http://schemas.microsoft.com/office/drawing/2014/main" id="{87097727-7FAA-4CA8-8C19-7F60F95F63B0}"/>
              </a:ext>
            </a:extLst>
          </p:cNvPr>
          <p:cNvSpPr>
            <a:spLocks noGrp="1"/>
          </p:cNvSpPr>
          <p:nvPr>
            <p:ph type="sldNum" sz="quarter" idx="10"/>
          </p:nvPr>
        </p:nvSpPr>
        <p:spPr>
          <a:xfrm>
            <a:off x="8027988" y="6611938"/>
            <a:ext cx="1049337" cy="246062"/>
          </a:xfrm>
          <a:prstGeom prst="rect">
            <a:avLst/>
          </a:prstGeom>
        </p:spPr>
        <p:txBody>
          <a:bodyPr anchor="ctr"/>
          <a:lstStyle>
            <a:lvl1pPr>
              <a:defRPr>
                <a:solidFill>
                  <a:srgbClr val="622820"/>
                </a:solidFill>
              </a:defRPr>
            </a:lvl1pPr>
          </a:lstStyle>
          <a:p>
            <a:fld id="{8A6D26B4-866C-4665-A6B1-E1D86A7FEB5A}" type="slidenum">
              <a:rPr lang="zh-CN" altLang="en-US" smtClean="0"/>
              <a:pPr/>
              <a:t>‹#›</a:t>
            </a:fld>
            <a:endParaRPr lang="zh-CN" altLang="en-US" dirty="0"/>
          </a:p>
        </p:txBody>
      </p:sp>
      <p:cxnSp>
        <p:nvCxnSpPr>
          <p:cNvPr id="11" name="直接连接符 10"/>
          <p:cNvCxnSpPr/>
          <p:nvPr userDrawn="1"/>
        </p:nvCxnSpPr>
        <p:spPr>
          <a:xfrm>
            <a:off x="12032" y="550994"/>
            <a:ext cx="9144000" cy="0"/>
          </a:xfrm>
          <a:prstGeom prst="line">
            <a:avLst/>
          </a:prstGeom>
          <a:ln w="38100" cmpd="thickThin"/>
        </p:spPr>
        <p:style>
          <a:lnRef idx="1">
            <a:schemeClr val="accent1"/>
          </a:lnRef>
          <a:fillRef idx="0">
            <a:schemeClr val="accent1"/>
          </a:fillRef>
          <a:effectRef idx="0">
            <a:schemeClr val="accent1"/>
          </a:effectRef>
          <a:fontRef idx="minor">
            <a:schemeClr val="tx1"/>
          </a:fontRef>
        </p:style>
      </p:cxnSp>
      <p:sp>
        <p:nvSpPr>
          <p:cNvPr id="13" name="文本框 12"/>
          <p:cNvSpPr txBox="1"/>
          <p:nvPr userDrawn="1"/>
        </p:nvSpPr>
        <p:spPr>
          <a:xfrm>
            <a:off x="1988" y="4616"/>
            <a:ext cx="9142012" cy="523220"/>
          </a:xfrm>
          <a:prstGeom prst="rect">
            <a:avLst/>
          </a:prstGeom>
          <a:solidFill>
            <a:srgbClr val="E1F8F7"/>
          </a:solidFill>
        </p:spPr>
        <p:txBody>
          <a:bodyPr wrap="square">
            <a:spAutoFit/>
          </a:bodyPr>
          <a:lstStyle/>
          <a:p>
            <a:pPr algn="ctr" eaLnBrk="1" hangingPunct="1">
              <a:buFont typeface="Arial" panose="020B0604020202020204" pitchFamily="34" charset="0"/>
              <a:buNone/>
              <a:defRPr/>
            </a:pPr>
            <a:r>
              <a:rPr lang="zh-CN" altLang="en-US" sz="2800" b="1" noProof="1">
                <a:solidFill>
                  <a:srgbClr val="622820"/>
                </a:solidFill>
                <a:effectLst>
                  <a:outerShdw blurRad="38100" dist="38100" dir="2700000" algn="tl">
                    <a:srgbClr val="000000">
                      <a:alpha val="43137"/>
                    </a:srgbClr>
                  </a:outerShdw>
                </a:effectLst>
                <a:latin typeface="隶书" charset="0"/>
                <a:ea typeface="隶书" charset="0"/>
                <a:cs typeface="+mn-ea"/>
                <a:sym typeface="+mn-ea"/>
              </a:rPr>
              <a:t>中国科学院大学网络空间安全学院专业研讨课</a:t>
            </a:r>
            <a:endParaRPr lang="zh-CN" altLang="en-US" sz="2800" b="1" noProof="1">
              <a:solidFill>
                <a:srgbClr val="622820"/>
              </a:solidFill>
              <a:effectLst>
                <a:outerShdw blurRad="38100" dist="38100" dir="2700000" algn="tl">
                  <a:srgbClr val="000000">
                    <a:alpha val="43137"/>
                  </a:srgbClr>
                </a:outerShdw>
              </a:effectLst>
              <a:latin typeface="隶书" charset="0"/>
              <a:ea typeface="隶书" charset="0"/>
              <a:sym typeface="+mn-ea"/>
            </a:endParaRPr>
          </a:p>
        </p:txBody>
      </p:sp>
      <p:sp>
        <p:nvSpPr>
          <p:cNvPr id="14" name="Date Placeholder 3">
            <a:extLst>
              <a:ext uri="{FF2B5EF4-FFF2-40B4-BE49-F238E27FC236}">
                <a16:creationId xmlns="" xmlns:a16="http://schemas.microsoft.com/office/drawing/2014/main" id="{F42C74FA-F784-4AD8-AA57-699F0AD4F742}"/>
              </a:ext>
            </a:extLst>
          </p:cNvPr>
          <p:cNvSpPr>
            <a:spLocks noGrp="1"/>
          </p:cNvSpPr>
          <p:nvPr>
            <p:ph type="dt" sz="quarter" idx="15"/>
          </p:nvPr>
        </p:nvSpPr>
        <p:spPr>
          <a:xfrm>
            <a:off x="12032" y="6572250"/>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sp>
        <p:nvSpPr>
          <p:cNvPr id="10" name="Footer Placeholder 4">
            <a:extLst>
              <a:ext uri="{FF2B5EF4-FFF2-40B4-BE49-F238E27FC236}">
                <a16:creationId xmlns="" xmlns:a16="http://schemas.microsoft.com/office/drawing/2014/main" id="{6D2D0DE7-F8FB-E14C-B58E-233D0D97FCFD}"/>
              </a:ext>
            </a:extLst>
          </p:cNvPr>
          <p:cNvSpPr>
            <a:spLocks noGrp="1"/>
          </p:cNvSpPr>
          <p:nvPr>
            <p:ph type="ftr" sz="quarter" idx="3"/>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dirty="0"/>
              <a:t>201M6022H </a:t>
            </a:r>
            <a:r>
              <a:rPr lang="zh-CN" altLang="en-US" dirty="0"/>
              <a:t>漏洞利用与攻防实践 霍玮                 </a:t>
            </a:r>
          </a:p>
        </p:txBody>
      </p:sp>
    </p:spTree>
    <p:extLst>
      <p:ext uri="{BB962C8B-B14F-4D97-AF65-F5344CB8AC3E}">
        <p14:creationId xmlns:p14="http://schemas.microsoft.com/office/powerpoint/2010/main" val="4005454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二页">
    <p:bg>
      <p:bgPr>
        <a:solidFill>
          <a:schemeClr val="bg1"/>
        </a:solidFill>
        <a:effectLst/>
      </p:bgPr>
    </p:bg>
    <p:spTree>
      <p:nvGrpSpPr>
        <p:cNvPr id="1" name=""/>
        <p:cNvGrpSpPr/>
        <p:nvPr/>
      </p:nvGrpSpPr>
      <p:grpSpPr>
        <a:xfrm>
          <a:off x="0" y="0"/>
          <a:ext cx="0" cy="0"/>
          <a:chOff x="0" y="0"/>
          <a:chExt cx="0" cy="0"/>
        </a:xfrm>
      </p:grpSpPr>
      <p:sp>
        <p:nvSpPr>
          <p:cNvPr id="5" name="圆角矩形 4"/>
          <p:cNvSpPr/>
          <p:nvPr/>
        </p:nvSpPr>
        <p:spPr>
          <a:xfrm>
            <a:off x="395288" y="1052965"/>
            <a:ext cx="8353425" cy="5327650"/>
          </a:xfrm>
          <a:prstGeom prst="roundRect">
            <a:avLst>
              <a:gd name="adj" fmla="val 2624"/>
            </a:avLst>
          </a:prstGeom>
          <a:solidFill>
            <a:schemeClr val="bg2"/>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 name="Text Placeholder 2"/>
          <p:cNvSpPr>
            <a:spLocks noGrp="1"/>
          </p:cNvSpPr>
          <p:nvPr>
            <p:ph type="body" idx="1"/>
          </p:nvPr>
        </p:nvSpPr>
        <p:spPr>
          <a:xfrm>
            <a:off x="1691800" y="764815"/>
            <a:ext cx="5760400" cy="432030"/>
          </a:xfrm>
          <a:prstGeom prst="roundRect">
            <a:avLst>
              <a:gd name="adj" fmla="val 50000"/>
            </a:avLst>
          </a:prstGeom>
          <a:solidFill>
            <a:schemeClr val="accent1">
              <a:lumMod val="20000"/>
              <a:lumOff val="80000"/>
            </a:schemeClr>
          </a:solidFill>
          <a:ln w="9525">
            <a:solidFill>
              <a:srgbClr val="002060"/>
            </a:solidFill>
          </a:ln>
        </p:spPr>
        <p:txBody>
          <a:bodyPr anchor="ctr"/>
          <a:lstStyle>
            <a:lvl1pPr marL="0" indent="0" algn="ctr">
              <a:buNone/>
              <a:defRPr sz="2800" b="1" baseline="0">
                <a:solidFill>
                  <a:schemeClr val="tx1"/>
                </a:solidFill>
                <a:effectLst/>
                <a:latin typeface="Arial Narrow" pitchFamily="34" charset="0"/>
                <a:ea typeface="微软雅黑"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p>
        </p:txBody>
      </p:sp>
      <p:sp>
        <p:nvSpPr>
          <p:cNvPr id="7" name="Content Placeholder 2"/>
          <p:cNvSpPr>
            <a:spLocks noGrp="1"/>
          </p:cNvSpPr>
          <p:nvPr>
            <p:ph idx="13"/>
          </p:nvPr>
        </p:nvSpPr>
        <p:spPr>
          <a:xfrm>
            <a:off x="628650" y="1412860"/>
            <a:ext cx="7886700" cy="4870903"/>
          </a:xfrm>
        </p:spPr>
        <p:txBody>
          <a:bodyPr/>
          <a:lstStyle>
            <a:lvl1pPr>
              <a:lnSpc>
                <a:spcPct val="100000"/>
              </a:lnSpc>
              <a:defRPr lang="zh-CN" altLang="en-US" sz="2400" b="1" kern="1200" baseline="0" noProof="1" dirty="0" smtClean="0">
                <a:solidFill>
                  <a:schemeClr val="tx1"/>
                </a:solidFill>
                <a:latin typeface="Arial Narrow" pitchFamily="34" charset="0"/>
                <a:ea typeface="微软雅黑" pitchFamily="34" charset="-122"/>
                <a:cs typeface="+mn-cs"/>
              </a:defRPr>
            </a:lvl1pPr>
            <a:lvl2pPr marL="685800" indent="-228600">
              <a:lnSpc>
                <a:spcPct val="100000"/>
              </a:lnSpc>
              <a:defRPr lang="zh-CN" altLang="en-US" sz="2000" b="1" kern="1200" baseline="0" noProof="1" dirty="0" smtClean="0">
                <a:solidFill>
                  <a:schemeClr val="accent2">
                    <a:lumMod val="50000"/>
                  </a:schemeClr>
                </a:solidFill>
                <a:latin typeface="Arial Narrow" pitchFamily="34" charset="0"/>
                <a:ea typeface="微软雅黑" pitchFamily="34" charset="-122"/>
                <a:cs typeface="+mn-cs"/>
              </a:defRPr>
            </a:lvl2pPr>
          </a:lstStyle>
          <a:p>
            <a:pPr lvl="0"/>
            <a:r>
              <a:rPr lang="zh-CN" altLang="en-US" noProof="1"/>
              <a:t>编辑母版文本样式</a:t>
            </a:r>
          </a:p>
          <a:p>
            <a:pPr lvl="1"/>
            <a:r>
              <a:rPr lang="zh-CN" altLang="en-US" noProof="1"/>
              <a:t>第二级</a:t>
            </a:r>
          </a:p>
        </p:txBody>
      </p:sp>
      <p:sp>
        <p:nvSpPr>
          <p:cNvPr id="13" name="Slide Number Placeholder 5">
            <a:extLst>
              <a:ext uri="{FF2B5EF4-FFF2-40B4-BE49-F238E27FC236}">
                <a16:creationId xmlns="" xmlns:a16="http://schemas.microsoft.com/office/drawing/2014/main" id="{28F55204-9083-4DDB-B485-A487CE5D09D3}"/>
              </a:ext>
            </a:extLst>
          </p:cNvPr>
          <p:cNvSpPr>
            <a:spLocks noGrp="1"/>
          </p:cNvSpPr>
          <p:nvPr>
            <p:ph type="sldNum" sz="quarter" idx="10"/>
          </p:nvPr>
        </p:nvSpPr>
        <p:spPr>
          <a:xfrm>
            <a:off x="8027988" y="6611938"/>
            <a:ext cx="1049337" cy="246062"/>
          </a:xfrm>
          <a:prstGeom prst="rect">
            <a:avLst/>
          </a:prstGeom>
        </p:spPr>
        <p:txBody>
          <a:bodyPr anchor="ctr"/>
          <a:lstStyle>
            <a:lvl1pPr>
              <a:defRPr>
                <a:solidFill>
                  <a:srgbClr val="622820"/>
                </a:solidFill>
              </a:defRPr>
            </a:lvl1pPr>
          </a:lstStyle>
          <a:p>
            <a:fld id="{8A6D26B4-866C-4665-A6B1-E1D86A7FEB5A}" type="slidenum">
              <a:rPr lang="zh-CN" altLang="en-US" smtClean="0"/>
              <a:pPr/>
              <a:t>‹#›</a:t>
            </a:fld>
            <a:endParaRPr lang="zh-CN" altLang="en-US" dirty="0"/>
          </a:p>
        </p:txBody>
      </p:sp>
      <p:cxnSp>
        <p:nvCxnSpPr>
          <p:cNvPr id="11" name="直接连接符 10"/>
          <p:cNvCxnSpPr/>
          <p:nvPr userDrawn="1"/>
        </p:nvCxnSpPr>
        <p:spPr>
          <a:xfrm>
            <a:off x="24064" y="490837"/>
            <a:ext cx="9144000" cy="0"/>
          </a:xfrm>
          <a:prstGeom prst="line">
            <a:avLst/>
          </a:prstGeom>
          <a:ln w="38100" cmpd="thickThin"/>
        </p:spPr>
        <p:style>
          <a:lnRef idx="1">
            <a:schemeClr val="accent1"/>
          </a:lnRef>
          <a:fillRef idx="0">
            <a:schemeClr val="accent1"/>
          </a:fillRef>
          <a:effectRef idx="0">
            <a:schemeClr val="accent1"/>
          </a:effectRef>
          <a:fontRef idx="minor">
            <a:schemeClr val="tx1"/>
          </a:fontRef>
        </p:style>
      </p:cxnSp>
      <p:sp>
        <p:nvSpPr>
          <p:cNvPr id="16" name="Date Placeholder 3">
            <a:extLst>
              <a:ext uri="{FF2B5EF4-FFF2-40B4-BE49-F238E27FC236}">
                <a16:creationId xmlns="" xmlns:a16="http://schemas.microsoft.com/office/drawing/2014/main" id="{F42C74FA-F784-4AD8-AA57-699F0AD4F742}"/>
              </a:ext>
            </a:extLst>
          </p:cNvPr>
          <p:cNvSpPr>
            <a:spLocks noGrp="1"/>
          </p:cNvSpPr>
          <p:nvPr>
            <p:ph type="dt" sz="quarter" idx="15"/>
          </p:nvPr>
        </p:nvSpPr>
        <p:spPr>
          <a:xfrm>
            <a:off x="24064" y="6543648"/>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sp>
        <p:nvSpPr>
          <p:cNvPr id="12" name="Footer Placeholder 4">
            <a:extLst>
              <a:ext uri="{FF2B5EF4-FFF2-40B4-BE49-F238E27FC236}">
                <a16:creationId xmlns="" xmlns:a16="http://schemas.microsoft.com/office/drawing/2014/main" id="{B663B870-AC3F-AF4D-B60C-344DA0BA52E8}"/>
              </a:ext>
            </a:extLst>
          </p:cNvPr>
          <p:cNvSpPr>
            <a:spLocks noGrp="1"/>
          </p:cNvSpPr>
          <p:nvPr>
            <p:ph type="ftr" sz="quarter" idx="3"/>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dirty="0"/>
              <a:t>201M6022H </a:t>
            </a:r>
            <a:r>
              <a:rPr lang="zh-CN" altLang="en-US" dirty="0"/>
              <a:t>漏洞利用与攻防实践 霍玮                 </a:t>
            </a:r>
          </a:p>
        </p:txBody>
      </p:sp>
      <p:sp>
        <p:nvSpPr>
          <p:cNvPr id="4" name="标题 3">
            <a:extLst>
              <a:ext uri="{FF2B5EF4-FFF2-40B4-BE49-F238E27FC236}">
                <a16:creationId xmlns="" xmlns:a16="http://schemas.microsoft.com/office/drawing/2014/main" id="{CF84518A-7121-054B-B703-FDEBE6C2E4E3}"/>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2220694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
    <p:bg>
      <p:bgPr>
        <a:solidFill>
          <a:schemeClr val="bg1"/>
        </a:solidFill>
        <a:effectLst/>
      </p:bgPr>
    </p:bg>
    <p:spTree>
      <p:nvGrpSpPr>
        <p:cNvPr id="1" name=""/>
        <p:cNvGrpSpPr/>
        <p:nvPr/>
      </p:nvGrpSpPr>
      <p:grpSpPr>
        <a:xfrm>
          <a:off x="0" y="0"/>
          <a:ext cx="0" cy="0"/>
          <a:chOff x="0" y="0"/>
          <a:chExt cx="0" cy="0"/>
        </a:xfrm>
      </p:grpSpPr>
      <p:sp>
        <p:nvSpPr>
          <p:cNvPr id="7" name="Footer Placeholder 4">
            <a:extLst>
              <a:ext uri="{FF2B5EF4-FFF2-40B4-BE49-F238E27FC236}">
                <a16:creationId xmlns="" xmlns:a16="http://schemas.microsoft.com/office/drawing/2014/main" id="{4FBB7E2F-7A66-4BB5-9155-B2AAD90F46E7}"/>
              </a:ext>
            </a:extLst>
          </p:cNvPr>
          <p:cNvSpPr>
            <a:spLocks noGrp="1"/>
          </p:cNvSpPr>
          <p:nvPr>
            <p:ph type="ftr" sz="quarter" idx="16"/>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a:t>201M6022H </a:t>
            </a:r>
            <a:r>
              <a:rPr lang="zh-CN" altLang="en-US"/>
              <a:t>漏洞利用与攻防实践 霍玮                 </a:t>
            </a:r>
            <a:endParaRPr lang="zh-CN" altLang="en-US" dirty="0"/>
          </a:p>
        </p:txBody>
      </p:sp>
      <p:sp>
        <p:nvSpPr>
          <p:cNvPr id="8" name="Date Placeholder 3">
            <a:extLst>
              <a:ext uri="{FF2B5EF4-FFF2-40B4-BE49-F238E27FC236}">
                <a16:creationId xmlns="" xmlns:a16="http://schemas.microsoft.com/office/drawing/2014/main" id="{F42C74FA-F784-4AD8-AA57-699F0AD4F742}"/>
              </a:ext>
            </a:extLst>
          </p:cNvPr>
          <p:cNvSpPr>
            <a:spLocks noGrp="1"/>
          </p:cNvSpPr>
          <p:nvPr>
            <p:ph type="dt" sz="quarter" idx="15"/>
          </p:nvPr>
        </p:nvSpPr>
        <p:spPr>
          <a:xfrm>
            <a:off x="1988" y="6572250"/>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sp>
        <p:nvSpPr>
          <p:cNvPr id="9" name="Slide Number Placeholder 5">
            <a:extLst>
              <a:ext uri="{FF2B5EF4-FFF2-40B4-BE49-F238E27FC236}">
                <a16:creationId xmlns="" xmlns:a16="http://schemas.microsoft.com/office/drawing/2014/main" id="{D5A22CF8-4731-457B-8AA0-C50A07A1177C}"/>
              </a:ext>
            </a:extLst>
          </p:cNvPr>
          <p:cNvSpPr>
            <a:spLocks noGrp="1"/>
          </p:cNvSpPr>
          <p:nvPr>
            <p:ph type="sldNum" sz="quarter" idx="10"/>
          </p:nvPr>
        </p:nvSpPr>
        <p:spPr>
          <a:xfrm>
            <a:off x="8027988" y="6611938"/>
            <a:ext cx="1049337" cy="246062"/>
          </a:xfrm>
          <a:prstGeom prst="rect">
            <a:avLst/>
          </a:prstGeom>
        </p:spPr>
        <p:txBody>
          <a:bodyPr anchor="ctr"/>
          <a:lstStyle>
            <a:lvl1pPr>
              <a:defRPr>
                <a:solidFill>
                  <a:srgbClr val="622820"/>
                </a:solidFill>
              </a:defRPr>
            </a:lvl1pPr>
          </a:lstStyle>
          <a:p>
            <a:fld id="{8A6D26B4-866C-4665-A6B1-E1D86A7FEB5A}" type="slidenum">
              <a:rPr lang="zh-CN" altLang="en-US" smtClean="0"/>
              <a:pPr/>
              <a:t>‹#›</a:t>
            </a:fld>
            <a:endParaRPr lang="zh-CN" altLang="en-US" dirty="0"/>
          </a:p>
        </p:txBody>
      </p:sp>
      <p:cxnSp>
        <p:nvCxnSpPr>
          <p:cNvPr id="3" name="直接连接符 2"/>
          <p:cNvCxnSpPr/>
          <p:nvPr userDrawn="1"/>
        </p:nvCxnSpPr>
        <p:spPr>
          <a:xfrm>
            <a:off x="0" y="6572250"/>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p:cNvSpPr>
            <a:spLocks noGrp="1"/>
          </p:cNvSpPr>
          <p:nvPr>
            <p:ph idx="13"/>
          </p:nvPr>
        </p:nvSpPr>
        <p:spPr>
          <a:xfrm>
            <a:off x="251520" y="764704"/>
            <a:ext cx="8640960" cy="5616624"/>
          </a:xfrm>
        </p:spPr>
        <p:txBody>
          <a:bodyPr/>
          <a:lstStyle>
            <a:lvl1pPr>
              <a:lnSpc>
                <a:spcPct val="100000"/>
              </a:lnSpc>
              <a:defRPr lang="zh-CN" altLang="en-US" sz="2400" b="1" kern="1200" baseline="0" noProof="1" dirty="0" smtClean="0">
                <a:solidFill>
                  <a:schemeClr val="tx1"/>
                </a:solidFill>
                <a:latin typeface="Arial Narrow" pitchFamily="34" charset="0"/>
                <a:ea typeface="微软雅黑" pitchFamily="34" charset="-122"/>
                <a:cs typeface="+mn-cs"/>
              </a:defRPr>
            </a:lvl1pPr>
            <a:lvl2pPr marL="685800" indent="-228600">
              <a:lnSpc>
                <a:spcPct val="100000"/>
              </a:lnSpc>
              <a:defRPr lang="zh-CN" altLang="en-US" sz="2000" b="1" kern="1200" baseline="0" noProof="1" dirty="0" smtClean="0">
                <a:solidFill>
                  <a:schemeClr val="accent2">
                    <a:lumMod val="50000"/>
                  </a:schemeClr>
                </a:solidFill>
                <a:latin typeface="Arial Narrow" pitchFamily="34" charset="0"/>
                <a:ea typeface="微软雅黑" pitchFamily="34" charset="-122"/>
                <a:cs typeface="+mn-cs"/>
              </a:defRPr>
            </a:lvl2pPr>
          </a:lstStyle>
          <a:p>
            <a:pPr lvl="0"/>
            <a:r>
              <a:rPr lang="zh-CN" altLang="en-US" noProof="1"/>
              <a:t>编辑母版文本样式</a:t>
            </a:r>
          </a:p>
          <a:p>
            <a:pPr lvl="1"/>
            <a:r>
              <a:rPr lang="zh-CN" altLang="en-US" noProof="1"/>
              <a:t>第二级</a:t>
            </a:r>
          </a:p>
        </p:txBody>
      </p:sp>
    </p:spTree>
    <p:extLst>
      <p:ext uri="{BB962C8B-B14F-4D97-AF65-F5344CB8AC3E}">
        <p14:creationId xmlns:p14="http://schemas.microsoft.com/office/powerpoint/2010/main" val="11048583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tags" Target="../tags/tag1.xml"/><Relationship Id="rId6" Type="http://schemas.openxmlformats.org/officeDocument/2006/relationships/tags" Target="../tags/tag2.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 xmlns:a16="http://schemas.microsoft.com/office/drawing/2014/main" id="{B4FA52F7-A931-4C06-B8FB-5D9D877B5F6B}"/>
              </a:ext>
            </a:extLst>
          </p:cNvPr>
          <p:cNvSpPr/>
          <p:nvPr userDrawn="1"/>
        </p:nvSpPr>
        <p:spPr>
          <a:xfrm>
            <a:off x="0" y="0"/>
            <a:ext cx="9144000" cy="65722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0" name="Title Placeholder 1"/>
          <p:cNvSpPr>
            <a:spLocks noGrp="1" noChangeArrowheads="1"/>
          </p:cNvSpPr>
          <p:nvPr>
            <p:ph type="title" idx="4294967295"/>
            <p:custDataLst>
              <p:tags r:id="rId5"/>
            </p:custDataLst>
          </p:nvPr>
        </p:nvSpPr>
        <p:spPr bwMode="auto">
          <a:xfrm>
            <a:off x="107950" y="48006"/>
            <a:ext cx="8928100" cy="467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noProof="1"/>
              <a:t>单击此处编辑母版标题样式</a:t>
            </a:r>
            <a:endParaRPr lang="en-US" altLang="en-US" noProof="1"/>
          </a:p>
        </p:txBody>
      </p:sp>
      <p:sp>
        <p:nvSpPr>
          <p:cNvPr id="1028" name="Text Placeholder 2"/>
          <p:cNvSpPr>
            <a:spLocks noGrp="1" noChangeArrowheads="1"/>
          </p:cNvSpPr>
          <p:nvPr>
            <p:ph type="body" idx="4294967295"/>
            <p:custDataLst>
              <p:tags r:id="rId6"/>
            </p:custDataLst>
          </p:nvPr>
        </p:nvSpPr>
        <p:spPr bwMode="auto">
          <a:xfrm>
            <a:off x="628650" y="908721"/>
            <a:ext cx="7886700" cy="5544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endParaRPr lang="en-US" altLang="en-US" dirty="0"/>
          </a:p>
        </p:txBody>
      </p:sp>
      <p:sp>
        <p:nvSpPr>
          <p:cNvPr id="14" name="Footer Placeholder 4">
            <a:extLst>
              <a:ext uri="{FF2B5EF4-FFF2-40B4-BE49-F238E27FC236}">
                <a16:creationId xmlns="" xmlns:a16="http://schemas.microsoft.com/office/drawing/2014/main" id="{DF0AD01A-72BA-42B9-87F4-BE9676870757}"/>
              </a:ext>
            </a:extLst>
          </p:cNvPr>
          <p:cNvSpPr>
            <a:spLocks noGrp="1"/>
          </p:cNvSpPr>
          <p:nvPr>
            <p:ph type="ftr" sz="quarter" idx="3"/>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dirty="0"/>
              <a:t>201M6022H </a:t>
            </a:r>
            <a:r>
              <a:rPr lang="zh-CN" altLang="en-US" dirty="0"/>
              <a:t>漏洞利用与攻防实践 霍玮                 </a:t>
            </a:r>
          </a:p>
        </p:txBody>
      </p:sp>
      <p:sp>
        <p:nvSpPr>
          <p:cNvPr id="18" name="Date Placeholder 3">
            <a:extLst>
              <a:ext uri="{FF2B5EF4-FFF2-40B4-BE49-F238E27FC236}">
                <a16:creationId xmlns="" xmlns:a16="http://schemas.microsoft.com/office/drawing/2014/main" id="{294964BB-531C-43B1-B31F-3654AC0AF3EB}"/>
              </a:ext>
            </a:extLst>
          </p:cNvPr>
          <p:cNvSpPr>
            <a:spLocks noGrp="1"/>
          </p:cNvSpPr>
          <p:nvPr>
            <p:ph type="dt" sz="quarter" idx="2"/>
          </p:nvPr>
        </p:nvSpPr>
        <p:spPr>
          <a:xfrm>
            <a:off x="1988" y="6572250"/>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cxnSp>
        <p:nvCxnSpPr>
          <p:cNvPr id="3" name="直接连接符 2"/>
          <p:cNvCxnSpPr/>
          <p:nvPr userDrawn="1"/>
        </p:nvCxnSpPr>
        <p:spPr>
          <a:xfrm flipV="1">
            <a:off x="47792" y="517358"/>
            <a:ext cx="9060113" cy="2269"/>
          </a:xfrm>
          <a:prstGeom prst="line">
            <a:avLst/>
          </a:prstGeom>
          <a:ln w="38100" cmpd="thickThi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3" r:id="rId1"/>
    <p:sldLayoutId id="2147483714" r:id="rId2"/>
    <p:sldLayoutId id="2147483716" r:id="rId3"/>
  </p:sldLayoutIdLst>
  <p:hf hdr="0" ftr="0" dt="0"/>
  <p:txStyles>
    <p:titleStyle>
      <a:lvl1pPr algn="l" rtl="0" eaLnBrk="1" fontAlgn="base" hangingPunct="1">
        <a:lnSpc>
          <a:spcPct val="90000"/>
        </a:lnSpc>
        <a:spcBef>
          <a:spcPct val="0"/>
        </a:spcBef>
        <a:spcAft>
          <a:spcPct val="0"/>
        </a:spcAft>
        <a:defRPr lang="en-US" altLang="en-US" sz="2800" b="1" kern="1200" dirty="0">
          <a:solidFill>
            <a:srgbClr val="622820"/>
          </a:solidFill>
          <a:effectLst>
            <a:outerShdw blurRad="38100" dist="38100" dir="2700000" algn="tl">
              <a:srgbClr val="000000">
                <a:alpha val="43137"/>
              </a:srgbClr>
            </a:outerShdw>
          </a:effectLst>
          <a:latin typeface="Bodoni MT Condensed" pitchFamily="18" charset="0"/>
          <a:ea typeface="华文中宋" pitchFamily="2" charset="-122"/>
          <a:cs typeface="+mj-cs"/>
        </a:defRPr>
      </a:lvl1pPr>
      <a:lvl2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2pPr>
      <a:lvl3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3pPr>
      <a:lvl4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4pPr>
      <a:lvl5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5pPr>
      <a:lvl6pPr marL="4572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6pPr>
      <a:lvl7pPr marL="9144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7pPr>
      <a:lvl8pPr marL="13716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8pPr>
      <a:lvl9pPr marL="18288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9pPr>
    </p:titleStyle>
    <p:body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12.png"/><Relationship Id="rId7" Type="http://schemas.openxmlformats.org/officeDocument/2006/relationships/image" Target="../media/image20.png"/><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tm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4" Type="http://schemas.openxmlformats.org/officeDocument/2006/relationships/chart" Target="../charts/chart3.xml"/><Relationship Id="rId1" Type="http://schemas.openxmlformats.org/officeDocument/2006/relationships/slideLayout" Target="../slideLayouts/slideLayout3.xml"/><Relationship Id="rId2" Type="http://schemas.openxmlformats.org/officeDocument/2006/relationships/chart" Target="../charts/char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 Id="rId3" Type="http://schemas.openxmlformats.org/officeDocument/2006/relationships/chart" Target="../charts/char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p:cNvSpPr>
            <a:spLocks noGrp="1"/>
          </p:cNvSpPr>
          <p:nvPr/>
        </p:nvSpPr>
        <p:spPr>
          <a:xfrm>
            <a:off x="1835696" y="4233185"/>
            <a:ext cx="6359525" cy="1119187"/>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defRPr/>
            </a:pPr>
            <a:r>
              <a:rPr lang="zh-CN" altLang="en-US" sz="2800" b="1" noProof="1">
                <a:solidFill>
                  <a:schemeClr val="accent1">
                    <a:lumMod val="50000"/>
                  </a:schemeClr>
                </a:solidFill>
                <a:effectLst>
                  <a:outerShdw blurRad="38100" dist="38100" dir="2700000" algn="tl">
                    <a:srgbClr val="000000">
                      <a:alpha val="43137"/>
                    </a:srgbClr>
                  </a:outerShdw>
                </a:effectLst>
                <a:latin typeface="楷体" panose="02010609060101010101" charset="-122"/>
                <a:ea typeface="楷体" panose="02010609060101010101" charset="-122"/>
              </a:rPr>
              <a:t>报告：宾浩宇 黄振洋</a:t>
            </a:r>
            <a:endParaRPr lang="en-US" altLang="zh-CN" sz="2800" b="1" noProof="1">
              <a:solidFill>
                <a:schemeClr val="accent1">
                  <a:lumMod val="50000"/>
                </a:schemeClr>
              </a:solidFill>
              <a:effectLst>
                <a:outerShdw blurRad="38100" dist="38100" dir="2700000" algn="tl">
                  <a:srgbClr val="000000">
                    <a:alpha val="43137"/>
                  </a:srgbClr>
                </a:outerShdw>
              </a:effectLst>
              <a:latin typeface="楷体" panose="02010609060101010101" charset="-122"/>
              <a:ea typeface="楷体" panose="02010609060101010101" charset="-122"/>
            </a:endParaRPr>
          </a:p>
          <a:p>
            <a:pPr algn="l">
              <a:defRPr/>
            </a:pPr>
            <a:r>
              <a:rPr lang="zh-CN" altLang="en-US" sz="2800" b="1" noProof="1">
                <a:solidFill>
                  <a:schemeClr val="accent1">
                    <a:lumMod val="50000"/>
                  </a:schemeClr>
                </a:solidFill>
                <a:effectLst>
                  <a:outerShdw blurRad="38100" dist="38100" dir="2700000" algn="tl">
                    <a:srgbClr val="000000">
                      <a:alpha val="43137"/>
                    </a:srgbClr>
                  </a:outerShdw>
                </a:effectLst>
                <a:latin typeface="楷体" panose="02010609060101010101" charset="-122"/>
                <a:ea typeface="楷体" panose="02010609060101010101" charset="-122"/>
              </a:rPr>
              <a:t>实验：丁子恒 刘宸睿</a:t>
            </a:r>
          </a:p>
        </p:txBody>
      </p:sp>
      <p:sp>
        <p:nvSpPr>
          <p:cNvPr id="7" name="副标题 2"/>
          <p:cNvSpPr>
            <a:spLocks noGrp="1"/>
          </p:cNvSpPr>
          <p:nvPr/>
        </p:nvSpPr>
        <p:spPr>
          <a:xfrm>
            <a:off x="11750" y="1020212"/>
            <a:ext cx="9143999" cy="536580"/>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altLang="zh-CN" sz="2800" b="1" noProof="1">
                <a:solidFill>
                  <a:schemeClr val="accent5">
                    <a:lumMod val="50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2019-2020</a:t>
            </a:r>
            <a:r>
              <a:rPr lang="zh-CN" altLang="en-US" sz="2800" b="1" noProof="1">
                <a:solidFill>
                  <a:schemeClr val="accent5">
                    <a:lumMod val="50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学年秋季学期</a:t>
            </a:r>
          </a:p>
        </p:txBody>
      </p:sp>
      <p:sp>
        <p:nvSpPr>
          <p:cNvPr id="13" name="文本占位符 2"/>
          <p:cNvSpPr txBox="1"/>
          <p:nvPr/>
        </p:nvSpPr>
        <p:spPr bwMode="auto">
          <a:xfrm>
            <a:off x="1393231" y="2067030"/>
            <a:ext cx="6359525" cy="1521147"/>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ctr" anchorCtr="0" compatLnSpc="1">
            <a:noAutofit/>
          </a:bodyPr>
          <a:lstStyle>
            <a:lvl1pPr marL="0" indent="0" algn="ctr" rtl="0" eaLnBrk="1" fontAlgn="base" hangingPunct="1">
              <a:lnSpc>
                <a:spcPct val="90000"/>
              </a:lnSpc>
              <a:spcBef>
                <a:spcPts val="1000"/>
              </a:spcBef>
              <a:spcAft>
                <a:spcPct val="0"/>
              </a:spcAft>
              <a:buClr>
                <a:schemeClr val="accent1"/>
              </a:buClr>
              <a:buFont typeface="Wingdings" panose="05000000000000000000" pitchFamily="2" charset="2"/>
              <a:buNone/>
              <a:defRPr lang="zh-CN" altLang="en-US" sz="2800" b="1" kern="1200" baseline="0">
                <a:solidFill>
                  <a:schemeClr val="tx1"/>
                </a:solidFill>
                <a:effectLst/>
                <a:latin typeface="Arial Narrow" panose="020B0606020202030204" pitchFamily="34" charset="0"/>
                <a:ea typeface="微软雅黑" panose="020B0503020204020204" pitchFamily="34" charset="-122"/>
                <a:cs typeface="+mn-cs"/>
              </a:defRPr>
            </a:lvl1pPr>
            <a:lvl2pPr marL="457200" indent="0" algn="l" rtl="0" eaLnBrk="1" fontAlgn="base" hangingPunct="1">
              <a:lnSpc>
                <a:spcPct val="90000"/>
              </a:lnSpc>
              <a:spcBef>
                <a:spcPts val="500"/>
              </a:spcBef>
              <a:spcAft>
                <a:spcPct val="0"/>
              </a:spcAft>
              <a:buClr>
                <a:schemeClr val="accent1"/>
              </a:buClr>
              <a:buFont typeface="Wingdings" panose="05000000000000000000" pitchFamily="2" charset="2"/>
              <a:buNone/>
              <a:defRPr lang="en-US" altLang="en-US" sz="2000" b="1" kern="1200">
                <a:solidFill>
                  <a:schemeClr val="tx1">
                    <a:tint val="75000"/>
                  </a:schemeClr>
                </a:solidFill>
                <a:latin typeface="+mn-lt"/>
                <a:ea typeface="+mn-ea"/>
                <a:cs typeface="+mn-cs"/>
              </a:defRPr>
            </a:lvl2pPr>
            <a:lvl3pPr marL="914400" indent="0" algn="l" rtl="0" eaLnBrk="1" fontAlgn="base" hangingPunct="1">
              <a:lnSpc>
                <a:spcPct val="90000"/>
              </a:lnSpc>
              <a:spcBef>
                <a:spcPts val="500"/>
              </a:spcBef>
              <a:spcAft>
                <a:spcPct val="0"/>
              </a:spcAft>
              <a:buClr>
                <a:schemeClr val="accent1"/>
              </a:buClr>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rtl="0" eaLnBrk="1" fontAlgn="base" hangingPunct="1">
              <a:lnSpc>
                <a:spcPct val="90000"/>
              </a:lnSpc>
              <a:spcBef>
                <a:spcPts val="500"/>
              </a:spcBef>
              <a:spcAft>
                <a:spcPct val="0"/>
              </a:spcAft>
              <a:buClr>
                <a:schemeClr val="accent1"/>
              </a:buClr>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rtl="0" eaLnBrk="1" fontAlgn="base" hangingPunct="1">
              <a:lnSpc>
                <a:spcPct val="90000"/>
              </a:lnSpc>
              <a:spcBef>
                <a:spcPts val="500"/>
              </a:spcBef>
              <a:spcAft>
                <a:spcPct val="0"/>
              </a:spcAft>
              <a:buClr>
                <a:schemeClr val="accent1"/>
              </a:buClr>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fontAlgn="auto">
              <a:defRPr/>
            </a:pPr>
            <a:r>
              <a:rPr lang="zh-CN" altLang="en-US" sz="3200" noProof="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漏洞利用与攻防实践</a:t>
            </a:r>
          </a:p>
          <a:p>
            <a:pPr fontAlgn="auto">
              <a:defRPr/>
            </a:pPr>
            <a:r>
              <a:rPr lang="en-US" altLang="zh-CN" sz="2400" i="1" noProof="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E</a:t>
            </a:r>
            <a:r>
              <a:rPr sz="2400" i="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xploiting Software Vulnerability-Techniques and Practice</a:t>
            </a:r>
            <a:endParaRPr lang="en-US" altLang="zh-CN" sz="2400" i="1" noProof="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endParaRPr>
          </a:p>
        </p:txBody>
      </p:sp>
      <p:cxnSp>
        <p:nvCxnSpPr>
          <p:cNvPr id="14" name="直接连接符 13"/>
          <p:cNvCxnSpPr/>
          <p:nvPr/>
        </p:nvCxnSpPr>
        <p:spPr>
          <a:xfrm>
            <a:off x="0" y="6381328"/>
            <a:ext cx="9110546" cy="41774"/>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08533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691640" y="692785"/>
            <a:ext cx="5760085" cy="1082675"/>
          </a:xfrm>
        </p:spPr>
        <p:style>
          <a:lnRef idx="1">
            <a:schemeClr val="accent6"/>
          </a:lnRef>
          <a:fillRef idx="2">
            <a:schemeClr val="accent6"/>
          </a:fillRef>
          <a:effectRef idx="1">
            <a:schemeClr val="accent6"/>
          </a:effectRef>
          <a:fontRef idx="minor">
            <a:schemeClr val="dk1"/>
          </a:fontRef>
        </p:style>
        <p:txBody>
          <a:bodyPr rtlCol="0">
            <a:noAutofit/>
          </a:bodyPr>
          <a:lstStyle/>
          <a:p>
            <a:pPr fontAlgn="auto">
              <a:defRPr/>
            </a:pPr>
            <a:r>
              <a:rPr sz="2700">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漏洞利用与攻防实践</a:t>
            </a:r>
            <a:endParaRPr lang="zh-CN" altLang="en-US" sz="2700" noProof="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endParaRPr>
          </a:p>
          <a:p>
            <a:pPr fontAlgn="auto">
              <a:defRPr/>
            </a:pPr>
            <a:r>
              <a:rPr sz="2000" i="1">
                <a:latin typeface="Times New Roman" panose="02020603050405020304" pitchFamily="18" charset="0"/>
                <a:sym typeface="+mn-ea"/>
              </a:rPr>
              <a:t>Exploiting Software Vulnerability-Techniques and Practice</a:t>
            </a:r>
            <a:endParaRPr lang="en-US" altLang="zh-CN" sz="2000" i="1" noProof="1">
              <a:latin typeface="Times New Roman" panose="02020603050405020304" pitchFamily="18" charset="0"/>
              <a:sym typeface="+mn-ea"/>
            </a:endParaRPr>
          </a:p>
        </p:txBody>
      </p:sp>
      <p:sp>
        <p:nvSpPr>
          <p:cNvPr id="7" name="副标题 2"/>
          <p:cNvSpPr>
            <a:spLocks noGrp="1"/>
          </p:cNvSpPr>
          <p:nvPr/>
        </p:nvSpPr>
        <p:spPr>
          <a:xfrm>
            <a:off x="3419475" y="6021388"/>
            <a:ext cx="2432050" cy="425450"/>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endParaRPr lang="en-US" altLang="zh-CN" sz="2800" b="1" noProof="1">
              <a:solidFill>
                <a:schemeClr val="accent1">
                  <a:lumMod val="50000"/>
                </a:schemeClr>
              </a:solidFill>
              <a:effectLst>
                <a:outerShdw blurRad="38100" dist="38100" dir="2700000" algn="tl">
                  <a:srgbClr val="000000">
                    <a:alpha val="43137"/>
                  </a:srgbClr>
                </a:outerShdw>
              </a:effectLst>
              <a:latin typeface="Californian FB" panose="0207040306080B030204" pitchFamily="18" charset="0"/>
              <a:ea typeface="方正姚体" panose="02010601030101010101" charset="-122"/>
            </a:endParaRPr>
          </a:p>
        </p:txBody>
      </p:sp>
      <p:sp>
        <p:nvSpPr>
          <p:cNvPr id="9" name="文本框 8"/>
          <p:cNvSpPr txBox="1"/>
          <p:nvPr/>
        </p:nvSpPr>
        <p:spPr>
          <a:xfrm>
            <a:off x="1988" y="-36000"/>
            <a:ext cx="9166396" cy="523220"/>
          </a:xfrm>
          <a:prstGeom prst="rect">
            <a:avLst/>
          </a:prstGeom>
          <a:solidFill>
            <a:srgbClr val="D8F6F8"/>
          </a:solidFill>
        </p:spPr>
        <p:txBody>
          <a:bodyPr wrap="square">
            <a:spAutoFit/>
          </a:bodyPr>
          <a:lstStyle/>
          <a:p>
            <a:pPr algn="ctr" eaLnBrk="1" hangingPunct="1">
              <a:buFont typeface="Arial" panose="020B0604020202020204" pitchFamily="34" charset="0"/>
              <a:buNone/>
              <a:defRPr/>
            </a:pPr>
            <a:r>
              <a:rPr lang="zh-CN" altLang="en-US" sz="2800" b="1" noProof="1">
                <a:solidFill>
                  <a:srgbClr val="622820"/>
                </a:solidFill>
                <a:effectLst>
                  <a:outerShdw blurRad="38100" dist="38100" dir="2700000" algn="tl">
                    <a:srgbClr val="000000">
                      <a:alpha val="43137"/>
                    </a:srgbClr>
                  </a:outerShdw>
                </a:effectLst>
                <a:latin typeface="隶书" panose="02010509060101010101" charset="-122"/>
                <a:ea typeface="隶书" panose="02010509060101010101" charset="-122"/>
                <a:cs typeface="+mn-ea"/>
                <a:sym typeface="+mn-ea"/>
              </a:rPr>
              <a:t>中国科学院大学网络空间安全学院专业研讨课</a:t>
            </a:r>
            <a:endParaRPr lang="zh-CN" altLang="en-US" sz="2800" b="1" noProof="1">
              <a:solidFill>
                <a:srgbClr val="622820"/>
              </a:solidFill>
              <a:effectLst>
                <a:outerShdw blurRad="38100" dist="38100" dir="2700000" algn="tl">
                  <a:srgbClr val="000000">
                    <a:alpha val="43137"/>
                  </a:srgbClr>
                </a:outerShdw>
              </a:effectLst>
              <a:latin typeface="隶书" panose="02010509060101010101" charset="-122"/>
              <a:ea typeface="隶书" panose="02010509060101010101" charset="-122"/>
              <a:sym typeface="+mn-ea"/>
            </a:endParaRPr>
          </a:p>
        </p:txBody>
      </p:sp>
      <p:sp>
        <p:nvSpPr>
          <p:cNvPr id="15" name="标题 1"/>
          <p:cNvSpPr txBox="1"/>
          <p:nvPr/>
        </p:nvSpPr>
        <p:spPr bwMode="auto">
          <a:xfrm>
            <a:off x="639430" y="2338584"/>
            <a:ext cx="7886700"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Autofit/>
          </a:bodyPr>
          <a:lstStyle>
            <a:lvl1pPr algn="l" rtl="0" eaLnBrk="1" fontAlgn="base" hangingPunct="1">
              <a:lnSpc>
                <a:spcPct val="90000"/>
              </a:lnSpc>
              <a:spcBef>
                <a:spcPct val="0"/>
              </a:spcBef>
              <a:spcAft>
                <a:spcPct val="0"/>
              </a:spcAft>
              <a:defRPr lang="en-US" altLang="en-US" sz="3200" b="1" kern="1200" baseline="0">
                <a:solidFill>
                  <a:schemeClr val="tx1"/>
                </a:solidFill>
                <a:effectLst>
                  <a:outerShdw blurRad="38100" dist="38100" dir="2700000" algn="tl">
                    <a:srgbClr val="000000">
                      <a:alpha val="43137"/>
                    </a:srgbClr>
                  </a:outerShdw>
                </a:effectLst>
                <a:latin typeface="Bodoni MT Condensed" panose="02070606080606020203" pitchFamily="18" charset="0"/>
                <a:ea typeface="华文中宋" panose="02010600040101010101" pitchFamily="2" charset="-122"/>
                <a:cs typeface="+mj-cs"/>
              </a:defRPr>
            </a:lvl1pPr>
            <a:lvl2pPr algn="l" rtl="0" eaLnBrk="1" fontAlgn="base" hangingPunct="1">
              <a:lnSpc>
                <a:spcPct val="90000"/>
              </a:lnSpc>
              <a:spcBef>
                <a:spcPct val="0"/>
              </a:spcBef>
              <a:spcAft>
                <a:spcPct val="0"/>
              </a:spcAft>
              <a:defRPr sz="3200" b="1">
                <a:solidFill>
                  <a:schemeClr val="tx1"/>
                </a:solidFill>
                <a:latin typeface="Bodoni MT Condensed" panose="02070606080606020203" pitchFamily="18" charset="0"/>
                <a:ea typeface="华文中宋" panose="02010600040101010101" pitchFamily="2" charset="-122"/>
              </a:defRPr>
            </a:lvl2pPr>
            <a:lvl3pPr algn="l" rtl="0" eaLnBrk="1" fontAlgn="base" hangingPunct="1">
              <a:lnSpc>
                <a:spcPct val="90000"/>
              </a:lnSpc>
              <a:spcBef>
                <a:spcPct val="0"/>
              </a:spcBef>
              <a:spcAft>
                <a:spcPct val="0"/>
              </a:spcAft>
              <a:defRPr sz="3200" b="1">
                <a:solidFill>
                  <a:schemeClr val="tx1"/>
                </a:solidFill>
                <a:latin typeface="Bodoni MT Condensed" panose="02070606080606020203" pitchFamily="18" charset="0"/>
                <a:ea typeface="华文中宋" panose="02010600040101010101" pitchFamily="2" charset="-122"/>
              </a:defRPr>
            </a:lvl3pPr>
            <a:lvl4pPr algn="l" rtl="0" eaLnBrk="1" fontAlgn="base" hangingPunct="1">
              <a:lnSpc>
                <a:spcPct val="90000"/>
              </a:lnSpc>
              <a:spcBef>
                <a:spcPct val="0"/>
              </a:spcBef>
              <a:spcAft>
                <a:spcPct val="0"/>
              </a:spcAft>
              <a:defRPr sz="3200" b="1">
                <a:solidFill>
                  <a:schemeClr val="tx1"/>
                </a:solidFill>
                <a:latin typeface="Bodoni MT Condensed" panose="02070606080606020203" pitchFamily="18" charset="0"/>
                <a:ea typeface="华文中宋" panose="02010600040101010101" pitchFamily="2" charset="-122"/>
              </a:defRPr>
            </a:lvl4pPr>
            <a:lvl5pPr algn="l" rtl="0" eaLnBrk="1" fontAlgn="base" hangingPunct="1">
              <a:lnSpc>
                <a:spcPct val="90000"/>
              </a:lnSpc>
              <a:spcBef>
                <a:spcPct val="0"/>
              </a:spcBef>
              <a:spcAft>
                <a:spcPct val="0"/>
              </a:spcAft>
              <a:defRPr sz="3200" b="1">
                <a:solidFill>
                  <a:schemeClr val="tx1"/>
                </a:solidFill>
                <a:latin typeface="Bodoni MT Condensed" panose="02070606080606020203" pitchFamily="18" charset="0"/>
                <a:ea typeface="华文中宋" panose="02010600040101010101" pitchFamily="2" charset="-122"/>
              </a:defRPr>
            </a:lvl5pPr>
            <a:lvl6pPr marL="4572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6pPr>
            <a:lvl7pPr marL="9144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7pPr>
            <a:lvl8pPr marL="13716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8pPr>
            <a:lvl9pPr marL="18288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9pPr>
          </a:lstStyle>
          <a:p>
            <a:pPr algn="ctr" fontAlgn="auto">
              <a:lnSpc>
                <a:spcPct val="150000"/>
              </a:lnSpc>
              <a:defRPr/>
            </a:pPr>
            <a:r>
              <a:rPr lang="en-US" altLang="zh-CN" sz="3600" noProof="1">
                <a:solidFill>
                  <a:schemeClr val="accent3">
                    <a:lumMod val="50000"/>
                  </a:schemeClr>
                </a:solidFill>
                <a:latin typeface="微软雅黑" panose="020B0503020204020204" pitchFamily="34" charset="-122"/>
                <a:ea typeface="微软雅黑" panose="020B0503020204020204" pitchFamily="34" charset="-122"/>
                <a:sym typeface="+mn-ea"/>
              </a:rPr>
              <a:t>[</a:t>
            </a:r>
            <a:r>
              <a:rPr lang="zh-CN" altLang="en-US" sz="3600" noProof="1">
                <a:solidFill>
                  <a:schemeClr val="accent3">
                    <a:lumMod val="50000"/>
                  </a:schemeClr>
                </a:solidFill>
                <a:latin typeface="微软雅黑" panose="020B0503020204020204" pitchFamily="34" charset="-122"/>
                <a:ea typeface="微软雅黑" panose="020B0503020204020204" pitchFamily="34" charset="-122"/>
                <a:sym typeface="+mn-ea"/>
              </a:rPr>
              <a:t>第六次课</a:t>
            </a:r>
            <a:r>
              <a:rPr lang="en-US" altLang="zh-CN" sz="3600" noProof="1">
                <a:solidFill>
                  <a:schemeClr val="accent3">
                    <a:lumMod val="50000"/>
                  </a:schemeClr>
                </a:solidFill>
                <a:latin typeface="微软雅黑" panose="020B0503020204020204" pitchFamily="34" charset="-122"/>
                <a:ea typeface="微软雅黑" panose="020B0503020204020204" pitchFamily="34" charset="-122"/>
                <a:sym typeface="+mn-ea"/>
              </a:rPr>
              <a:t>] </a:t>
            </a:r>
            <a:r>
              <a:rPr lang="zh-CN" altLang="en-US" sz="3600" noProof="1">
                <a:solidFill>
                  <a:schemeClr val="accent3">
                    <a:lumMod val="50000"/>
                  </a:schemeClr>
                </a:solidFill>
                <a:latin typeface="微软雅黑" panose="020B0503020204020204" pitchFamily="34" charset="-122"/>
                <a:ea typeface="微软雅黑" panose="020B0503020204020204" pitchFamily="34" charset="-122"/>
                <a:sym typeface="+mn-ea"/>
              </a:rPr>
              <a:t>模糊测试实践</a:t>
            </a:r>
          </a:p>
        </p:txBody>
      </p:sp>
      <p:sp>
        <p:nvSpPr>
          <p:cNvPr id="5" name="灯片编号占位符 4">
            <a:extLst>
              <a:ext uri="{FF2B5EF4-FFF2-40B4-BE49-F238E27FC236}">
                <a16:creationId xmlns="" xmlns:a16="http://schemas.microsoft.com/office/drawing/2014/main" id="{6C0807EC-ECDE-4944-9D20-2B99D74CAD33}"/>
              </a:ext>
            </a:extLst>
          </p:cNvPr>
          <p:cNvSpPr>
            <a:spLocks noGrp="1"/>
          </p:cNvSpPr>
          <p:nvPr>
            <p:ph type="sldNum" sz="quarter" idx="10"/>
          </p:nvPr>
        </p:nvSpPr>
        <p:spPr/>
        <p:txBody>
          <a:bodyPr/>
          <a:lstStyle/>
          <a:p>
            <a:fld id="{8A6D26B4-866C-4665-A6B1-E1D86A7FEB5A}" type="slidenum">
              <a:rPr lang="zh-CN" altLang="en-US" smtClean="0"/>
              <a:pPr/>
              <a:t>2</a:t>
            </a:fld>
            <a:endParaRPr lang="zh-CN" altLang="en-US" dirty="0"/>
          </a:p>
        </p:txBody>
      </p:sp>
    </p:spTree>
    <p:custDataLst>
      <p:tags r:id="rId1"/>
    </p:custDataLst>
    <p:extLst>
      <p:ext uri="{BB962C8B-B14F-4D97-AF65-F5344CB8AC3E}">
        <p14:creationId xmlns:p14="http://schemas.microsoft.com/office/powerpoint/2010/main" val="3988558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内容占位符 3">
            <a:extLst>
              <a:ext uri="{FF2B5EF4-FFF2-40B4-BE49-F238E27FC236}">
                <a16:creationId xmlns="" xmlns:a16="http://schemas.microsoft.com/office/drawing/2014/main" id="{B4EE4F3F-9885-4373-B9C8-595F124EAED6}"/>
              </a:ext>
            </a:extLst>
          </p:cNvPr>
          <p:cNvSpPr>
            <a:spLocks noGrp="1"/>
          </p:cNvSpPr>
          <p:nvPr>
            <p:ph type="body" idx="1"/>
          </p:nvPr>
        </p:nvSpPr>
        <p:spPr>
          <a:xfrm>
            <a:off x="1691800" y="755316"/>
            <a:ext cx="5760400" cy="527018"/>
          </a:xfrm>
        </p:spPr>
        <p:txBody>
          <a:bodyPr/>
          <a:lstStyle/>
          <a:p>
            <a:pPr marL="0" indent="0">
              <a:lnSpc>
                <a:spcPct val="150000"/>
              </a:lnSpc>
              <a:buNone/>
            </a:pPr>
            <a:endParaRPr lang="en-US" altLang="zh-CN" dirty="0"/>
          </a:p>
          <a:p>
            <a:pPr>
              <a:lnSpc>
                <a:spcPct val="150000"/>
              </a:lnSpc>
            </a:pPr>
            <a:r>
              <a:rPr lang="zh-CN" altLang="en-US" dirty="0"/>
              <a:t>概 要</a:t>
            </a:r>
          </a:p>
          <a:p>
            <a:pPr>
              <a:lnSpc>
                <a:spcPct val="150000"/>
              </a:lnSpc>
            </a:pPr>
            <a:endParaRPr lang="zh-CN" altLang="en-US" dirty="0"/>
          </a:p>
        </p:txBody>
      </p:sp>
      <p:sp>
        <p:nvSpPr>
          <p:cNvPr id="3" name="文本占位符 2">
            <a:extLst>
              <a:ext uri="{FF2B5EF4-FFF2-40B4-BE49-F238E27FC236}">
                <a16:creationId xmlns="" xmlns:a16="http://schemas.microsoft.com/office/drawing/2014/main" id="{8EB06BA7-A70D-4452-95AB-78DE11B379CE}"/>
              </a:ext>
            </a:extLst>
          </p:cNvPr>
          <p:cNvSpPr>
            <a:spLocks noGrp="1"/>
          </p:cNvSpPr>
          <p:nvPr>
            <p:ph idx="13"/>
          </p:nvPr>
        </p:nvSpPr>
        <p:spPr/>
        <p:txBody>
          <a:bodyPr/>
          <a:lstStyle/>
          <a:p>
            <a:r>
              <a:rPr lang="en-US" altLang="zh-CN" dirty="0"/>
              <a:t>AFL</a:t>
            </a:r>
            <a:r>
              <a:rPr lang="zh-CN" altLang="en-US" dirty="0"/>
              <a:t>回顾</a:t>
            </a:r>
            <a:endParaRPr lang="en-US" altLang="zh-CN" dirty="0"/>
          </a:p>
          <a:p>
            <a:endParaRPr lang="en-US" altLang="zh-CN" dirty="0"/>
          </a:p>
          <a:p>
            <a:r>
              <a:rPr lang="en-US" altLang="zh-CN" dirty="0"/>
              <a:t>AFL</a:t>
            </a:r>
            <a:r>
              <a:rPr lang="zh-CN" altLang="en-US" dirty="0"/>
              <a:t>改进：</a:t>
            </a:r>
            <a:endParaRPr lang="en-US" altLang="zh-CN" dirty="0"/>
          </a:p>
          <a:p>
            <a:pPr marL="457200" indent="-457200">
              <a:buFont typeface="+mj-lt"/>
              <a:buAutoNum type="arabicPeriod"/>
            </a:pPr>
            <a:r>
              <a:rPr lang="en-US" altLang="zh-CN" dirty="0"/>
              <a:t>AFLFast</a:t>
            </a:r>
            <a:r>
              <a:rPr lang="zh-CN" altLang="en-US" dirty="0"/>
              <a:t>：</a:t>
            </a:r>
            <a:r>
              <a:rPr lang="en-US" altLang="zh-CN" dirty="0"/>
              <a:t>《</a:t>
            </a:r>
            <a:r>
              <a:rPr lang="en" altLang="zh-CN" dirty="0"/>
              <a:t>Coverage-based Greybox Fuzzing as Markov Chain》-CCS’16</a:t>
            </a:r>
            <a:endParaRPr lang="en-US" altLang="zh-CN" dirty="0"/>
          </a:p>
          <a:p>
            <a:endParaRPr lang="en-US" altLang="zh-CN" dirty="0"/>
          </a:p>
          <a:p>
            <a:pPr marL="457200" indent="-457200">
              <a:buFont typeface="+mj-lt"/>
              <a:buAutoNum type="arabicPeriod" startAt="2"/>
            </a:pPr>
            <a:r>
              <a:rPr lang="en-US" altLang="zh-CN" dirty="0"/>
              <a:t>Hawkeye</a:t>
            </a:r>
            <a:r>
              <a:rPr lang="zh-CN" altLang="en-US" dirty="0"/>
              <a:t>：</a:t>
            </a:r>
            <a:r>
              <a:rPr lang="en" altLang="zh-CN" dirty="0"/>
              <a:t>《Hawkeye: Towards a Desired Directed Grey-box </a:t>
            </a:r>
            <a:r>
              <a:rPr lang="en" altLang="zh-CN" dirty="0" err="1"/>
              <a:t>Fuzzer</a:t>
            </a:r>
            <a:r>
              <a:rPr lang="en" altLang="zh-CN" dirty="0"/>
              <a:t>》-CCS’18</a:t>
            </a:r>
          </a:p>
          <a:p>
            <a:endParaRPr lang="en" altLang="zh-CN" dirty="0"/>
          </a:p>
          <a:p>
            <a:r>
              <a:rPr lang="zh-CN" altLang="en" dirty="0"/>
              <a:t>实验</a:t>
            </a:r>
            <a:endParaRPr lang="zh-CN" altLang="en-US" dirty="0"/>
          </a:p>
        </p:txBody>
      </p:sp>
      <p:sp>
        <p:nvSpPr>
          <p:cNvPr id="9" name="标题 1">
            <a:extLst>
              <a:ext uri="{FF2B5EF4-FFF2-40B4-BE49-F238E27FC236}">
                <a16:creationId xmlns="" xmlns:a16="http://schemas.microsoft.com/office/drawing/2014/main" id="{5DF2A5D3-DD95-46A9-8198-94A7858933D0}"/>
              </a:ext>
            </a:extLst>
          </p:cNvPr>
          <p:cNvSpPr txBox="1">
            <a:spLocks/>
          </p:cNvSpPr>
          <p:nvPr/>
        </p:nvSpPr>
        <p:spPr bwMode="auto">
          <a:xfrm>
            <a:off x="59564" y="20517"/>
            <a:ext cx="7363921" cy="50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lang="en-US" altLang="en-US" sz="2800" b="1" kern="1200" dirty="0">
                <a:solidFill>
                  <a:srgbClr val="622820"/>
                </a:solidFill>
                <a:effectLst>
                  <a:outerShdw blurRad="38100" dist="38100" dir="2700000" algn="tl">
                    <a:srgbClr val="000000">
                      <a:alpha val="43137"/>
                    </a:srgbClr>
                  </a:outerShdw>
                </a:effectLst>
                <a:latin typeface="Bodoni MT Condensed" pitchFamily="18" charset="0"/>
                <a:ea typeface="华文中宋" pitchFamily="2" charset="-122"/>
                <a:cs typeface="+mj-cs"/>
              </a:defRPr>
            </a:lvl1pPr>
            <a:lvl2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2pPr>
            <a:lvl3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3pPr>
            <a:lvl4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4pPr>
            <a:lvl5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5pPr>
            <a:lvl6pPr marL="4572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6pPr>
            <a:lvl7pPr marL="9144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7pPr>
            <a:lvl8pPr marL="13716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8pPr>
            <a:lvl9pPr marL="18288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9pPr>
          </a:lstStyle>
          <a:p>
            <a:r>
              <a:rPr lang="en-US" altLang="zh-CN" noProof="1">
                <a:latin typeface="隶书" panose="02010509060101010101" pitchFamily="49" charset="-122"/>
                <a:ea typeface="隶书" panose="02010509060101010101" pitchFamily="49" charset="-122"/>
              </a:rPr>
              <a:t>[</a:t>
            </a:r>
            <a:r>
              <a:rPr lang="zh-CN" altLang="en-US" noProof="1">
                <a:latin typeface="隶书" panose="02010509060101010101" pitchFamily="49" charset="-122"/>
                <a:ea typeface="隶书" panose="02010509060101010101" pitchFamily="49" charset="-122"/>
              </a:rPr>
              <a:t>第</a:t>
            </a:r>
            <a:r>
              <a:rPr lang="zh-CN" altLang="en-US" i="1" noProof="1">
                <a:latin typeface="Times New Roman" panose="02020603050405020304" pitchFamily="18" charset="0"/>
                <a:ea typeface="隶书" panose="02010509060101010101" pitchFamily="49" charset="-122"/>
                <a:cs typeface="Times New Roman" panose="02020603050405020304" pitchFamily="18" charset="0"/>
              </a:rPr>
              <a:t>六</a:t>
            </a:r>
            <a:r>
              <a:rPr lang="zh-CN" altLang="en-US" noProof="1">
                <a:latin typeface="隶书" panose="02010509060101010101" pitchFamily="49" charset="-122"/>
                <a:ea typeface="隶书" panose="02010509060101010101" pitchFamily="49" charset="-122"/>
              </a:rPr>
              <a:t>次课</a:t>
            </a:r>
            <a:r>
              <a:rPr lang="en-US" altLang="zh-CN" noProof="1">
                <a:latin typeface="隶书" panose="02010509060101010101" pitchFamily="49" charset="-122"/>
                <a:ea typeface="隶书" panose="02010509060101010101" pitchFamily="49" charset="-122"/>
              </a:rPr>
              <a:t>] </a:t>
            </a:r>
            <a:r>
              <a:rPr lang="zh-CN" altLang="en-US" noProof="1">
                <a:latin typeface="隶书" panose="02010509060101010101" pitchFamily="49" charset="-122"/>
                <a:ea typeface="隶书" panose="02010509060101010101" pitchFamily="49" charset="-122"/>
              </a:rPr>
              <a:t>模糊测试实践</a:t>
            </a:r>
          </a:p>
        </p:txBody>
      </p:sp>
      <p:sp>
        <p:nvSpPr>
          <p:cNvPr id="12" name="灯片编号占位符 5">
            <a:extLst>
              <a:ext uri="{FF2B5EF4-FFF2-40B4-BE49-F238E27FC236}">
                <a16:creationId xmlns="" xmlns:a16="http://schemas.microsoft.com/office/drawing/2014/main" id="{0535CCCA-B477-3345-A3D2-E6331E719B13}"/>
              </a:ext>
            </a:extLst>
          </p:cNvPr>
          <p:cNvSpPr>
            <a:spLocks noGrp="1"/>
          </p:cNvSpPr>
          <p:nvPr>
            <p:ph type="sldNum" sz="quarter" idx="10"/>
          </p:nvPr>
        </p:nvSpPr>
        <p:spPr>
          <a:xfrm>
            <a:off x="8027988" y="6611938"/>
            <a:ext cx="1049337" cy="246062"/>
          </a:xfrm>
        </p:spPr>
        <p:txBody>
          <a:bodyPr/>
          <a:lstStyle/>
          <a:p>
            <a:fld id="{8A6D26B4-866C-4665-A6B1-E1D86A7FEB5A}" type="slidenum">
              <a:rPr lang="zh-CN" altLang="en-US" smtClean="0"/>
              <a:pPr/>
              <a:t>3</a:t>
            </a:fld>
            <a:endParaRPr lang="zh-CN" altLang="en-US" dirty="0"/>
          </a:p>
        </p:txBody>
      </p:sp>
    </p:spTree>
    <p:extLst>
      <p:ext uri="{BB962C8B-B14F-4D97-AF65-F5344CB8AC3E}">
        <p14:creationId xmlns:p14="http://schemas.microsoft.com/office/powerpoint/2010/main" val="3799426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6A7863A8-9F65-AF4B-8A76-15372CD6AF70}"/>
              </a:ext>
            </a:extLst>
          </p:cNvPr>
          <p:cNvSpPr>
            <a:spLocks noGrp="1"/>
          </p:cNvSpPr>
          <p:nvPr>
            <p:ph type="body" idx="1"/>
          </p:nvPr>
        </p:nvSpPr>
        <p:spPr/>
        <p:txBody>
          <a:bodyPr/>
          <a:lstStyle/>
          <a:p>
            <a:r>
              <a:rPr kumimoji="1" lang="en-US" altLang="zh-CN" dirty="0"/>
              <a:t>AFL</a:t>
            </a:r>
            <a:r>
              <a:rPr kumimoji="1" lang="zh-CN" altLang="en-US" dirty="0"/>
              <a:t>工作流程</a:t>
            </a:r>
          </a:p>
        </p:txBody>
      </p:sp>
      <p:sp>
        <p:nvSpPr>
          <p:cNvPr id="4" name="灯片编号占位符 3">
            <a:extLst>
              <a:ext uri="{FF2B5EF4-FFF2-40B4-BE49-F238E27FC236}">
                <a16:creationId xmlns="" xmlns:a16="http://schemas.microsoft.com/office/drawing/2014/main" id="{3DECAD79-042D-FB4E-9505-8519FDC0A53B}"/>
              </a:ext>
            </a:extLst>
          </p:cNvPr>
          <p:cNvSpPr>
            <a:spLocks noGrp="1"/>
          </p:cNvSpPr>
          <p:nvPr>
            <p:ph type="sldNum" sz="quarter" idx="10"/>
          </p:nvPr>
        </p:nvSpPr>
        <p:spPr/>
        <p:txBody>
          <a:bodyPr/>
          <a:lstStyle/>
          <a:p>
            <a:fld id="{8A6D26B4-866C-4665-A6B1-E1D86A7FEB5A}" type="slidenum">
              <a:rPr lang="zh-CN" altLang="en-US" smtClean="0"/>
              <a:pPr/>
              <a:t>4</a:t>
            </a:fld>
            <a:endParaRPr lang="zh-CN" altLang="en-US" dirty="0"/>
          </a:p>
        </p:txBody>
      </p:sp>
      <p:sp>
        <p:nvSpPr>
          <p:cNvPr id="6" name="标题 5">
            <a:extLst>
              <a:ext uri="{FF2B5EF4-FFF2-40B4-BE49-F238E27FC236}">
                <a16:creationId xmlns="" xmlns:a16="http://schemas.microsoft.com/office/drawing/2014/main" id="{2DA09EAC-FBCC-3344-8A20-9F380799F69B}"/>
              </a:ext>
            </a:extLst>
          </p:cNvPr>
          <p:cNvSpPr>
            <a:spLocks noGrp="1"/>
          </p:cNvSpPr>
          <p:nvPr>
            <p:ph type="title"/>
          </p:nvPr>
        </p:nvSpPr>
        <p:spPr/>
        <p:txBody>
          <a:bodyPr/>
          <a:lstStyle/>
          <a:p>
            <a:r>
              <a:rPr kumimoji="1" lang="en-US" altLang="zh-CN" dirty="0"/>
              <a:t>AFL</a:t>
            </a:r>
            <a:r>
              <a:rPr kumimoji="1" lang="zh-CN" altLang="en-US" dirty="0"/>
              <a:t>回顾</a:t>
            </a:r>
          </a:p>
        </p:txBody>
      </p:sp>
      <p:pic>
        <p:nvPicPr>
          <p:cNvPr id="7" name="内容占位符 6">
            <a:extLst>
              <a:ext uri="{FF2B5EF4-FFF2-40B4-BE49-F238E27FC236}">
                <a16:creationId xmlns="" xmlns:a16="http://schemas.microsoft.com/office/drawing/2014/main" id="{2688463F-2275-5745-8C48-D66D2E0A4D46}"/>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310126" y="1268760"/>
            <a:ext cx="8523748" cy="2964782"/>
          </a:xfrm>
        </p:spPr>
      </p:pic>
      <p:sp>
        <p:nvSpPr>
          <p:cNvPr id="5" name="文本框 4"/>
          <p:cNvSpPr txBox="1"/>
          <p:nvPr/>
        </p:nvSpPr>
        <p:spPr>
          <a:xfrm>
            <a:off x="669851" y="4614530"/>
            <a:ext cx="7571303" cy="1477328"/>
          </a:xfrm>
          <a:prstGeom prst="rect">
            <a:avLst/>
          </a:prstGeom>
          <a:noFill/>
        </p:spPr>
        <p:txBody>
          <a:bodyPr wrap="none" rtlCol="0">
            <a:spAutoFit/>
          </a:bodyPr>
          <a:lstStyle/>
          <a:p>
            <a:r>
              <a:rPr lang="zh-CN" altLang="en-US" dirty="0"/>
              <a:t>①从源码编译程序时进行插桩，以记录代码覆盖率（</a:t>
            </a:r>
            <a:r>
              <a:rPr lang="en-US" altLang="zh-CN" dirty="0"/>
              <a:t>Code Coverage</a:t>
            </a:r>
            <a:r>
              <a:rPr lang="zh-CN" altLang="en-US" dirty="0"/>
              <a:t>）；</a:t>
            </a:r>
          </a:p>
          <a:p>
            <a:r>
              <a:rPr lang="zh-CN" altLang="en-US" dirty="0"/>
              <a:t>②选择一些输入文件，作为初始测试集加入输入队列（</a:t>
            </a:r>
            <a:r>
              <a:rPr lang="en-US" altLang="zh-CN" dirty="0"/>
              <a:t>queue</a:t>
            </a:r>
            <a:r>
              <a:rPr lang="zh-CN" altLang="en-US" dirty="0"/>
              <a:t>）；</a:t>
            </a:r>
          </a:p>
          <a:p>
            <a:r>
              <a:rPr lang="zh-CN" altLang="en-US" dirty="0"/>
              <a:t>③将队列中的文件按一定的策略进行“突变”；</a:t>
            </a:r>
          </a:p>
          <a:p>
            <a:r>
              <a:rPr lang="zh-CN" altLang="en-US" dirty="0"/>
              <a:t>④如果经过变异文件更新了覆盖范围，则将其保留添加到队列中</a:t>
            </a:r>
            <a:r>
              <a:rPr lang="en-US" altLang="zh-CN" dirty="0"/>
              <a:t>;</a:t>
            </a:r>
          </a:p>
          <a:p>
            <a:r>
              <a:rPr lang="en-US" altLang="zh-CN" dirty="0"/>
              <a:t>⑤</a:t>
            </a:r>
            <a:r>
              <a:rPr lang="zh-CN" altLang="en-US" dirty="0"/>
              <a:t>上述过程会一直循环进行，期间触发了</a:t>
            </a:r>
            <a:r>
              <a:rPr lang="en-US" altLang="zh-CN" dirty="0"/>
              <a:t>crash</a:t>
            </a:r>
            <a:r>
              <a:rPr lang="zh-CN" altLang="en-US" dirty="0"/>
              <a:t>的文件会被记录下来。</a:t>
            </a:r>
          </a:p>
        </p:txBody>
      </p:sp>
    </p:spTree>
    <p:extLst>
      <p:ext uri="{BB962C8B-B14F-4D97-AF65-F5344CB8AC3E}">
        <p14:creationId xmlns:p14="http://schemas.microsoft.com/office/powerpoint/2010/main" val="93223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AFL</a:t>
            </a:r>
            <a:r>
              <a:rPr lang="zh-CN" altLang="en-US" dirty="0">
                <a:latin typeface="隶书" panose="02010509060101010101" pitchFamily="49" charset="-122"/>
                <a:ea typeface="隶书" panose="02010509060101010101" pitchFamily="49" charset="-122"/>
              </a:rPr>
              <a:t>回顾</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26596" y="599873"/>
            <a:ext cx="9144000" cy="5781455"/>
          </a:xfrm>
        </p:spPr>
        <p:txBody>
          <a:bodyPr/>
          <a:lstStyle/>
          <a:p>
            <a:pPr>
              <a:defRPr/>
            </a:pPr>
            <a:r>
              <a:rPr lang="en" altLang="zh-CN" sz="2000" dirty="0"/>
              <a:t>AFL</a:t>
            </a:r>
            <a:r>
              <a:rPr lang="zh-CN" altLang="en" sz="2000" dirty="0"/>
              <a:t>策略</a:t>
            </a:r>
            <a:r>
              <a:rPr lang="zh-CN" altLang="en-US" sz="2000" dirty="0"/>
              <a:t>：</a:t>
            </a:r>
            <a:endParaRPr lang="en-US" altLang="zh-CN" sz="2000" dirty="0"/>
          </a:p>
          <a:p>
            <a:pPr marL="0" indent="0">
              <a:buNone/>
              <a:defRPr/>
            </a:pPr>
            <a:r>
              <a:rPr lang="zh-CN" altLang="en-US" sz="2000" b="0" dirty="0"/>
              <a:t>       </a:t>
            </a:r>
            <a:r>
              <a:rPr lang="en" altLang="zh-CN" sz="2000" b="0" dirty="0"/>
              <a:t>AFL</a:t>
            </a:r>
            <a:r>
              <a:rPr lang="zh-CN" altLang="en-US" sz="2000" b="0" dirty="0"/>
              <a:t>维护了一个队列</a:t>
            </a:r>
            <a:r>
              <a:rPr lang="en-US" altLang="zh-CN" sz="2000" b="0" dirty="0"/>
              <a:t>(</a:t>
            </a:r>
            <a:r>
              <a:rPr lang="en" altLang="zh-CN" sz="2000" b="0" dirty="0"/>
              <a:t>queue)</a:t>
            </a:r>
            <a:r>
              <a:rPr lang="zh-CN" altLang="en" sz="2000" b="0" dirty="0"/>
              <a:t>，</a:t>
            </a:r>
            <a:r>
              <a:rPr lang="zh-CN" altLang="en-US" sz="2000" b="0" dirty="0"/>
              <a:t>每次从这个队列中</a:t>
            </a:r>
            <a:r>
              <a:rPr lang="zh-CN" altLang="en-US" sz="2000" b="0" dirty="0">
                <a:solidFill>
                  <a:srgbClr val="FF0000"/>
                </a:solidFill>
              </a:rPr>
              <a:t>取出一个文件</a:t>
            </a:r>
            <a:r>
              <a:rPr lang="en-US" altLang="zh-CN" sz="2000" b="0" dirty="0">
                <a:solidFill>
                  <a:srgbClr val="FF0000"/>
                </a:solidFill>
              </a:rPr>
              <a:t>seed</a:t>
            </a:r>
            <a:r>
              <a:rPr lang="zh-CN" altLang="en-US" sz="2000" b="0" dirty="0"/>
              <a:t>，对其进行大量变异，并检查运行后是否会引起目标崩溃、发现新路径等结果。</a:t>
            </a:r>
            <a:endParaRPr lang="en-US" altLang="zh-CN" sz="2000" b="0" dirty="0"/>
          </a:p>
          <a:p>
            <a:pPr marL="457200" indent="-457200">
              <a:buFont typeface="+mj-lt"/>
              <a:buAutoNum type="arabicPeriod"/>
              <a:defRPr/>
            </a:pPr>
            <a:endParaRPr lang="en-US" altLang="zh-CN" sz="2000" b="0" dirty="0"/>
          </a:p>
          <a:p>
            <a:pPr>
              <a:defRPr/>
            </a:pPr>
            <a:r>
              <a:rPr lang="en-US" altLang="zh-CN" sz="2000" dirty="0"/>
              <a:t>AFL</a:t>
            </a:r>
            <a:r>
              <a:rPr lang="zh-CN" altLang="en-US" sz="2000" dirty="0"/>
              <a:t>变异的主要类型：</a:t>
            </a:r>
            <a:endParaRPr lang="en-US" altLang="zh-CN" sz="2000" dirty="0"/>
          </a:p>
          <a:p>
            <a:pPr marL="457200" indent="-457200">
              <a:buFont typeface="+mj-lt"/>
              <a:buAutoNum type="arabicPeriod"/>
              <a:defRPr/>
            </a:pPr>
            <a:r>
              <a:rPr lang="en" altLang="zh-CN" sz="2000" b="0" dirty="0"/>
              <a:t>bitflip</a:t>
            </a:r>
            <a:r>
              <a:rPr lang="zh-CN" altLang="en" sz="2000" b="0" dirty="0"/>
              <a:t>，</a:t>
            </a:r>
            <a:r>
              <a:rPr lang="zh-CN" altLang="en-US" sz="2000" b="0" dirty="0"/>
              <a:t>按位翻转，</a:t>
            </a:r>
            <a:r>
              <a:rPr lang="en-US" altLang="zh-CN" sz="2000" b="0" dirty="0"/>
              <a:t>1</a:t>
            </a:r>
            <a:r>
              <a:rPr lang="zh-CN" altLang="en-US" sz="2000" b="0" dirty="0"/>
              <a:t>变为</a:t>
            </a:r>
            <a:r>
              <a:rPr lang="en-US" altLang="zh-CN" sz="2000" b="0" dirty="0"/>
              <a:t>0</a:t>
            </a:r>
            <a:r>
              <a:rPr lang="zh-CN" altLang="en-US" sz="2000" b="0" dirty="0"/>
              <a:t>，</a:t>
            </a:r>
            <a:r>
              <a:rPr lang="en-US" altLang="zh-CN" sz="2000" b="0" dirty="0"/>
              <a:t>0</a:t>
            </a:r>
            <a:r>
              <a:rPr lang="zh-CN" altLang="en-US" sz="2000" b="0" dirty="0"/>
              <a:t>变为</a:t>
            </a:r>
            <a:r>
              <a:rPr lang="en-US" altLang="zh-CN" sz="2000" b="0" dirty="0"/>
              <a:t>1</a:t>
            </a:r>
          </a:p>
          <a:p>
            <a:pPr marL="457200" indent="-457200">
              <a:buFont typeface="+mj-lt"/>
              <a:buAutoNum type="arabicPeriod"/>
              <a:defRPr/>
            </a:pPr>
            <a:r>
              <a:rPr lang="en" altLang="zh-CN" sz="2000" b="0" dirty="0"/>
              <a:t>arithmetic</a:t>
            </a:r>
            <a:r>
              <a:rPr lang="zh-CN" altLang="en" sz="2000" b="0" dirty="0"/>
              <a:t>，</a:t>
            </a:r>
            <a:r>
              <a:rPr lang="zh-CN" altLang="en-US" sz="2000" b="0" dirty="0"/>
              <a:t>整数加</a:t>
            </a:r>
            <a:r>
              <a:rPr lang="en-US" altLang="zh-CN" sz="2000" b="0" dirty="0"/>
              <a:t>/</a:t>
            </a:r>
            <a:r>
              <a:rPr lang="zh-CN" altLang="en-US" sz="2000" b="0" dirty="0"/>
              <a:t>减算术运算</a:t>
            </a:r>
            <a:endParaRPr lang="en-US" altLang="zh-CN" sz="2000" b="0" dirty="0"/>
          </a:p>
          <a:p>
            <a:pPr marL="457200" indent="-457200">
              <a:buFont typeface="+mj-lt"/>
              <a:buAutoNum type="arabicPeriod"/>
              <a:defRPr/>
            </a:pPr>
            <a:r>
              <a:rPr lang="en" altLang="zh-CN" sz="2000" b="0" dirty="0"/>
              <a:t>interest</a:t>
            </a:r>
            <a:r>
              <a:rPr lang="zh-CN" altLang="en" sz="2000" b="0" dirty="0"/>
              <a:t>，</a:t>
            </a:r>
            <a:r>
              <a:rPr lang="zh-CN" altLang="en-US" sz="2000" b="0" dirty="0"/>
              <a:t>把一些特殊内容替换到原文件中</a:t>
            </a:r>
            <a:endParaRPr lang="en-US" altLang="zh-CN" sz="2000" b="0" dirty="0"/>
          </a:p>
          <a:p>
            <a:pPr marL="457200" indent="-457200">
              <a:buFont typeface="+mj-lt"/>
              <a:buAutoNum type="arabicPeriod"/>
              <a:defRPr/>
            </a:pPr>
            <a:r>
              <a:rPr lang="en" altLang="zh-CN" sz="2000" b="0" dirty="0"/>
              <a:t>dictionary</a:t>
            </a:r>
            <a:r>
              <a:rPr lang="zh-CN" altLang="en" sz="2000" b="0" dirty="0"/>
              <a:t>，</a:t>
            </a:r>
            <a:r>
              <a:rPr lang="zh-CN" altLang="en-US" sz="2000" b="0" dirty="0"/>
              <a:t>把自动生成或用户提供的</a:t>
            </a:r>
            <a:r>
              <a:rPr lang="en" altLang="zh-CN" sz="2000" b="0" dirty="0"/>
              <a:t>token</a:t>
            </a:r>
            <a:r>
              <a:rPr lang="zh-CN" altLang="en-US" sz="2000" b="0" dirty="0"/>
              <a:t>替换</a:t>
            </a:r>
            <a:r>
              <a:rPr lang="en-US" altLang="zh-CN" sz="2000" b="0" dirty="0"/>
              <a:t>/</a:t>
            </a:r>
            <a:r>
              <a:rPr lang="zh-CN" altLang="en-US" sz="2000" b="0" dirty="0"/>
              <a:t>插入到原文件中</a:t>
            </a:r>
            <a:endParaRPr lang="en-US" altLang="zh-CN" sz="2000" b="0" dirty="0"/>
          </a:p>
          <a:p>
            <a:pPr marL="457200" indent="-457200">
              <a:buFont typeface="+mj-lt"/>
              <a:buAutoNum type="arabicPeriod"/>
              <a:defRPr/>
            </a:pPr>
            <a:r>
              <a:rPr lang="en" altLang="zh-CN" sz="2000" b="0" dirty="0"/>
              <a:t>havoc</a:t>
            </a:r>
            <a:r>
              <a:rPr lang="zh-CN" altLang="en" sz="2000" b="0" dirty="0"/>
              <a:t>，</a:t>
            </a:r>
            <a:r>
              <a:rPr lang="zh-CN" altLang="en-US" sz="2000" b="0" dirty="0"/>
              <a:t>中文意思是“大破坏”，此阶段会对原文件进行大量变异</a:t>
            </a:r>
            <a:endParaRPr lang="en-US" altLang="zh-CN" sz="2000" b="0" dirty="0"/>
          </a:p>
          <a:p>
            <a:pPr marL="457200" indent="-457200">
              <a:buFont typeface="+mj-lt"/>
              <a:buAutoNum type="arabicPeriod"/>
              <a:defRPr/>
            </a:pPr>
            <a:r>
              <a:rPr lang="en" altLang="zh-CN" sz="2000" b="0" dirty="0"/>
              <a:t>splice</a:t>
            </a:r>
            <a:r>
              <a:rPr lang="zh-CN" altLang="en" sz="2000" b="0" dirty="0"/>
              <a:t>，</a:t>
            </a:r>
            <a:r>
              <a:rPr lang="zh-CN" altLang="en-US" sz="2000" b="0" dirty="0"/>
              <a:t>中文意思是“绞接”，此阶段会将两个文件拼接起来得到一个新的文件</a:t>
            </a:r>
            <a:endParaRPr lang="en-US" altLang="zh-CN" sz="2000" b="0" dirty="0"/>
          </a:p>
          <a:p>
            <a:pPr marL="0" indent="0">
              <a:buNone/>
              <a:defRPr/>
            </a:pPr>
            <a:r>
              <a:rPr lang="zh-CN" altLang="en-US" sz="2000" dirty="0"/>
              <a:t/>
            </a:r>
            <a:br>
              <a:rPr lang="zh-CN" altLang="en-US" sz="2000" dirty="0"/>
            </a:br>
            <a:r>
              <a:rPr lang="zh-CN" altLang="en-US" sz="2000" dirty="0"/>
              <a:t/>
            </a:r>
            <a:br>
              <a:rPr lang="zh-CN" altLang="en-US" sz="2000" dirty="0"/>
            </a:br>
            <a:endParaRPr lang="en-US" altLang="zh-CN" sz="2000"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1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01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01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01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01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0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AFL</a:t>
            </a:r>
            <a:r>
              <a:rPr lang="zh-CN" altLang="en-US" dirty="0">
                <a:latin typeface="隶书" panose="02010509060101010101" pitchFamily="49" charset="-122"/>
                <a:ea typeface="隶书" panose="02010509060101010101" pitchFamily="49" charset="-122"/>
              </a:rPr>
              <a:t>回顾：如何生成新的测试用例</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128380" y="599873"/>
            <a:ext cx="7886700" cy="5329237"/>
          </a:xfrm>
        </p:spPr>
        <p:txBody>
          <a:bodyPr/>
          <a:lstStyle/>
          <a:p>
            <a:pPr>
              <a:defRPr/>
            </a:pPr>
            <a:r>
              <a:rPr lang="zh-CN" altLang="en-US" dirty="0"/>
              <a:t>如何从</a:t>
            </a:r>
            <a:r>
              <a:rPr lang="en-US" altLang="zh-CN" dirty="0"/>
              <a:t>seed</a:t>
            </a:r>
            <a:r>
              <a:rPr lang="zh-CN" altLang="en-US" dirty="0"/>
              <a:t> </a:t>
            </a:r>
            <a:r>
              <a:rPr lang="en-US" altLang="zh-CN" dirty="0"/>
              <a:t>pool</a:t>
            </a:r>
            <a:r>
              <a:rPr lang="zh-CN" altLang="en-US" dirty="0"/>
              <a:t>选择一个</a:t>
            </a:r>
            <a:r>
              <a:rPr lang="en-US" altLang="zh-CN" dirty="0"/>
              <a:t>seed</a:t>
            </a:r>
            <a:r>
              <a:rPr lang="zh-CN" altLang="en-US" dirty="0"/>
              <a:t>：</a:t>
            </a:r>
            <a:endParaRPr lang="en-US" altLang="zh-CN" dirty="0"/>
          </a:p>
          <a:p>
            <a:pPr>
              <a:defRPr/>
            </a:pPr>
            <a:r>
              <a:rPr lang="en-US" altLang="zh-CN" dirty="0"/>
              <a:t>AFL</a:t>
            </a:r>
            <a:r>
              <a:rPr lang="zh-CN" altLang="en-US" dirty="0"/>
              <a:t> ：</a:t>
            </a: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6</a:t>
            </a:fld>
            <a:endParaRPr lang="zh-CN" altLang="en-US" dirty="0"/>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 xmlns:a16="http://schemas.microsoft.com/office/drawing/2014/main" id="{341F510E-387C-0A4A-A931-1E5801E14355}"/>
                  </a:ext>
                </a:extLst>
              </p:cNvPr>
              <p:cNvGraphicFramePr>
                <a:graphicFrameLocks noGrp="1"/>
              </p:cNvGraphicFramePr>
              <p:nvPr>
                <p:extLst>
                  <p:ext uri="{D42A27DB-BD31-4B8C-83A1-F6EECF244321}">
                    <p14:modId xmlns:p14="http://schemas.microsoft.com/office/powerpoint/2010/main" val="971871160"/>
                  </p:ext>
                </p:extLst>
              </p:nvPr>
            </p:nvGraphicFramePr>
            <p:xfrm>
              <a:off x="467544" y="1484784"/>
              <a:ext cx="8136904" cy="5156448"/>
            </p:xfrm>
            <a:graphic>
              <a:graphicData uri="http://schemas.openxmlformats.org/drawingml/2006/table">
                <a:tbl>
                  <a:tblPr firstRow="1" bandRow="1">
                    <a:tableStyleId>{5C22544A-7EE6-4342-B048-85BDC9FD1C3A}</a:tableStyleId>
                  </a:tblPr>
                  <a:tblGrid>
                    <a:gridCol w="8136904">
                      <a:extLst>
                        <a:ext uri="{9D8B030D-6E8A-4147-A177-3AD203B41FA5}">
                          <a16:colId xmlns="" xmlns:a16="http://schemas.microsoft.com/office/drawing/2014/main" val="1587333770"/>
                        </a:ext>
                      </a:extLst>
                    </a:gridCol>
                  </a:tblGrid>
                  <a:tr h="432048">
                    <a:tc>
                      <a:txBody>
                        <a:bodyPr/>
                        <a:lstStyle/>
                        <a:p>
                          <a:r>
                            <a:rPr lang="en-US" altLang="zh-CN" dirty="0" err="1"/>
                            <a:t>Algorithm:Coverage-based</a:t>
                          </a:r>
                          <a:r>
                            <a:rPr lang="en-US" altLang="zh-CN" dirty="0"/>
                            <a:t> </a:t>
                          </a:r>
                          <a:r>
                            <a:rPr lang="en-US" altLang="zh-CN" dirty="0" err="1"/>
                            <a:t>Greybox</a:t>
                          </a:r>
                          <a:r>
                            <a:rPr lang="en-US" altLang="zh-CN" dirty="0"/>
                            <a:t> Fuzzing</a:t>
                          </a:r>
                          <a:endParaRPr lang="zh-CN" altLang="en-US" dirty="0"/>
                        </a:p>
                      </a:txBody>
                      <a:tcPr/>
                    </a:tc>
                    <a:extLst>
                      <a:ext uri="{0D108BD9-81ED-4DB2-BD59-A6C34878D82A}">
                        <a16:rowId xmlns="" xmlns:a16="http://schemas.microsoft.com/office/drawing/2014/main" val="4025514773"/>
                      </a:ext>
                    </a:extLst>
                  </a:tr>
                  <a:tr h="4483110">
                    <a:tc>
                      <a:txBody>
                        <a:bodyPr/>
                        <a:lstStyle/>
                        <a:p>
                          <a:r>
                            <a:rPr lang="en-US" altLang="zh-CN" sz="1600" b="0" dirty="0"/>
                            <a:t>Input: </a:t>
                          </a:r>
                          <a:r>
                            <a:rPr lang="en-US" altLang="zh-CN" sz="1600" dirty="0"/>
                            <a:t>Seed Inputs S</a:t>
                          </a:r>
                        </a:p>
                        <a:p>
                          <a:r>
                            <a:rPr lang="en-US" altLang="zh-CN" sz="1600" dirty="0"/>
                            <a:t> </a:t>
                          </a:r>
                          <a14:m>
                            <m:oMath xmlns:m="http://schemas.openxmlformats.org/officeDocument/2006/math">
                              <m:sSub>
                                <m:sSubPr>
                                  <m:ctrlPr>
                                    <a:rPr lang="en-US" altLang="zh-CN" sz="1600" i="1" smtClean="0">
                                      <a:latin typeface="Cambria Math" charset="0"/>
                                    </a:rPr>
                                  </m:ctrlPr>
                                </m:sSubPr>
                                <m:e>
                                  <m:r>
                                    <a:rPr lang="en-US" altLang="zh-CN" sz="1600" b="0" i="1" smtClean="0">
                                      <a:latin typeface="Cambria Math" panose="02040503050406030204" pitchFamily="18" charset="0"/>
                                    </a:rPr>
                                    <m:t>𝑇</m:t>
                                  </m:r>
                                </m:e>
                                <m:sub>
                                  <m:r>
                                    <a:rPr lang="en-US" altLang="zh-CN" sz="1600" i="1" smtClean="0">
                                      <a:latin typeface="Cambria Math" panose="02040503050406030204" pitchFamily="18" charset="0"/>
                                      <a:ea typeface="Cambria Math" panose="02040503050406030204" pitchFamily="18" charset="0"/>
                                    </a:rPr>
                                    <m:t>ℵ</m:t>
                                  </m:r>
                                </m:sub>
                              </m:sSub>
                            </m:oMath>
                          </a14:m>
                          <a:r>
                            <a:rPr lang="en-US" altLang="zh-CN" sz="1600" dirty="0"/>
                            <a:t>=</a:t>
                          </a:r>
                          <a14:m>
                            <m:oMath xmlns:m="http://schemas.openxmlformats.org/officeDocument/2006/math">
                              <m:r>
                                <a:rPr lang="en-US" altLang="zh-CN" sz="1600" i="1" dirty="0" smtClean="0">
                                  <a:latin typeface="Cambria Math" panose="02040503050406030204" pitchFamily="18" charset="0"/>
                                  <a:ea typeface="Cambria Math" panose="02040503050406030204" pitchFamily="18" charset="0"/>
                                </a:rPr>
                                <m:t>∅</m:t>
                              </m:r>
                            </m:oMath>
                          </a14:m>
                          <a:endParaRPr lang="en-US" altLang="zh-CN" sz="1600" dirty="0"/>
                        </a:p>
                        <a:p>
                          <a:r>
                            <a:rPr lang="en-US" altLang="zh-CN" sz="1600" dirty="0"/>
                            <a:t>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𝑆</m:t>
                              </m:r>
                            </m:oMath>
                          </a14:m>
                          <a:endParaRPr lang="en-US" altLang="zh-CN"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1" dirty="0"/>
                            <a:t>if </a:t>
                          </a:r>
                          <a:r>
                            <a:rPr lang="en-US" altLang="zh-CN" sz="1600" dirty="0"/>
                            <a:t> </a:t>
                          </a:r>
                          <a14:m>
                            <m:oMath xmlns:m="http://schemas.openxmlformats.org/officeDocument/2006/math">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r>
                            <a:rPr lang="en-US" altLang="zh-CN" sz="1600" b="0" dirty="0"/>
                            <a:t> </a:t>
                          </a:r>
                          <a:r>
                            <a:rPr lang="en-US" altLang="zh-CN" sz="1600" b="1" dirty="0"/>
                            <a:t>then</a:t>
                          </a:r>
                          <a:r>
                            <a:rPr lang="en-US" altLang="zh-CN" sz="1600" b="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dirty="0"/>
                            <a:t>     add empty file to </a:t>
                          </a:r>
                          <a14:m>
                            <m:oMath xmlns:m="http://schemas.openxmlformats.org/officeDocument/2006/math">
                              <m:r>
                                <a:rPr lang="en-US" altLang="zh-CN" sz="1600" b="0" i="1" smtClean="0">
                                  <a:latin typeface="Cambria Math" panose="02040503050406030204" pitchFamily="18" charset="0"/>
                                </a:rPr>
                                <m:t>𝑇</m:t>
                              </m:r>
                            </m:oMath>
                          </a14:m>
                          <a:endParaRPr lang="en-US" altLang="zh-CN"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1" dirty="0"/>
                            <a:t>end if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1" dirty="0"/>
                            <a:t>repeat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dirty="0"/>
                            <a:t>      </a:t>
                          </a:r>
                          <a14:m>
                            <m:oMath xmlns:m="http://schemas.openxmlformats.org/officeDocument/2006/math">
                              <m:r>
                                <a:rPr lang="en-US" altLang="zh-CN" sz="1600" b="0" i="1" smtClean="0">
                                  <a:latin typeface="Cambria Math" panose="02040503050406030204" pitchFamily="18" charset="0"/>
                                </a:rPr>
                                <m:t>𝑡</m:t>
                              </m:r>
                            </m:oMath>
                          </a14:m>
                          <a:r>
                            <a:rPr lang="en-US" altLang="zh-CN" sz="1600" b="0" dirty="0"/>
                            <a:t>  = </a:t>
                          </a:r>
                          <a:r>
                            <a:rPr lang="en-US" altLang="zh-CN" sz="1600" b="0" dirty="0" err="1"/>
                            <a:t>choose_next</a:t>
                          </a:r>
                          <a:r>
                            <a:rPr lang="en-US" altLang="zh-CN" sz="1600" b="0" dirty="0"/>
                            <a:t> </a:t>
                          </a:r>
                          <a14:m>
                            <m:oMath xmlns:m="http://schemas.openxmlformats.org/officeDocument/2006/math">
                              <m:r>
                                <a:rPr lang="en-US" altLang="zh-CN" sz="1600" b="0" i="0" smtClean="0">
                                  <a:latin typeface="Cambria Math" panose="02040503050406030204" pitchFamily="18" charset="0"/>
                                </a:rPr>
                                <m:t>(</m:t>
                              </m:r>
                              <m:r>
                                <a:rPr lang="en-US" altLang="zh-CN" sz="1600" b="0" i="1" smtClean="0">
                                  <a:latin typeface="Cambria Math" panose="02040503050406030204" pitchFamily="18" charset="0"/>
                                </a:rPr>
                                <m:t>𝑇</m:t>
                              </m:r>
                              <m:r>
                                <a:rPr lang="en-US" altLang="zh-CN" sz="1600" b="0" i="1" smtClean="0">
                                  <a:latin typeface="Cambria Math" panose="02040503050406030204" pitchFamily="18" charset="0"/>
                                </a:rPr>
                                <m:t>)</m:t>
                              </m:r>
                            </m:oMath>
                          </a14:m>
                          <a:endParaRPr lang="en-US" altLang="zh-CN"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dirty="0"/>
                            <a:t>      </a:t>
                          </a:r>
                          <a14:m>
                            <m:oMath xmlns:m="http://schemas.openxmlformats.org/officeDocument/2006/math">
                              <m:r>
                                <a:rPr lang="en-US" altLang="zh-CN" sz="1600" b="0" i="1" smtClean="0">
                                  <a:latin typeface="Cambria Math" panose="02040503050406030204" pitchFamily="18" charset="0"/>
                                </a:rPr>
                                <m:t>𝑝</m:t>
                              </m:r>
                            </m:oMath>
                          </a14:m>
                          <a:r>
                            <a:rPr lang="en-US" altLang="zh-CN" sz="1600" b="0" dirty="0"/>
                            <a:t> = </a:t>
                          </a:r>
                          <a:r>
                            <a:rPr lang="en-US" altLang="zh-CN" sz="1600" b="0" dirty="0" err="1"/>
                            <a:t>assign_energy</a:t>
                          </a:r>
                          <a14:m>
                            <m:oMath xmlns:m="http://schemas.openxmlformats.org/officeDocument/2006/math">
                              <m:r>
                                <a:rPr lang="en-US" altLang="zh-CN" sz="1600" b="0" i="0" smtClean="0">
                                  <a:latin typeface="Cambria Math" panose="02040503050406030204" pitchFamily="18" charset="0"/>
                                </a:rPr>
                                <m:t>(</m:t>
                              </m:r>
                              <m:r>
                                <a:rPr lang="en-US" altLang="zh-CN" sz="1600" b="0" i="1" smtClean="0">
                                  <a:latin typeface="Cambria Math" panose="02040503050406030204" pitchFamily="18" charset="0"/>
                                </a:rPr>
                                <m:t>𝑡</m:t>
                              </m:r>
                              <m:r>
                                <a:rPr lang="en-US" altLang="zh-CN" sz="1600" b="0" i="1" smtClean="0">
                                  <a:latin typeface="Cambria Math" panose="02040503050406030204" pitchFamily="18" charset="0"/>
                                </a:rPr>
                                <m:t>)</m:t>
                              </m:r>
                            </m:oMath>
                          </a14:m>
                          <a:endParaRPr lang="en-US" altLang="zh-CN"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dirty="0"/>
                            <a:t>      </a:t>
                          </a:r>
                          <a:r>
                            <a:rPr lang="en-US" altLang="zh-CN" sz="1600" b="1" dirty="0"/>
                            <a:t>for</a:t>
                          </a:r>
                          <a:r>
                            <a:rPr lang="en-US" altLang="zh-CN" sz="1600" b="0" dirty="0"/>
                            <a:t> </a:t>
                          </a:r>
                          <a14:m>
                            <m:oMath xmlns:m="http://schemas.openxmlformats.org/officeDocument/2006/math">
                              <m:r>
                                <a:rPr lang="en-US" altLang="zh-CN" sz="1600" b="0" i="1" smtClean="0">
                                  <a:latin typeface="Cambria Math" panose="02040503050406030204" pitchFamily="18" charset="0"/>
                                </a:rPr>
                                <m:t>𝑖</m:t>
                              </m:r>
                            </m:oMath>
                          </a14:m>
                          <a:r>
                            <a:rPr lang="en-US" altLang="zh-CN" sz="1600" b="0" dirty="0"/>
                            <a:t> from 1 to </a:t>
                          </a:r>
                          <a14:m>
                            <m:oMath xmlns:m="http://schemas.openxmlformats.org/officeDocument/2006/math">
                              <m:r>
                                <a:rPr lang="en-US" altLang="zh-CN" sz="1600" b="0" i="1" smtClean="0">
                                  <a:latin typeface="Cambria Math" panose="02040503050406030204" pitchFamily="18" charset="0"/>
                                </a:rPr>
                                <m:t>𝑝</m:t>
                              </m:r>
                            </m:oMath>
                          </a14:m>
                          <a:r>
                            <a:rPr lang="en-US" altLang="zh-CN" sz="1600" b="0" dirty="0"/>
                            <a:t> </a:t>
                          </a:r>
                          <a:r>
                            <a:rPr lang="en-US" altLang="zh-CN" sz="1600" b="1" dirty="0"/>
                            <a:t>do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baseline="0" dirty="0"/>
                            <a:t>              </a:t>
                          </a:r>
                          <a14:m>
                            <m:oMath xmlns:m="http://schemas.openxmlformats.org/officeDocument/2006/math">
                              <m:sSup>
                                <m:sSupPr>
                                  <m:ctrlPr>
                                    <a:rPr lang="en-US" altLang="zh-CN" sz="1600" b="0" i="1" baseline="0" smtClean="0">
                                      <a:latin typeface="Cambria Math" charset="0"/>
                                    </a:rPr>
                                  </m:ctrlPr>
                                </m:sSupPr>
                                <m:e>
                                  <m:r>
                                    <a:rPr lang="en-US" altLang="zh-CN" sz="1600" b="0" i="1" baseline="0" smtClean="0">
                                      <a:latin typeface="Cambria Math" panose="02040503050406030204" pitchFamily="18" charset="0"/>
                                    </a:rPr>
                                    <m:t>𝑡</m:t>
                                  </m:r>
                                </m:e>
                                <m:sup>
                                  <m:r>
                                    <a:rPr lang="en-US" altLang="zh-CN" sz="1600" b="0" i="1" baseline="0" smtClean="0">
                                      <a:latin typeface="Cambria Math" panose="02040503050406030204" pitchFamily="18" charset="0"/>
                                    </a:rPr>
                                    <m:t>′</m:t>
                                  </m:r>
                                </m:sup>
                              </m:sSup>
                              <m:r>
                                <a:rPr lang="en-US" altLang="zh-CN" sz="1600" b="0" i="1" baseline="0" smtClean="0">
                                  <a:latin typeface="Cambria Math" panose="02040503050406030204" pitchFamily="18" charset="0"/>
                                </a:rPr>
                                <m:t>=</m:t>
                              </m:r>
                              <m:r>
                                <a:rPr lang="en-US" altLang="zh-CN" sz="1600" b="0" i="1" baseline="0" smtClean="0">
                                  <a:latin typeface="Cambria Math" panose="02040503050406030204" pitchFamily="18" charset="0"/>
                                </a:rPr>
                                <m:t>𝑚𝑢𝑡𝑎𝑡𝑒</m:t>
                              </m:r>
                              <m:r>
                                <a:rPr lang="en-US" altLang="zh-CN" sz="1600" b="0" i="1" baseline="0" smtClean="0">
                                  <a:latin typeface="Cambria Math" panose="02040503050406030204" pitchFamily="18" charset="0"/>
                                </a:rPr>
                                <m:t>_</m:t>
                              </m:r>
                              <m:r>
                                <a:rPr lang="en-US" altLang="zh-CN" sz="1600" b="0" i="1" baseline="0" smtClean="0">
                                  <a:latin typeface="Cambria Math" panose="02040503050406030204" pitchFamily="18" charset="0"/>
                                </a:rPr>
                                <m:t>𝑖</m:t>
                              </m:r>
                              <m:r>
                                <m:rPr>
                                  <m:sty m:val="p"/>
                                </m:rPr>
                                <a:rPr lang="en-US" altLang="zh-CN" sz="1600" b="0" i="1" baseline="0" smtClean="0">
                                  <a:latin typeface="Cambria Math" panose="02040503050406030204" pitchFamily="18" charset="0"/>
                                </a:rPr>
                                <m:t>n</m:t>
                              </m:r>
                              <m:r>
                                <a:rPr lang="en-US" altLang="zh-CN" sz="1600" b="0" i="1" baseline="0" smtClean="0">
                                  <a:latin typeface="Cambria Math" panose="02040503050406030204" pitchFamily="18" charset="0"/>
                                </a:rPr>
                                <m:t>𝑝𝑢𝑡</m:t>
                              </m:r>
                              <m:r>
                                <a:rPr lang="en-US" altLang="zh-CN" sz="1600" b="0" i="1" baseline="0" smtClean="0">
                                  <a:latin typeface="Cambria Math" panose="02040503050406030204" pitchFamily="18" charset="0"/>
                                </a:rPr>
                                <m:t>(</m:t>
                              </m:r>
                              <m:r>
                                <a:rPr lang="en-US" altLang="zh-CN" sz="1600" b="0" i="1" baseline="0" smtClean="0">
                                  <a:latin typeface="Cambria Math" panose="02040503050406030204" pitchFamily="18" charset="0"/>
                                </a:rPr>
                                <m:t>𝑡</m:t>
                              </m:r>
                              <m:r>
                                <a:rPr lang="en-US" altLang="zh-CN" sz="1600" b="0" i="1" baseline="0" smtClean="0">
                                  <a:latin typeface="Cambria Math" panose="02040503050406030204" pitchFamily="18" charset="0"/>
                                </a:rPr>
                                <m:t>)</m:t>
                              </m:r>
                            </m:oMath>
                          </a14:m>
                          <a:endParaRPr lang="en-US" altLang="zh-CN"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dirty="0"/>
                            <a:t>              </a:t>
                          </a:r>
                          <a:r>
                            <a:rPr lang="en-US" altLang="zh-CN" sz="1600" b="1" dirty="0"/>
                            <a:t>if </a:t>
                          </a:r>
                          <a14:m>
                            <m:oMath xmlns:m="http://schemas.openxmlformats.org/officeDocument/2006/math">
                              <m:sSup>
                                <m:sSupPr>
                                  <m:ctrlPr>
                                    <a:rPr lang="en-US" altLang="zh-CN" sz="1600" b="0" i="1" baseline="0" smtClean="0">
                                      <a:latin typeface="Cambria Math" charset="0"/>
                                    </a:rPr>
                                  </m:ctrlPr>
                                </m:sSupPr>
                                <m:e>
                                  <m:r>
                                    <a:rPr lang="en-US" altLang="zh-CN" sz="1600" b="0" i="1" baseline="0" smtClean="0">
                                      <a:latin typeface="Cambria Math" panose="02040503050406030204" pitchFamily="18" charset="0"/>
                                    </a:rPr>
                                    <m:t>𝑡</m:t>
                                  </m:r>
                                </m:e>
                                <m:sup>
                                  <m:r>
                                    <a:rPr lang="en-US" altLang="zh-CN" sz="1600" b="0" i="1" baseline="0" smtClean="0">
                                      <a:latin typeface="Cambria Math" panose="02040503050406030204" pitchFamily="18" charset="0"/>
                                    </a:rPr>
                                    <m:t>′</m:t>
                                  </m:r>
                                </m:sup>
                              </m:sSup>
                            </m:oMath>
                          </a14:m>
                          <a:r>
                            <a:rPr lang="en-US" altLang="zh-CN" sz="1600" b="0" dirty="0"/>
                            <a:t> crashes </a:t>
                          </a:r>
                          <a:r>
                            <a:rPr lang="en-US" altLang="zh-CN" sz="1600" b="1" dirty="0"/>
                            <a:t>then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dirty="0"/>
                            <a:t>                     add </a:t>
                          </a:r>
                          <a14:m>
                            <m:oMath xmlns:m="http://schemas.openxmlformats.org/officeDocument/2006/math">
                              <m:sSup>
                                <m:sSupPr>
                                  <m:ctrlPr>
                                    <a:rPr lang="en-US" altLang="zh-CN" sz="1600" b="0" i="1" baseline="0" smtClean="0">
                                      <a:latin typeface="Cambria Math" charset="0"/>
                                    </a:rPr>
                                  </m:ctrlPr>
                                </m:sSupPr>
                                <m:e>
                                  <m:r>
                                    <a:rPr lang="en-US" altLang="zh-CN" sz="1600" b="0" i="1" baseline="0" smtClean="0">
                                      <a:latin typeface="Cambria Math" panose="02040503050406030204" pitchFamily="18" charset="0"/>
                                    </a:rPr>
                                    <m:t>𝑡</m:t>
                                  </m:r>
                                </m:e>
                                <m:sup>
                                  <m:r>
                                    <a:rPr lang="en-US" altLang="zh-CN" sz="1600" b="0" i="1" baseline="0" smtClean="0">
                                      <a:latin typeface="Cambria Math" panose="02040503050406030204" pitchFamily="18" charset="0"/>
                                    </a:rPr>
                                    <m:t>′</m:t>
                                  </m:r>
                                </m:sup>
                              </m:sSup>
                            </m:oMath>
                          </a14:m>
                          <a:r>
                            <a:rPr lang="en-US" altLang="zh-CN" sz="1600" b="0" dirty="0"/>
                            <a:t> to </a:t>
                          </a:r>
                          <a14:m>
                            <m:oMath xmlns:m="http://schemas.openxmlformats.org/officeDocument/2006/math">
                              <m:sSub>
                                <m:sSubPr>
                                  <m:ctrlPr>
                                    <a:rPr lang="en-US" altLang="zh-CN" sz="1600" i="1" smtClean="0">
                                      <a:latin typeface="Cambria Math" charset="0"/>
                                    </a:rPr>
                                  </m:ctrlPr>
                                </m:sSubPr>
                                <m:e>
                                  <m:r>
                                    <a:rPr lang="en-US" altLang="zh-CN" sz="1600" b="0" i="1" smtClean="0">
                                      <a:latin typeface="Cambria Math" panose="02040503050406030204" pitchFamily="18" charset="0"/>
                                    </a:rPr>
                                    <m:t>𝑇</m:t>
                                  </m:r>
                                </m:e>
                                <m:sub>
                                  <m:r>
                                    <a:rPr lang="en-US" altLang="zh-CN" sz="1600" i="1" smtClean="0">
                                      <a:latin typeface="Cambria Math" panose="02040503050406030204" pitchFamily="18" charset="0"/>
                                      <a:ea typeface="Cambria Math" panose="02040503050406030204" pitchFamily="18" charset="0"/>
                                    </a:rPr>
                                    <m:t>ℵ</m:t>
                                  </m:r>
                                </m:sub>
                              </m:sSub>
                            </m:oMath>
                          </a14:m>
                          <a:endParaRPr lang="en-US" altLang="zh-CN" sz="1600" b="0" dirty="0"/>
                        </a:p>
                        <a:p>
                          <a:r>
                            <a:rPr lang="en-US" altLang="zh-CN" sz="1600" dirty="0"/>
                            <a:t>              </a:t>
                          </a:r>
                          <a:r>
                            <a:rPr lang="en-US" altLang="zh-CN" sz="1600" b="1" dirty="0"/>
                            <a:t>else if </a:t>
                          </a:r>
                          <a:r>
                            <a:rPr lang="en-US" altLang="zh-CN" sz="1600" dirty="0" err="1"/>
                            <a:t>is_interesting</a:t>
                          </a:r>
                          <a14:m>
                            <m:oMath xmlns:m="http://schemas.openxmlformats.org/officeDocument/2006/math">
                              <m:sSup>
                                <m:sSupPr>
                                  <m:ctrlPr>
                                    <a:rPr lang="en-US" altLang="zh-CN" sz="1600" b="0" i="1" baseline="0" smtClean="0">
                                      <a:latin typeface="Cambria Math" charset="0"/>
                                    </a:rPr>
                                  </m:ctrlPr>
                                </m:sSupPr>
                                <m:e>
                                  <m:r>
                                    <a:rPr lang="en-US" altLang="zh-CN" sz="1600" b="0" i="1" baseline="0" smtClean="0">
                                      <a:latin typeface="Cambria Math" panose="02040503050406030204" pitchFamily="18" charset="0"/>
                                    </a:rPr>
                                    <m:t>(</m:t>
                                  </m:r>
                                  <m:r>
                                    <a:rPr lang="en-US" altLang="zh-CN" sz="1600" b="0" i="1" baseline="0" smtClean="0">
                                      <a:latin typeface="Cambria Math" panose="02040503050406030204" pitchFamily="18" charset="0"/>
                                    </a:rPr>
                                    <m:t>𝑡</m:t>
                                  </m:r>
                                </m:e>
                                <m:sup>
                                  <m:r>
                                    <a:rPr lang="en-US" altLang="zh-CN" sz="1600" b="0" i="1" baseline="0" smtClean="0">
                                      <a:latin typeface="Cambria Math" panose="02040503050406030204" pitchFamily="18" charset="0"/>
                                    </a:rPr>
                                    <m:t>′</m:t>
                                  </m:r>
                                </m:sup>
                              </m:sSup>
                              <m:r>
                                <a:rPr lang="en-US" altLang="zh-CN" sz="1600" b="0" i="1" baseline="0" smtClean="0">
                                  <a:latin typeface="Cambria Math" panose="02040503050406030204" pitchFamily="18" charset="0"/>
                                </a:rPr>
                                <m:t>)</m:t>
                              </m:r>
                            </m:oMath>
                          </a14:m>
                          <a:r>
                            <a:rPr lang="en-US" altLang="zh-CN" sz="1600" dirty="0"/>
                            <a:t> </a:t>
                          </a:r>
                          <a:r>
                            <a:rPr lang="en-US" altLang="zh-CN" sz="1600" b="1" dirty="0"/>
                            <a:t>then</a:t>
                          </a:r>
                        </a:p>
                        <a:p>
                          <a:r>
                            <a:rPr lang="en-US" altLang="zh-CN" sz="1600" dirty="0"/>
                            <a:t>                      add </a:t>
                          </a:r>
                          <a14:m>
                            <m:oMath xmlns:m="http://schemas.openxmlformats.org/officeDocument/2006/math">
                              <m:sSup>
                                <m:sSupPr>
                                  <m:ctrlPr>
                                    <a:rPr lang="en-US" altLang="zh-CN" sz="1600" b="0" i="1" baseline="0" smtClean="0">
                                      <a:latin typeface="Cambria Math" charset="0"/>
                                    </a:rPr>
                                  </m:ctrlPr>
                                </m:sSupPr>
                                <m:e>
                                  <m:r>
                                    <a:rPr lang="en-US" altLang="zh-CN" sz="1600" b="0" i="1" baseline="0" smtClean="0">
                                      <a:latin typeface="Cambria Math" panose="02040503050406030204" pitchFamily="18" charset="0"/>
                                    </a:rPr>
                                    <m:t>𝑡</m:t>
                                  </m:r>
                                </m:e>
                                <m:sup>
                                  <m:r>
                                    <a:rPr lang="en-US" altLang="zh-CN" sz="1600" b="0" i="1" baseline="0" smtClean="0">
                                      <a:latin typeface="Cambria Math" panose="02040503050406030204" pitchFamily="18" charset="0"/>
                                    </a:rPr>
                                    <m:t>′</m:t>
                                  </m:r>
                                </m:sup>
                              </m:sSup>
                            </m:oMath>
                          </a14:m>
                          <a:r>
                            <a:rPr lang="en-US" altLang="zh-CN" sz="1600" dirty="0"/>
                            <a:t> to </a:t>
                          </a:r>
                          <a14:m>
                            <m:oMath xmlns:m="http://schemas.openxmlformats.org/officeDocument/2006/math">
                              <m:r>
                                <a:rPr lang="en-US" altLang="zh-CN" sz="1600" b="0" i="1" smtClean="0">
                                  <a:latin typeface="Cambria Math" panose="02040503050406030204" pitchFamily="18" charset="0"/>
                                </a:rPr>
                                <m:t>𝑇</m:t>
                              </m:r>
                            </m:oMath>
                          </a14:m>
                          <a:endParaRPr lang="en-US" altLang="zh-CN" sz="1600" dirty="0"/>
                        </a:p>
                        <a:p>
                          <a:r>
                            <a:rPr lang="en-US" altLang="zh-CN" sz="1600" b="1" dirty="0"/>
                            <a:t>              end if</a:t>
                          </a:r>
                        </a:p>
                        <a:p>
                          <a:r>
                            <a:rPr lang="en-US" altLang="zh-CN" sz="1600" dirty="0"/>
                            <a:t>        </a:t>
                          </a:r>
                          <a:r>
                            <a:rPr lang="en-US" altLang="zh-CN" sz="1600" b="1" dirty="0"/>
                            <a:t>end for</a:t>
                          </a:r>
                        </a:p>
                        <a:p>
                          <a:r>
                            <a:rPr lang="en-US" altLang="zh-CN" sz="1600" b="1" dirty="0"/>
                            <a:t>until</a:t>
                          </a:r>
                          <a:r>
                            <a:rPr lang="en-US" altLang="zh-CN" sz="1600" dirty="0"/>
                            <a:t> timeout reached or abort-signal</a:t>
                          </a:r>
                        </a:p>
                        <a:p>
                          <a:r>
                            <a:rPr lang="en-US" altLang="zh-CN" sz="1600" b="1" dirty="0"/>
                            <a:t>Output: </a:t>
                          </a:r>
                          <a:r>
                            <a:rPr lang="en-US" altLang="zh-CN" sz="1600" dirty="0"/>
                            <a:t>Crashing Input </a:t>
                          </a:r>
                          <a14:m>
                            <m:oMath xmlns:m="http://schemas.openxmlformats.org/officeDocument/2006/math">
                              <m:sSub>
                                <m:sSubPr>
                                  <m:ctrlPr>
                                    <a:rPr lang="en-US" altLang="zh-CN" sz="1600" i="1" smtClean="0">
                                      <a:latin typeface="Cambria Math" charset="0"/>
                                    </a:rPr>
                                  </m:ctrlPr>
                                </m:sSubPr>
                                <m:e>
                                  <m:r>
                                    <a:rPr lang="en-US" altLang="zh-CN" sz="1600" b="0" i="1" smtClean="0">
                                      <a:latin typeface="Cambria Math" panose="02040503050406030204" pitchFamily="18" charset="0"/>
                                    </a:rPr>
                                    <m:t>𝑇</m:t>
                                  </m:r>
                                </m:e>
                                <m:sub>
                                  <m:r>
                                    <a:rPr lang="en-US" altLang="zh-CN" sz="1600" i="1" smtClean="0">
                                      <a:latin typeface="Cambria Math" panose="02040503050406030204" pitchFamily="18" charset="0"/>
                                      <a:ea typeface="Cambria Math" panose="02040503050406030204" pitchFamily="18" charset="0"/>
                                    </a:rPr>
                                    <m:t>ℵ</m:t>
                                  </m:r>
                                </m:sub>
                              </m:sSub>
                            </m:oMath>
                          </a14:m>
                          <a:endParaRPr lang="zh-CN" altLang="en-US" sz="1600" dirty="0"/>
                        </a:p>
                      </a:txBody>
                      <a:tcPr/>
                    </a:tc>
                    <a:extLst>
                      <a:ext uri="{0D108BD9-81ED-4DB2-BD59-A6C34878D82A}">
                        <a16:rowId xmlns="" xmlns:a16="http://schemas.microsoft.com/office/drawing/2014/main" val="1594933903"/>
                      </a:ext>
                    </a:extLst>
                  </a:tr>
                </a:tbl>
              </a:graphicData>
            </a:graphic>
          </p:graphicFrame>
        </mc:Choice>
        <mc:Fallback xmlns="">
          <p:graphicFrame>
            <p:nvGraphicFramePr>
              <p:cNvPr id="5" name="表格 4">
                <a:extLst>
                  <a:ext uri="{FF2B5EF4-FFF2-40B4-BE49-F238E27FC236}">
                    <a16:creationId xmlns:a16="http://schemas.microsoft.com/office/drawing/2014/main" id="{341F510E-387C-0A4A-A931-1E5801E14355}"/>
                  </a:ext>
                </a:extLst>
              </p:cNvPr>
              <p:cNvGraphicFramePr>
                <a:graphicFrameLocks noGrp="1"/>
              </p:cNvGraphicFramePr>
              <p:nvPr>
                <p:extLst>
                  <p:ext uri="{D42A27DB-BD31-4B8C-83A1-F6EECF244321}">
                    <p14:modId xmlns:p14="http://schemas.microsoft.com/office/powerpoint/2010/main" val="971871160"/>
                  </p:ext>
                </p:extLst>
              </p:nvPr>
            </p:nvGraphicFramePr>
            <p:xfrm>
              <a:off x="467544" y="1484784"/>
              <a:ext cx="8136904" cy="5156448"/>
            </p:xfrm>
            <a:graphic>
              <a:graphicData uri="http://schemas.openxmlformats.org/drawingml/2006/table">
                <a:tbl>
                  <a:tblPr firstRow="1" bandRow="1">
                    <a:tableStyleId>{5C22544A-7EE6-4342-B048-85BDC9FD1C3A}</a:tableStyleId>
                  </a:tblPr>
                  <a:tblGrid>
                    <a:gridCol w="8136904">
                      <a:extLst>
                        <a:ext uri="{9D8B030D-6E8A-4147-A177-3AD203B41FA5}">
                          <a16:colId xmlns:a16="http://schemas.microsoft.com/office/drawing/2014/main" val="1587333770"/>
                        </a:ext>
                      </a:extLst>
                    </a:gridCol>
                  </a:tblGrid>
                  <a:tr h="432048">
                    <a:tc>
                      <a:txBody>
                        <a:bodyPr/>
                        <a:lstStyle/>
                        <a:p>
                          <a:r>
                            <a:rPr lang="en-US" altLang="zh-CN" dirty="0" err="1"/>
                            <a:t>Algorithm:Coverage-based</a:t>
                          </a:r>
                          <a:r>
                            <a:rPr lang="en-US" altLang="zh-CN" dirty="0"/>
                            <a:t> </a:t>
                          </a:r>
                          <a:r>
                            <a:rPr lang="en-US" altLang="zh-CN" dirty="0" err="1"/>
                            <a:t>Greybox</a:t>
                          </a:r>
                          <a:r>
                            <a:rPr lang="en-US" altLang="zh-CN" dirty="0"/>
                            <a:t> Fuzzing</a:t>
                          </a:r>
                          <a:endParaRPr lang="zh-CN" altLang="en-US" dirty="0"/>
                        </a:p>
                      </a:txBody>
                      <a:tcPr/>
                    </a:tc>
                    <a:extLst>
                      <a:ext uri="{0D108BD9-81ED-4DB2-BD59-A6C34878D82A}">
                        <a16:rowId xmlns:a16="http://schemas.microsoft.com/office/drawing/2014/main" val="4025514773"/>
                      </a:ext>
                    </a:extLst>
                  </a:tr>
                  <a:tr h="4724400">
                    <a:tc>
                      <a:txBody>
                        <a:bodyPr/>
                        <a:lstStyle/>
                        <a:p>
                          <a:endParaRPr lang="zh-CN"/>
                        </a:p>
                      </a:txBody>
                      <a:tcPr>
                        <a:blipFill>
                          <a:blip r:embed="rId3"/>
                          <a:stretch>
                            <a:fillRect l="-75" t="-9794" r="-299" b="-1546"/>
                          </a:stretch>
                        </a:blipFill>
                      </a:tcPr>
                    </a:tc>
                    <a:extLst>
                      <a:ext uri="{0D108BD9-81ED-4DB2-BD59-A6C34878D82A}">
                        <a16:rowId xmlns:a16="http://schemas.microsoft.com/office/drawing/2014/main" val="1594933903"/>
                      </a:ext>
                    </a:extLst>
                  </a:tr>
                </a:tbl>
              </a:graphicData>
            </a:graphic>
          </p:graphicFrame>
        </mc:Fallback>
      </mc:AlternateContent>
    </p:spTree>
    <p:extLst>
      <p:ext uri="{BB962C8B-B14F-4D97-AF65-F5344CB8AC3E}">
        <p14:creationId xmlns:p14="http://schemas.microsoft.com/office/powerpoint/2010/main" val="238111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AFL</a:t>
            </a:r>
            <a:r>
              <a:rPr lang="zh-CN" altLang="en-US" dirty="0">
                <a:latin typeface="隶书" panose="02010509060101010101" pitchFamily="49" charset="-122"/>
                <a:ea typeface="隶书" panose="02010509060101010101" pitchFamily="49" charset="-122"/>
              </a:rPr>
              <a:t>改进</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141288" y="584200"/>
            <a:ext cx="8679184" cy="5941144"/>
          </a:xfrm>
        </p:spPr>
        <p:txBody>
          <a:bodyPr/>
          <a:lstStyle/>
          <a:p>
            <a:pPr>
              <a:defRPr/>
            </a:pPr>
            <a:endParaRPr lang="en-US" altLang="zh-CN" dirty="0"/>
          </a:p>
          <a:p>
            <a:pPr>
              <a:defRPr/>
            </a:pPr>
            <a:endParaRPr lang="en-US" altLang="zh-CN" dirty="0"/>
          </a:p>
          <a:p>
            <a:pPr>
              <a:defRPr/>
            </a:pPr>
            <a:endParaRPr lang="en-US" altLang="zh-CN" dirty="0"/>
          </a:p>
          <a:p>
            <a:pPr>
              <a:defRPr/>
            </a:pPr>
            <a:r>
              <a:rPr lang="zh-CN" altLang="en-US" dirty="0"/>
              <a:t>优化</a:t>
            </a:r>
            <a:r>
              <a:rPr lang="en-US" altLang="zh-CN" dirty="0"/>
              <a:t>AFL</a:t>
            </a:r>
            <a:r>
              <a:rPr lang="zh-CN" altLang="en-US" dirty="0"/>
              <a:t>选择</a:t>
            </a:r>
            <a:r>
              <a:rPr lang="en-US" altLang="zh-CN" dirty="0"/>
              <a:t>seed</a:t>
            </a:r>
            <a:r>
              <a:rPr lang="zh-CN" altLang="en-US" dirty="0"/>
              <a:t>策略：</a:t>
            </a:r>
            <a:endParaRPr lang="en-US" altLang="zh-CN" dirty="0"/>
          </a:p>
          <a:p>
            <a:pPr>
              <a:defRPr/>
            </a:pPr>
            <a:endParaRPr lang="en-US" altLang="zh-CN" dirty="0"/>
          </a:p>
          <a:p>
            <a:pPr marL="457200" indent="-457200">
              <a:buFont typeface="+mj-lt"/>
              <a:buAutoNum type="arabicPeriod"/>
            </a:pPr>
            <a:r>
              <a:rPr lang="en-US" altLang="zh-CN" dirty="0"/>
              <a:t>AFLFast</a:t>
            </a:r>
            <a:r>
              <a:rPr lang="zh-CN" altLang="en-US" dirty="0"/>
              <a:t>：</a:t>
            </a:r>
            <a:r>
              <a:rPr lang="en-US" altLang="zh-CN" dirty="0"/>
              <a:t>《</a:t>
            </a:r>
            <a:r>
              <a:rPr lang="en" altLang="zh-CN" dirty="0"/>
              <a:t>Coverage-based Greybox Fuzzing as Markov Chain》-CCS’16</a:t>
            </a:r>
            <a:endParaRPr lang="en-US" altLang="zh-CN" dirty="0"/>
          </a:p>
          <a:p>
            <a:endParaRPr lang="en-US" altLang="zh-CN" dirty="0"/>
          </a:p>
          <a:p>
            <a:pPr marL="457200" indent="-457200">
              <a:buFont typeface="+mj-lt"/>
              <a:buAutoNum type="arabicPeriod" startAt="2"/>
            </a:pPr>
            <a:r>
              <a:rPr lang="en-US" altLang="zh-CN" dirty="0"/>
              <a:t>Hawkeye</a:t>
            </a:r>
            <a:r>
              <a:rPr lang="zh-CN" altLang="en-US" dirty="0"/>
              <a:t>：</a:t>
            </a:r>
            <a:r>
              <a:rPr lang="en" altLang="zh-CN" dirty="0"/>
              <a:t>《Hawkeye: Towards a Desired Directed Grey-box </a:t>
            </a:r>
            <a:r>
              <a:rPr lang="en" altLang="zh-CN" dirty="0" err="1"/>
              <a:t>Fuzzer</a:t>
            </a:r>
            <a:r>
              <a:rPr lang="en" altLang="zh-CN" dirty="0"/>
              <a:t>》-CCS’18</a:t>
            </a:r>
          </a:p>
          <a:p>
            <a:pPr marL="0" indent="0">
              <a:buNone/>
              <a:defRPr/>
            </a:pPr>
            <a:endParaRPr lang="en-US" altLang="zh-CN" dirty="0"/>
          </a:p>
          <a:p>
            <a:pPr eaLnBrk="1" hangingPunct="1">
              <a:defRPr/>
            </a:pP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7</a:t>
            </a:fld>
            <a:endParaRPr lang="zh-CN" altLang="en-US" dirty="0"/>
          </a:p>
        </p:txBody>
      </p:sp>
    </p:spTree>
    <p:extLst>
      <p:ext uri="{BB962C8B-B14F-4D97-AF65-F5344CB8AC3E}">
        <p14:creationId xmlns:p14="http://schemas.microsoft.com/office/powerpoint/2010/main" val="200632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AFL</a:t>
            </a:r>
            <a:r>
              <a:rPr lang="zh-CN" altLang="en-US" dirty="0">
                <a:solidFill>
                  <a:srgbClr val="622820"/>
                </a:solidFill>
                <a:latin typeface="隶书" panose="02010509060101010101" pitchFamily="49" charset="-122"/>
                <a:ea typeface="隶书" panose="02010509060101010101" pitchFamily="49" charset="-122"/>
              </a:rPr>
              <a:t>改进：</a:t>
            </a:r>
            <a:r>
              <a:rPr lang="en-US" altLang="zh-CN" dirty="0" err="1">
                <a:solidFill>
                  <a:srgbClr val="622820"/>
                </a:solidFill>
                <a:latin typeface="隶书" panose="02010509060101010101" pitchFamily="49" charset="-122"/>
                <a:ea typeface="隶书" panose="02010509060101010101" pitchFamily="49" charset="-122"/>
              </a:rPr>
              <a:t>AFLfast</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146883" y="584200"/>
            <a:ext cx="7886700" cy="5329237"/>
          </a:xfrm>
        </p:spPr>
        <p:txBody>
          <a:bodyPr/>
          <a:lstStyle/>
          <a:p>
            <a:pPr marL="457200" indent="-457200" eaLnBrk="1" hangingPunct="1">
              <a:buFont typeface="+mj-lt"/>
              <a:buAutoNum type="arabicPeriod"/>
              <a:defRPr/>
            </a:pPr>
            <a:endParaRPr lang="en-US" altLang="zh-CN" dirty="0"/>
          </a:p>
          <a:p>
            <a:pPr eaLnBrk="1" hangingPunct="1">
              <a:defRPr/>
            </a:pPr>
            <a:r>
              <a:rPr lang="zh-CN" altLang="en-US" dirty="0"/>
              <a:t>改进原因：</a:t>
            </a:r>
            <a:endParaRPr lang="en-US" altLang="zh-CN" dirty="0"/>
          </a:p>
          <a:p>
            <a:pPr eaLnBrk="1" hangingPunct="1">
              <a:defRPr/>
            </a:pPr>
            <a:endParaRPr lang="en-US" altLang="zh-CN" dirty="0"/>
          </a:p>
          <a:p>
            <a:pPr eaLnBrk="1" hangingPunct="1">
              <a:buFont typeface="Wingdings" pitchFamily="2" charset="2"/>
              <a:buChar char="ü"/>
              <a:defRPr/>
            </a:pPr>
            <a:r>
              <a:rPr lang="zh-CN" altLang="en-US" dirty="0"/>
              <a:t>挑战：大多数模糊操作路径相同，无效操作居多</a:t>
            </a:r>
            <a:endParaRPr lang="en-US" altLang="zh-CN" dirty="0"/>
          </a:p>
          <a:p>
            <a:pPr marL="0" indent="0" eaLnBrk="1" hangingPunct="1">
              <a:buNone/>
              <a:defRPr/>
            </a:pPr>
            <a:endParaRPr lang="en-US" altLang="zh-CN" dirty="0"/>
          </a:p>
          <a:p>
            <a:pPr eaLnBrk="1" hangingPunct="1">
              <a:buFont typeface="Wingdings" pitchFamily="2" charset="2"/>
              <a:buChar char="ü"/>
              <a:defRPr/>
            </a:pPr>
            <a:r>
              <a:rPr lang="zh-CN" altLang="en-US" dirty="0"/>
              <a:t>改进方向：</a:t>
            </a:r>
            <a:r>
              <a:rPr lang="en-US" altLang="zh-CN" dirty="0" err="1"/>
              <a:t>AFLfast</a:t>
            </a:r>
            <a:r>
              <a:rPr lang="zh-CN" altLang="en-US" dirty="0"/>
              <a:t>偏向低频路径，探索更多路径</a:t>
            </a:r>
            <a:endParaRPr lang="en-US" altLang="zh-CN" dirty="0"/>
          </a:p>
          <a:p>
            <a:pPr eaLnBrk="1" hangingPunct="1">
              <a:defRPr/>
            </a:pP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8</a:t>
            </a:fld>
            <a:endParaRPr lang="zh-CN" altLang="en-US" dirty="0"/>
          </a:p>
        </p:txBody>
      </p:sp>
      <p:sp>
        <p:nvSpPr>
          <p:cNvPr id="8" name="文本框 7">
            <a:extLst>
              <a:ext uri="{FF2B5EF4-FFF2-40B4-BE49-F238E27FC236}">
                <a16:creationId xmlns="" xmlns:a16="http://schemas.microsoft.com/office/drawing/2014/main" id="{F6A2FB7E-5626-2B4F-ADAA-2753734E2484}"/>
              </a:ext>
            </a:extLst>
          </p:cNvPr>
          <p:cNvSpPr txBox="1"/>
          <p:nvPr/>
        </p:nvSpPr>
        <p:spPr>
          <a:xfrm>
            <a:off x="708760" y="3429000"/>
            <a:ext cx="3357645" cy="2031325"/>
          </a:xfrm>
          <a:prstGeom prst="rect">
            <a:avLst/>
          </a:prstGeom>
          <a:noFill/>
        </p:spPr>
        <p:txBody>
          <a:bodyPr wrap="square" rtlCol="0">
            <a:spAutoFit/>
          </a:bodyPr>
          <a:lstStyle/>
          <a:p>
            <a:r>
              <a:rPr kumimoji="1" lang="en-US" altLang="zh-CN" dirty="0">
                <a:latin typeface="Times New Roman" panose="02020603050405020304" pitchFamily="18" charset="0"/>
                <a:cs typeface="Times New Roman" panose="02020603050405020304" pitchFamily="18" charset="0"/>
              </a:rPr>
              <a:t>void</a:t>
            </a:r>
            <a:r>
              <a:rPr kumimoji="1" lang="zh-CN" altLang="en-US" dirty="0">
                <a:latin typeface="Times New Roman" panose="02020603050405020304" pitchFamily="18" charset="0"/>
                <a:cs typeface="Times New Roman" panose="02020603050405020304" pitchFamily="18" charset="0"/>
              </a:rPr>
              <a:t> </a:t>
            </a:r>
            <a:r>
              <a:rPr kumimoji="1" lang="en-US" altLang="zh-CN" dirty="0" err="1">
                <a:latin typeface="Times New Roman" panose="02020603050405020304" pitchFamily="18" charset="0"/>
                <a:cs typeface="Times New Roman" panose="02020603050405020304" pitchFamily="18" charset="0"/>
              </a:rPr>
              <a:t>crashme</a:t>
            </a:r>
            <a:r>
              <a:rPr kumimoji="1" lang="en-US" altLang="zh-CN" dirty="0">
                <a:latin typeface="Times New Roman" panose="02020603050405020304" pitchFamily="18" charset="0"/>
                <a:cs typeface="Times New Roman" panose="02020603050405020304" pitchFamily="18" charset="0"/>
              </a:rPr>
              <a:t> (char * s){</a:t>
            </a:r>
          </a:p>
          <a:p>
            <a:r>
              <a:rPr kumimoji="1" lang="en-US" altLang="zh-CN" dirty="0">
                <a:latin typeface="Times New Roman" panose="02020603050405020304" pitchFamily="18" charset="0"/>
                <a:cs typeface="Times New Roman" panose="02020603050405020304" pitchFamily="18" charset="0"/>
              </a:rPr>
              <a:t>         if (s[0] == ‘b’)</a:t>
            </a:r>
          </a:p>
          <a:p>
            <a:r>
              <a:rPr kumimoji="1" lang="en-US" altLang="zh-CN" dirty="0">
                <a:latin typeface="Times New Roman" panose="02020603050405020304" pitchFamily="18" charset="0"/>
                <a:cs typeface="Times New Roman" panose="02020603050405020304" pitchFamily="18" charset="0"/>
              </a:rPr>
              <a:t>             if (s[1] == ‘a’)</a:t>
            </a:r>
          </a:p>
          <a:p>
            <a:r>
              <a:rPr kumimoji="1" lang="en-US" altLang="zh-CN" dirty="0">
                <a:latin typeface="Times New Roman" panose="02020603050405020304" pitchFamily="18" charset="0"/>
                <a:cs typeface="Times New Roman" panose="02020603050405020304" pitchFamily="18" charset="0"/>
              </a:rPr>
              <a:t>	 if (s[2] == ‘d’)</a:t>
            </a:r>
          </a:p>
          <a:p>
            <a:r>
              <a:rPr kumimoji="1" lang="en-US" altLang="zh-CN" dirty="0">
                <a:latin typeface="Times New Roman" panose="02020603050405020304" pitchFamily="18" charset="0"/>
                <a:cs typeface="Times New Roman" panose="02020603050405020304" pitchFamily="18" charset="0"/>
              </a:rPr>
              <a:t>                     if (s[3] == ‘!’)</a:t>
            </a:r>
          </a:p>
          <a:p>
            <a:r>
              <a:rPr kumimoji="1" lang="en-US" altLang="zh-CN" dirty="0">
                <a:latin typeface="Times New Roman" panose="02020603050405020304" pitchFamily="18" charset="0"/>
                <a:cs typeface="Times New Roman" panose="02020603050405020304" pitchFamily="18" charset="0"/>
              </a:rPr>
              <a:t>                          abort();</a:t>
            </a:r>
          </a:p>
          <a:p>
            <a:r>
              <a:rPr kumimoji="1" lang="en-US" altLang="zh-CN" dirty="0">
                <a:latin typeface="Times New Roman" panose="02020603050405020304" pitchFamily="18" charset="0"/>
                <a:cs typeface="Times New Roman" panose="02020603050405020304" pitchFamily="18" charset="0"/>
              </a:rPr>
              <a:t>}</a:t>
            </a:r>
            <a:endParaRPr kumimoji="1" lang="zh-CN" altLang="en-US" dirty="0">
              <a:latin typeface="Times New Roman" panose="02020603050405020304" pitchFamily="18" charset="0"/>
              <a:cs typeface="Times New Roman" panose="02020603050405020304" pitchFamily="18" charset="0"/>
            </a:endParaRPr>
          </a:p>
        </p:txBody>
      </p:sp>
      <p:grpSp>
        <p:nvGrpSpPr>
          <p:cNvPr id="2" name="组 1"/>
          <p:cNvGrpSpPr/>
          <p:nvPr/>
        </p:nvGrpSpPr>
        <p:grpSpPr>
          <a:xfrm>
            <a:off x="4093785" y="3429000"/>
            <a:ext cx="3961583" cy="2936232"/>
            <a:chOff x="4093785" y="3429000"/>
            <a:chExt cx="3961583" cy="2936232"/>
          </a:xfrm>
        </p:grpSpPr>
        <p:pic>
          <p:nvPicPr>
            <p:cNvPr id="3" name="图片 2">
              <a:extLst>
                <a:ext uri="{FF2B5EF4-FFF2-40B4-BE49-F238E27FC236}">
                  <a16:creationId xmlns="" xmlns:a16="http://schemas.microsoft.com/office/drawing/2014/main" id="{901884BC-F4A8-F942-9C07-CF70F5F953E7}"/>
                </a:ext>
              </a:extLst>
            </p:cNvPr>
            <p:cNvPicPr>
              <a:picLocks noChangeAspect="1"/>
            </p:cNvPicPr>
            <p:nvPr/>
          </p:nvPicPr>
          <p:blipFill>
            <a:blip r:embed="rId3"/>
            <a:stretch>
              <a:fillRect/>
            </a:stretch>
          </p:blipFill>
          <p:spPr>
            <a:xfrm>
              <a:off x="4093785" y="3429000"/>
              <a:ext cx="3961583" cy="2936232"/>
            </a:xfrm>
            <a:prstGeom prst="rect">
              <a:avLst/>
            </a:prstGeom>
          </p:spPr>
        </p:pic>
        <p:cxnSp>
          <p:nvCxnSpPr>
            <p:cNvPr id="5" name="直接箭头连接符 4">
              <a:extLst>
                <a:ext uri="{FF2B5EF4-FFF2-40B4-BE49-F238E27FC236}">
                  <a16:creationId xmlns="" xmlns:a16="http://schemas.microsoft.com/office/drawing/2014/main" id="{EBD93AB6-4609-493E-82E7-CF0CAD375E6A}"/>
                </a:ext>
              </a:extLst>
            </p:cNvPr>
            <p:cNvCxnSpPr/>
            <p:nvPr/>
          </p:nvCxnSpPr>
          <p:spPr>
            <a:xfrm>
              <a:off x="4932040" y="3789040"/>
              <a:ext cx="2520280"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18660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latin typeface="隶书" panose="02010509060101010101" pitchFamily="49" charset="-122"/>
                <a:ea typeface="隶书" panose="02010509060101010101" pitchFamily="49" charset="-122"/>
              </a:rPr>
              <a:t>AFL</a:t>
            </a:r>
            <a:r>
              <a:rPr lang="zh-CN" altLang="en-US" dirty="0">
                <a:latin typeface="隶书" panose="02010509060101010101" pitchFamily="49" charset="-122"/>
                <a:ea typeface="隶书" panose="02010509060101010101" pitchFamily="49" charset="-122"/>
              </a:rPr>
              <a:t>改进：</a:t>
            </a:r>
            <a:r>
              <a:rPr lang="en-US" altLang="zh-CN" dirty="0" err="1">
                <a:latin typeface="隶书" panose="02010509060101010101" pitchFamily="49" charset="-122"/>
                <a:ea typeface="隶书" panose="02010509060101010101" pitchFamily="49" charset="-122"/>
              </a:rPr>
              <a:t>AFLfast</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16746" y="692696"/>
            <a:ext cx="7886700" cy="5329237"/>
          </a:xfrm>
        </p:spPr>
        <p:txBody>
          <a:bodyPr/>
          <a:lstStyle/>
          <a:p>
            <a:pPr marL="0" indent="0" eaLnBrk="1" hangingPunct="1">
              <a:buNone/>
              <a:defRPr/>
            </a:pPr>
            <a:endParaRPr lang="en-US" altLang="zh-CN" dirty="0"/>
          </a:p>
          <a:p>
            <a:pPr eaLnBrk="1" hangingPunct="1">
              <a:defRPr/>
            </a:pPr>
            <a:r>
              <a:rPr lang="en-US" altLang="zh-CN" dirty="0" err="1"/>
              <a:t>AFLfast</a:t>
            </a:r>
            <a:r>
              <a:rPr lang="zh-CN" altLang="en-US" dirty="0"/>
              <a:t>改进方法：</a:t>
            </a:r>
            <a:endParaRPr lang="en-US" altLang="zh-CN" dirty="0"/>
          </a:p>
          <a:p>
            <a:pPr eaLnBrk="1" hangingPunct="1">
              <a:defRPr/>
            </a:pPr>
            <a:endParaRPr lang="en-US" altLang="zh-CN" dirty="0"/>
          </a:p>
          <a:p>
            <a:pPr marL="0" indent="0" eaLnBrk="1" hangingPunct="1">
              <a:buNone/>
              <a:defRPr/>
            </a:pPr>
            <a:endParaRPr lang="en-US" altLang="zh-CN" dirty="0"/>
          </a:p>
          <a:p>
            <a:pPr eaLnBrk="1" hangingPunct="1">
              <a:buFont typeface="Wingdings" pitchFamily="2" charset="2"/>
              <a:buChar char="ü"/>
              <a:defRPr/>
            </a:pPr>
            <a:r>
              <a:rPr lang="en-US" altLang="zh-CN" dirty="0" err="1"/>
              <a:t>AFLfast</a:t>
            </a:r>
            <a:r>
              <a:rPr lang="zh-CN" altLang="en-US" dirty="0"/>
              <a:t>修改</a:t>
            </a:r>
            <a:r>
              <a:rPr lang="en-US" altLang="zh-CN" dirty="0"/>
              <a:t>seed</a:t>
            </a:r>
            <a:r>
              <a:rPr lang="zh-CN" altLang="en-US" dirty="0"/>
              <a:t>输入的选择策略</a:t>
            </a:r>
            <a:r>
              <a:rPr lang="en-US" altLang="zh-CN" dirty="0"/>
              <a:t>(</a:t>
            </a:r>
            <a:r>
              <a:rPr lang="en-US" altLang="zh-CN" dirty="0" err="1"/>
              <a:t>update_bitmap_score</a:t>
            </a:r>
            <a:r>
              <a:rPr lang="en-US" altLang="zh-CN" dirty="0"/>
              <a:t>)</a:t>
            </a:r>
          </a:p>
          <a:p>
            <a:pPr marL="457200" indent="-457200">
              <a:buFont typeface="+mj-lt"/>
              <a:buAutoNum type="arabicPeriod"/>
              <a:defRPr/>
            </a:pPr>
            <a:endParaRPr lang="en-US" altLang="zh-CN" sz="1800" b="0" dirty="0"/>
          </a:p>
          <a:p>
            <a:pPr marL="457200" indent="-457200">
              <a:buFont typeface="+mj-lt"/>
              <a:buAutoNum type="arabicPeriod"/>
              <a:defRPr/>
            </a:pPr>
            <a:endParaRPr lang="en-US" altLang="zh-CN" sz="1800" b="0" dirty="0"/>
          </a:p>
          <a:p>
            <a:pPr marL="457200" indent="-457200">
              <a:buFont typeface="+mj-lt"/>
              <a:buAutoNum type="arabicPeriod"/>
              <a:defRPr/>
            </a:pPr>
            <a:endParaRPr lang="en-US" altLang="zh-CN" sz="1800" b="0" dirty="0"/>
          </a:p>
          <a:p>
            <a:pPr eaLnBrk="1" hangingPunct="1">
              <a:buFont typeface="Wingdings" pitchFamily="2" charset="2"/>
              <a:buChar char="ü"/>
              <a:defRPr/>
            </a:pPr>
            <a:r>
              <a:rPr lang="en-US" altLang="zh-CN" dirty="0" err="1"/>
              <a:t>AFLfast</a:t>
            </a:r>
            <a:r>
              <a:rPr lang="zh-CN" altLang="en-US" dirty="0"/>
              <a:t>修改每个种子</a:t>
            </a:r>
            <a:r>
              <a:rPr lang="en-US" altLang="zh-CN" dirty="0"/>
              <a:t>fuzz</a:t>
            </a:r>
            <a:r>
              <a:rPr lang="zh-CN" altLang="en-US" dirty="0"/>
              <a:t>次数的计算方法</a:t>
            </a:r>
            <a:r>
              <a:rPr lang="en-US" altLang="zh-CN" dirty="0"/>
              <a:t>(</a:t>
            </a:r>
            <a:r>
              <a:rPr lang="en-US" altLang="zh-CN" dirty="0" err="1"/>
              <a:t>calculate_score</a:t>
            </a:r>
            <a:r>
              <a:rPr lang="en-US" altLang="zh-CN" dirty="0"/>
              <a:t>)</a:t>
            </a:r>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9</a:t>
            </a:fld>
            <a:endParaRPr lang="zh-CN" altLang="en-US" dirty="0"/>
          </a:p>
        </p:txBody>
      </p:sp>
    </p:spTree>
    <p:extLst>
      <p:ext uri="{BB962C8B-B14F-4D97-AF65-F5344CB8AC3E}">
        <p14:creationId xmlns:p14="http://schemas.microsoft.com/office/powerpoint/2010/main" val="102091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err="1">
                <a:solidFill>
                  <a:srgbClr val="622820"/>
                </a:solidFill>
                <a:latin typeface="隶书" panose="02010509060101010101" pitchFamily="49" charset="-122"/>
                <a:ea typeface="隶书" panose="02010509060101010101" pitchFamily="49" charset="-122"/>
              </a:rPr>
              <a:t>AFLfast</a:t>
            </a:r>
            <a:r>
              <a:rPr lang="zh-CN" altLang="en-US" dirty="0">
                <a:solidFill>
                  <a:srgbClr val="622820"/>
                </a:solidFill>
                <a:latin typeface="隶书" panose="02010509060101010101" pitchFamily="49" charset="-122"/>
                <a:ea typeface="隶书" panose="02010509060101010101" pitchFamily="49" charset="-122"/>
              </a:rPr>
              <a:t>：选择策略</a:t>
            </a:r>
            <a:endParaRPr lang="zh-CN" dirty="0">
              <a:solidFill>
                <a:srgbClr val="622820"/>
              </a:solidFill>
              <a:latin typeface="隶书" panose="02010509060101010101" pitchFamily="49" charset="-122"/>
              <a:ea typeface="隶书" panose="02010509060101010101" pitchFamily="49" charset="-122"/>
            </a:endParaRPr>
          </a:p>
        </p:txBody>
      </p:sp>
      <mc:AlternateContent xmlns:mc="http://schemas.openxmlformats.org/markup-compatibility/2006" xmlns:a14="http://schemas.microsoft.com/office/drawing/2010/main">
        <mc:Choice Requires="a14">
          <p:sp>
            <p:nvSpPr>
              <p:cNvPr id="43012" name="内容占位符 4"/>
              <p:cNvSpPr>
                <a:spLocks noGrp="1"/>
              </p:cNvSpPr>
              <p:nvPr>
                <p:ph idx="4294967295"/>
              </p:nvPr>
            </p:nvSpPr>
            <p:spPr>
              <a:xfrm>
                <a:off x="0" y="1052513"/>
                <a:ext cx="7886700" cy="5329237"/>
              </a:xfrm>
            </p:spPr>
            <p:txBody>
              <a:bodyPr/>
              <a:lstStyle/>
              <a:p>
                <a:pPr marL="457200" indent="-457200">
                  <a:buFont typeface="+mj-lt"/>
                  <a:buAutoNum type="arabicPeriod"/>
                  <a:defRPr/>
                </a:pPr>
                <a:endParaRPr lang="en-US" altLang="zh-CN" b="0" dirty="0"/>
              </a:p>
              <a:p>
                <a:pPr marL="457200" indent="-457200">
                  <a:buFont typeface="+mj-lt"/>
                  <a:buAutoNum type="arabicPeriod"/>
                  <a:defRPr/>
                </a:pPr>
                <a:endParaRPr lang="en-US" altLang="zh-CN" b="0" dirty="0"/>
              </a:p>
              <a:p>
                <a:pPr marL="457200" indent="-457200">
                  <a:buFont typeface="+mj-lt"/>
                  <a:buAutoNum type="arabicPeriod"/>
                  <a:defRPr/>
                </a:pPr>
                <a:endParaRPr lang="en-US" altLang="zh-CN" b="0" dirty="0"/>
              </a:p>
              <a:p>
                <a:pPr marL="457200" indent="-457200">
                  <a:buFont typeface="+mj-lt"/>
                  <a:buAutoNum type="arabicPeriod"/>
                  <a:defRPr/>
                </a:pPr>
                <a:r>
                  <a:rPr lang="zh-CN" altLang="en-US" b="0" dirty="0"/>
                  <a:t>种子</a:t>
                </a:r>
                <a14:m>
                  <m:oMath xmlns:m="http://schemas.openxmlformats.org/officeDocument/2006/math">
                    <m:sSub>
                      <m:sSubPr>
                        <m:ctrlPr>
                          <a:rPr lang="en-US" altLang="zh-CN" b="0" i="1">
                            <a:latin typeface="Cambria Math" charset="0"/>
                          </a:rPr>
                        </m:ctrlPr>
                      </m:sSubPr>
                      <m:e>
                        <m:r>
                          <a:rPr lang="en-US" altLang="zh-CN" b="0" i="1">
                            <a:latin typeface="Cambria Math" panose="02040503050406030204" pitchFamily="18" charset="0"/>
                          </a:rPr>
                          <m:t>𝑡</m:t>
                        </m:r>
                      </m:e>
                      <m:sub>
                        <m:r>
                          <a:rPr lang="en-US" altLang="zh-CN" b="0" i="1">
                            <a:latin typeface="Cambria Math" panose="02040503050406030204" pitchFamily="18" charset="0"/>
                          </a:rPr>
                          <m:t>𝑖</m:t>
                        </m:r>
                      </m:sub>
                    </m:sSub>
                  </m:oMath>
                </a14:m>
                <a:r>
                  <a:rPr lang="zh-CN" altLang="en-US" b="0" dirty="0"/>
                  <a:t>之前从队列中选择的次数小的优先级高</a:t>
                </a:r>
                <a:endParaRPr lang="en-US" altLang="zh-CN" b="0" dirty="0"/>
              </a:p>
              <a:p>
                <a:pPr marL="457200" indent="-457200">
                  <a:buFont typeface="+mj-lt"/>
                  <a:buAutoNum type="arabicPeriod"/>
                  <a:defRPr/>
                </a:pPr>
                <a:endParaRPr lang="en-US" altLang="zh-CN" b="0" dirty="0"/>
              </a:p>
              <a:p>
                <a:pPr marL="457200" indent="-457200">
                  <a:buFont typeface="+mj-lt"/>
                  <a:buAutoNum type="arabicPeriod"/>
                  <a:defRPr/>
                </a:pPr>
                <a:endParaRPr lang="en-US" altLang="zh-CN" b="0" dirty="0"/>
              </a:p>
              <a:p>
                <a:pPr marL="457200" indent="-457200">
                  <a:buFont typeface="+mj-lt"/>
                  <a:buAutoNum type="arabicPeriod"/>
                  <a:defRPr/>
                </a:pPr>
                <a:r>
                  <a:rPr lang="zh-CN" altLang="en-US" b="0" dirty="0"/>
                  <a:t>执行路径</a:t>
                </a:r>
                <a:r>
                  <a:rPr lang="en-US" altLang="zh-CN" b="0" dirty="0" err="1"/>
                  <a:t>i</a:t>
                </a:r>
                <a:r>
                  <a:rPr lang="zh-CN" altLang="en-US" b="0" dirty="0"/>
                  <a:t>生存输入能量小的优先级高</a:t>
                </a:r>
                <a:endParaRPr lang="en-US" altLang="zh-CN" b="0" dirty="0"/>
              </a:p>
              <a:p>
                <a:pPr marL="0" indent="0" eaLnBrk="1" hangingPunct="1">
                  <a:buNone/>
                  <a:defRPr/>
                </a:pPr>
                <a:endParaRPr lang="en-US" altLang="zh-CN" dirty="0"/>
              </a:p>
              <a:p>
                <a:pPr eaLnBrk="1" hangingPunct="1">
                  <a:defRPr/>
                </a:pPr>
                <a:endParaRPr lang="en-US" altLang="zh-CN" dirty="0"/>
              </a:p>
              <a:p>
                <a:pPr eaLnBrk="1" hangingPunct="1">
                  <a:defRPr/>
                </a:pPr>
                <a:endParaRPr altLang="zh-CN" dirty="0"/>
              </a:p>
            </p:txBody>
          </p:sp>
        </mc:Choice>
        <mc:Fallback xmlns="">
          <p:sp>
            <p:nvSpPr>
              <p:cNvPr id="43012" name="内容占位符 4"/>
              <p:cNvSpPr>
                <a:spLocks noGrp="1" noRot="1" noChangeAspect="1" noMove="1" noResize="1" noEditPoints="1" noAdjustHandles="1" noChangeArrowheads="1" noChangeShapeType="1" noTextEdit="1"/>
              </p:cNvSpPr>
              <p:nvPr>
                <p:ph idx="4294967295"/>
              </p:nvPr>
            </p:nvSpPr>
            <p:spPr>
              <a:xfrm>
                <a:off x="0" y="1052513"/>
                <a:ext cx="7886700" cy="5329237"/>
              </a:xfrm>
              <a:blipFill>
                <a:blip r:embed="rId3"/>
                <a:stretch>
                  <a:fillRect l="-966"/>
                </a:stretch>
              </a:blipFill>
            </p:spPr>
            <p:txBody>
              <a:bodyPr/>
              <a:lstStyle/>
              <a:p>
                <a:r>
                  <a:rPr lang="zh-CN" altLang="en-US">
                    <a:noFill/>
                  </a:rPr>
                  <a:t> </a:t>
                </a:r>
              </a:p>
            </p:txBody>
          </p:sp>
        </mc:Fallback>
      </mc:AlternateContent>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10</a:t>
            </a:fld>
            <a:endParaRPr lang="zh-CN" altLang="en-US" dirty="0"/>
          </a:p>
        </p:txBody>
      </p:sp>
    </p:spTree>
    <p:extLst>
      <p:ext uri="{BB962C8B-B14F-4D97-AF65-F5344CB8AC3E}">
        <p14:creationId xmlns:p14="http://schemas.microsoft.com/office/powerpoint/2010/main" val="127304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err="1">
                <a:solidFill>
                  <a:srgbClr val="622820"/>
                </a:solidFill>
                <a:latin typeface="隶书" panose="02010509060101010101" pitchFamily="49" charset="-122"/>
                <a:ea typeface="隶书" panose="02010509060101010101" pitchFamily="49" charset="-122"/>
              </a:rPr>
              <a:t>AFLfast</a:t>
            </a:r>
            <a:r>
              <a:rPr lang="zh-CN" altLang="en-US" dirty="0">
                <a:solidFill>
                  <a:srgbClr val="622820"/>
                </a:solidFill>
                <a:latin typeface="隶书" panose="02010509060101010101" pitchFamily="49" charset="-122"/>
                <a:ea typeface="隶书" panose="02010509060101010101" pitchFamily="49" charset="-122"/>
              </a:rPr>
              <a:t>：</a:t>
            </a:r>
            <a:r>
              <a:rPr lang="zh-CN" altLang="en-US" dirty="0">
                <a:latin typeface="隶书" panose="02010509060101010101" pitchFamily="49" charset="-122"/>
                <a:ea typeface="隶书" panose="02010509060101010101" pitchFamily="49" charset="-122"/>
              </a:rPr>
              <a:t>能量分配</a:t>
            </a:r>
            <a:r>
              <a:rPr lang="zh-CN" altLang="en-US" dirty="0">
                <a:solidFill>
                  <a:srgbClr val="622820"/>
                </a:solidFill>
                <a:latin typeface="隶书" panose="02010509060101010101" pitchFamily="49" charset="-122"/>
                <a:ea typeface="隶书" panose="02010509060101010101" pitchFamily="49" charset="-122"/>
              </a:rPr>
              <a:t>策略</a:t>
            </a:r>
            <a:endParaRPr lang="zh-CN" dirty="0">
              <a:solidFill>
                <a:srgbClr val="622820"/>
              </a:solidFill>
              <a:latin typeface="隶书" panose="02010509060101010101" pitchFamily="49" charset="-122"/>
              <a:ea typeface="隶书" panose="02010509060101010101" pitchFamily="49" charset="-122"/>
            </a:endParaRPr>
          </a:p>
        </p:txBody>
      </p:sp>
      <mc:AlternateContent xmlns:mc="http://schemas.openxmlformats.org/markup-compatibility/2006" xmlns:a14="http://schemas.microsoft.com/office/drawing/2010/main">
        <mc:Choice Requires="a14">
          <p:sp>
            <p:nvSpPr>
              <p:cNvPr id="43012" name="内容占位符 4"/>
              <p:cNvSpPr>
                <a:spLocks noGrp="1"/>
              </p:cNvSpPr>
              <p:nvPr>
                <p:ph idx="4294967295"/>
              </p:nvPr>
            </p:nvSpPr>
            <p:spPr>
              <a:xfrm>
                <a:off x="0" y="1052513"/>
                <a:ext cx="7886700" cy="5329237"/>
              </a:xfrm>
            </p:spPr>
            <p:txBody>
              <a:bodyPr/>
              <a:lstStyle/>
              <a:p>
                <a:pPr marL="0" indent="0" eaLnBrk="1" hangingPunct="1">
                  <a:buNone/>
                  <a:defRPr/>
                </a:pPr>
                <a:r>
                  <a:rPr lang="en-US" altLang="zh-CN" dirty="0"/>
                  <a:t>AFLfast</a:t>
                </a:r>
                <a:r>
                  <a:rPr lang="zh-CN" altLang="en-US" dirty="0"/>
                  <a:t>将</a:t>
                </a:r>
                <a:r>
                  <a:rPr lang="en-US" altLang="zh-CN" dirty="0"/>
                  <a:t>GCF</a:t>
                </a:r>
                <a:r>
                  <a:rPr lang="zh-CN" altLang="en-US" dirty="0"/>
                  <a:t>视为马尔科夫链：</a:t>
                </a:r>
                <a:endParaRPr lang="en-US" altLang="zh-CN" dirty="0"/>
              </a:p>
              <a:p>
                <a:pPr>
                  <a:defRPr/>
                </a:pPr>
                <a:r>
                  <a:rPr lang="zh-CN" altLang="en-US" b="0" dirty="0"/>
                  <a:t>假设当前种子输入执行路径为</a:t>
                </a:r>
                <a:r>
                  <a:rPr lang="en-US" altLang="zh-CN" b="0" dirty="0" err="1"/>
                  <a:t>i</a:t>
                </a:r>
                <a:r>
                  <a:rPr lang="zh-CN" altLang="en-US" b="0" dirty="0"/>
                  <a:t>，</a:t>
                </a:r>
                <a:r>
                  <a:rPr lang="en-US" altLang="zh-CN" b="0" dirty="0"/>
                  <a:t>fuzz</a:t>
                </a:r>
                <a:r>
                  <a:rPr lang="zh-CN" altLang="en-US" b="0" dirty="0"/>
                  <a:t>之后的路径为</a:t>
                </a:r>
                <a:r>
                  <a:rPr lang="en-US" altLang="zh-CN" b="0" dirty="0"/>
                  <a:t>j</a:t>
                </a:r>
                <a:r>
                  <a:rPr lang="zh-CN" altLang="en-US" b="0" dirty="0"/>
                  <a:t>的概率为</a:t>
                </a:r>
                <a14:m>
                  <m:oMath xmlns:m="http://schemas.openxmlformats.org/officeDocument/2006/math">
                    <m:sSub>
                      <m:sSubPr>
                        <m:ctrlPr>
                          <a:rPr lang="en-US" altLang="zh-CN" b="0" i="1" smtClean="0">
                            <a:latin typeface="Cambria Math"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𝑖𝑗</m:t>
                        </m:r>
                      </m:sub>
                    </m:sSub>
                  </m:oMath>
                </a14:m>
                <a:r>
                  <a:rPr lang="en-US" altLang="zh-CN" b="0" dirty="0"/>
                  <a:t>,</a:t>
                </a:r>
                <a:r>
                  <a:rPr lang="zh-CN" altLang="en-US" b="0" dirty="0"/>
                  <a:t>则称路径</a:t>
                </a:r>
                <a:r>
                  <a:rPr lang="en-US" altLang="zh-CN" b="0" dirty="0" err="1"/>
                  <a:t>i</a:t>
                </a:r>
                <a:r>
                  <a:rPr lang="zh-CN" altLang="en-US" b="0" dirty="0"/>
                  <a:t>到路径</a:t>
                </a:r>
                <a:r>
                  <a:rPr lang="en-US" altLang="zh-CN" b="0" dirty="0"/>
                  <a:t>j</a:t>
                </a:r>
                <a:r>
                  <a:rPr lang="zh-CN" altLang="en-US" b="0" dirty="0"/>
                  <a:t>所要生成的测试用例个数为该种子输入能量</a:t>
                </a:r>
                <a14:m>
                  <m:oMath xmlns:m="http://schemas.openxmlformats.org/officeDocument/2006/math">
                    <m:sSub>
                      <m:sSubPr>
                        <m:ctrlPr>
                          <a:rPr lang="en-US" altLang="zh-CN" b="0" i="1" smtClean="0">
                            <a:latin typeface="Cambria Math" charset="0"/>
                          </a:rPr>
                        </m:ctrlPr>
                      </m:sSubPr>
                      <m:e>
                        <m:r>
                          <a:rPr lang="en-US" altLang="zh-CN" b="0" i="1" smtClean="0">
                            <a:latin typeface="Cambria Math" panose="02040503050406030204" pitchFamily="18" charset="0"/>
                          </a:rPr>
                          <m:t>𝐸</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f>
                      <m:fPr>
                        <m:ctrlPr>
                          <a:rPr lang="en-US" altLang="zh-CN" b="0" i="1" smtClean="0">
                            <a:latin typeface="Cambria Math" charset="0"/>
                          </a:rPr>
                        </m:ctrlPr>
                      </m:fPr>
                      <m:num>
                        <m:r>
                          <a:rPr lang="en-US" altLang="zh-CN" b="0" i="1" smtClean="0">
                            <a:latin typeface="Cambria Math" panose="02040503050406030204" pitchFamily="18" charset="0"/>
                          </a:rPr>
                          <m:t>1</m:t>
                        </m:r>
                      </m:num>
                      <m:den>
                        <m:sSub>
                          <m:sSubPr>
                            <m:ctrlPr>
                              <a:rPr lang="en-US" altLang="zh-CN" b="0" i="1" smtClean="0">
                                <a:latin typeface="Cambria Math"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𝑖𝑗</m:t>
                            </m:r>
                          </m:sub>
                        </m:sSub>
                      </m:den>
                    </m:f>
                  </m:oMath>
                </a14:m>
                <a:endParaRPr lang="en-US" altLang="zh-CN" b="0" dirty="0"/>
              </a:p>
              <a:p>
                <a:pPr>
                  <a:defRPr/>
                </a:pPr>
                <a:r>
                  <a:rPr lang="zh-CN" altLang="en-US" b="0" dirty="0"/>
                  <a:t>由于</a:t>
                </a:r>
                <a14:m>
                  <m:oMath xmlns:m="http://schemas.openxmlformats.org/officeDocument/2006/math">
                    <m:sSub>
                      <m:sSubPr>
                        <m:ctrlPr>
                          <a:rPr lang="en-US" altLang="zh-CN" b="0" i="1">
                            <a:latin typeface="Cambria Math" charset="0"/>
                          </a:rPr>
                        </m:ctrlPr>
                      </m:sSubPr>
                      <m:e>
                        <m:r>
                          <a:rPr lang="en-US" altLang="zh-CN" b="0" i="1" smtClean="0">
                            <a:latin typeface="Cambria Math" panose="02040503050406030204" pitchFamily="18" charset="0"/>
                          </a:rPr>
                          <m:t>𝑃</m:t>
                        </m:r>
                      </m:e>
                      <m:sub>
                        <m:r>
                          <a:rPr lang="en-US" altLang="zh-CN" b="0" i="1">
                            <a:latin typeface="Cambria Math" panose="02040503050406030204" pitchFamily="18" charset="0"/>
                          </a:rPr>
                          <m:t>𝑖𝑗</m:t>
                        </m:r>
                      </m:sub>
                    </m:sSub>
                  </m:oMath>
                </a14:m>
                <a:r>
                  <a:rPr lang="zh-CN" altLang="en-US" b="0" dirty="0"/>
                  <a:t>通常是未知的，因此对于能量的分配是经验性的。</a:t>
                </a:r>
                <a:r>
                  <a:rPr lang="en-US" altLang="zh-CN" b="0" dirty="0"/>
                  <a:t>AFL</a:t>
                </a:r>
                <a:r>
                  <a:rPr lang="zh-CN" altLang="en-US" b="0" dirty="0"/>
                  <a:t>采用的是一个常数，</a:t>
                </a:r>
                <a:r>
                  <a:rPr lang="en-US" altLang="zh-CN" b="0" dirty="0" err="1"/>
                  <a:t>AFLfast</a:t>
                </a:r>
                <a:r>
                  <a:rPr lang="zh-CN" altLang="en-US" b="0" dirty="0"/>
                  <a:t>采用了多种新的分配策略。</a:t>
                </a:r>
                <a:endParaRPr lang="en-US" altLang="zh-CN" b="0" dirty="0"/>
              </a:p>
              <a:p>
                <a:pPr marL="0" indent="0" algn="ctr">
                  <a:buNone/>
                  <a:defRPr/>
                </a:pPr>
                <a:r>
                  <a:rPr lang="zh-CN" altLang="en-US" b="0" dirty="0"/>
                  <a:t>            </a:t>
                </a:r>
                <a14:m>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  </m:t>
                    </m:r>
                    <m:r>
                      <m:rPr>
                        <m:nor/>
                      </m:rPr>
                      <a:rPr lang="en-US" altLang="zh-CN" b="0" i="0" dirty="0" smtClean="0"/>
                      <m:t>= </m:t>
                    </m:r>
                    <m:r>
                      <a:rPr lang="en-US" altLang="zh-CN" b="0" i="1" dirty="0" smtClean="0">
                        <a:latin typeface="Cambria Math" panose="02040503050406030204" pitchFamily="18" charset="0"/>
                      </a:rPr>
                      <m:t>𝐸</m:t>
                    </m:r>
                    <m:d>
                      <m:dPr>
                        <m:ctrlPr>
                          <a:rPr lang="en-US" altLang="zh-CN" b="0" i="1">
                            <a:latin typeface="Cambria Math" charset="0"/>
                          </a:rPr>
                        </m:ctrlPr>
                      </m:dPr>
                      <m:e>
                        <m:r>
                          <a:rPr lang="en-US" altLang="zh-CN" b="0" i="1" smtClean="0">
                            <a:latin typeface="Cambria Math" panose="02040503050406030204" pitchFamily="18" charset="0"/>
                          </a:rPr>
                          <m:t>𝑠</m:t>
                        </m:r>
                        <m:d>
                          <m:dPr>
                            <m:ctrlPr>
                              <a:rPr lang="en-US" altLang="zh-CN" b="0" i="1">
                                <a:latin typeface="Cambria Math" charset="0"/>
                              </a:rPr>
                            </m:ctrlPr>
                          </m:dPr>
                          <m:e>
                            <m:r>
                              <a:rPr lang="en-US" altLang="zh-CN" b="0" i="1">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a:latin typeface="Cambria Math" charset="0"/>
                              </a:rPr>
                            </m:ctrlPr>
                          </m:dPr>
                          <m:e>
                            <m:r>
                              <a:rPr lang="en-US" altLang="zh-CN" b="0" i="1">
                                <a:latin typeface="Cambria Math" panose="02040503050406030204" pitchFamily="18" charset="0"/>
                              </a:rPr>
                              <m:t>𝑖</m:t>
                            </m:r>
                          </m:e>
                        </m:d>
                      </m:e>
                    </m:d>
                  </m:oMath>
                </a14:m>
                <a:endParaRPr lang="en-US" altLang="zh-CN" b="0" dirty="0"/>
              </a:p>
              <a:p>
                <a:pPr>
                  <a:defRPr/>
                </a:pPr>
                <a:r>
                  <a:rPr lang="en-US" altLang="zh-CN" dirty="0"/>
                  <a:t> </a:t>
                </a:r>
                <a14:m>
                  <m:oMath xmlns:m="http://schemas.openxmlformats.org/officeDocument/2006/math">
                    <m:r>
                      <a:rPr lang="en-US" altLang="zh-CN" b="0" i="1">
                        <a:latin typeface="Cambria Math" panose="02040503050406030204" pitchFamily="18" charset="0"/>
                      </a:rPr>
                      <m:t>𝑝</m:t>
                    </m:r>
                    <m:d>
                      <m:dPr>
                        <m:ctrlPr>
                          <a:rPr lang="en-US" altLang="zh-CN" b="0" i="1">
                            <a:latin typeface="Cambria Math" charset="0"/>
                          </a:rPr>
                        </m:ctrlPr>
                      </m:dPr>
                      <m:e>
                        <m:r>
                          <a:rPr lang="en-US" altLang="zh-CN" b="0" i="1">
                            <a:latin typeface="Cambria Math" panose="02040503050406030204" pitchFamily="18" charset="0"/>
                          </a:rPr>
                          <m:t>𝑖</m:t>
                        </m:r>
                      </m:e>
                    </m:d>
                  </m:oMath>
                </a14:m>
                <a:r>
                  <a:rPr lang="zh-CN" altLang="en-US" b="0" dirty="0"/>
                  <a:t>是分配的能量，即</a:t>
                </a:r>
                <a:r>
                  <a:rPr lang="en-US" altLang="zh-CN" b="0" dirty="0"/>
                  <a:t>seed</a:t>
                </a:r>
                <a:r>
                  <a:rPr lang="zh-CN" altLang="en-US" b="0" dirty="0"/>
                  <a:t>将被变换的次数</a:t>
                </a:r>
                <a:endParaRPr lang="en-US" altLang="zh-CN" b="0" dirty="0"/>
              </a:p>
              <a:p>
                <a:pPr>
                  <a:defRPr/>
                </a:pPr>
                <a14:m>
                  <m:oMath xmlns:m="http://schemas.openxmlformats.org/officeDocument/2006/math">
                    <m:r>
                      <a:rPr lang="zh-CN" altLang="en-US" b="0" i="1" smtClean="0">
                        <a:latin typeface="Cambria Math" panose="02040503050406030204" pitchFamily="18" charset="0"/>
                      </a:rPr>
                      <m:t> </m:t>
                    </m:r>
                    <m:r>
                      <a:rPr lang="en-US" altLang="zh-CN" b="0" i="1">
                        <a:latin typeface="Cambria Math" panose="02040503050406030204" pitchFamily="18" charset="0"/>
                      </a:rPr>
                      <m:t>𝑠</m:t>
                    </m:r>
                    <m:d>
                      <m:dPr>
                        <m:ctrlPr>
                          <a:rPr lang="en-US" altLang="zh-CN" b="0" i="1">
                            <a:latin typeface="Cambria Math" charset="0"/>
                          </a:rPr>
                        </m:ctrlPr>
                      </m:dPr>
                      <m:e>
                        <m:r>
                          <a:rPr lang="en-US" altLang="zh-CN" b="0" i="1">
                            <a:latin typeface="Cambria Math" panose="02040503050406030204" pitchFamily="18" charset="0"/>
                          </a:rPr>
                          <m:t>𝑖</m:t>
                        </m:r>
                      </m:e>
                    </m:d>
                  </m:oMath>
                </a14:m>
                <a:r>
                  <a:rPr lang="zh-CN" altLang="en-US" b="0" dirty="0"/>
                  <a:t>是种子</a:t>
                </a:r>
                <a14:m>
                  <m:oMath xmlns:m="http://schemas.openxmlformats.org/officeDocument/2006/math">
                    <m:sSub>
                      <m:sSubPr>
                        <m:ctrlPr>
                          <a:rPr lang="en-US" altLang="zh-CN" b="0" i="1">
                            <a:latin typeface="Cambria Math" charset="0"/>
                          </a:rPr>
                        </m:ctrlPr>
                      </m:sSubPr>
                      <m:e>
                        <m:r>
                          <a:rPr lang="en-US" altLang="zh-CN" b="0" i="1">
                            <a:latin typeface="Cambria Math" panose="02040503050406030204" pitchFamily="18" charset="0"/>
                          </a:rPr>
                          <m:t>𝑡</m:t>
                        </m:r>
                      </m:e>
                      <m:sub>
                        <m:r>
                          <a:rPr lang="en-US" altLang="zh-CN" b="0" i="1">
                            <a:latin typeface="Cambria Math" panose="02040503050406030204" pitchFamily="18" charset="0"/>
                          </a:rPr>
                          <m:t>𝑖</m:t>
                        </m:r>
                      </m:sub>
                    </m:sSub>
                  </m:oMath>
                </a14:m>
                <a:r>
                  <a:rPr lang="zh-CN" altLang="en-US" b="0" dirty="0"/>
                  <a:t>之前从队列中选择的次数</a:t>
                </a:r>
                <a:endParaRPr lang="en-US" altLang="zh-CN" b="0" dirty="0"/>
              </a:p>
              <a:p>
                <a:pPr>
                  <a:defRPr/>
                </a:pPr>
                <a14:m>
                  <m:oMath xmlns:m="http://schemas.openxmlformats.org/officeDocument/2006/math">
                    <m:r>
                      <a:rPr lang="zh-CN" altLang="en-US" b="0" i="1" smtClean="0">
                        <a:latin typeface="Cambria Math" panose="02040503050406030204" pitchFamily="18" charset="0"/>
                      </a:rPr>
                      <m:t> </m:t>
                    </m:r>
                    <m:r>
                      <a:rPr lang="en-US" altLang="zh-CN" b="0" i="1">
                        <a:latin typeface="Cambria Math" panose="02040503050406030204" pitchFamily="18" charset="0"/>
                      </a:rPr>
                      <m:t>𝑓</m:t>
                    </m:r>
                    <m:d>
                      <m:dPr>
                        <m:ctrlPr>
                          <a:rPr lang="en-US" altLang="zh-CN" b="0" i="1">
                            <a:latin typeface="Cambria Math" charset="0"/>
                          </a:rPr>
                        </m:ctrlPr>
                      </m:dPr>
                      <m:e>
                        <m:r>
                          <a:rPr lang="en-US" altLang="zh-CN" b="0" i="1">
                            <a:latin typeface="Cambria Math" panose="02040503050406030204" pitchFamily="18" charset="0"/>
                          </a:rPr>
                          <m:t>𝑖</m:t>
                        </m:r>
                      </m:e>
                    </m:d>
                  </m:oMath>
                </a14:m>
                <a:r>
                  <a:rPr lang="zh-CN" altLang="en-US" b="0" dirty="0"/>
                  <a:t>是路径</a:t>
                </a:r>
                <a14:m>
                  <m:oMath xmlns:m="http://schemas.openxmlformats.org/officeDocument/2006/math">
                    <m:r>
                      <a:rPr lang="en-US" altLang="zh-CN" b="0" i="1" dirty="0" smtClean="0">
                        <a:latin typeface="Cambria Math" panose="02040503050406030204" pitchFamily="18" charset="0"/>
                      </a:rPr>
                      <m:t>𝐼</m:t>
                    </m:r>
                  </m:oMath>
                </a14:m>
                <a:r>
                  <a:rPr lang="zh-CN" altLang="en-US" b="0" dirty="0"/>
                  <a:t>的生成输入能量，</a:t>
                </a:r>
                <a14:m>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sSub>
                      <m:sSubPr>
                        <m:ctrlPr>
                          <a:rPr lang="en-US" altLang="zh-CN" b="0" i="1">
                            <a:latin typeface="Cambria Math" charset="0"/>
                          </a:rPr>
                        </m:ctrlPr>
                      </m:sSubPr>
                      <m:e>
                        <m:r>
                          <a:rPr lang="en-US" altLang="zh-CN" b="0" i="1">
                            <a:latin typeface="Cambria Math" panose="02040503050406030204" pitchFamily="18" charset="0"/>
                          </a:rPr>
                          <m:t>𝐸</m:t>
                        </m:r>
                        <m:r>
                          <a:rPr lang="en-US" altLang="zh-CN" b="0" i="1">
                            <a:latin typeface="Cambria Math" panose="02040503050406030204" pitchFamily="18" charset="0"/>
                          </a:rPr>
                          <m:t>[</m:t>
                        </m:r>
                        <m:r>
                          <a:rPr lang="en-US" altLang="zh-CN" b="0" i="1">
                            <a:latin typeface="Cambria Math" panose="02040503050406030204" pitchFamily="18" charset="0"/>
                          </a:rPr>
                          <m:t>𝑋</m:t>
                        </m:r>
                      </m:e>
                      <m:sub>
                        <m:r>
                          <a:rPr lang="en-US" altLang="zh-CN" b="0" i="1">
                            <a:latin typeface="Cambria Math" panose="02040503050406030204" pitchFamily="18" charset="0"/>
                          </a:rPr>
                          <m:t>𝑖𝑗</m:t>
                        </m:r>
                      </m:sub>
                    </m:sSub>
                    <m:r>
                      <a:rPr lang="en-US" altLang="zh-CN" b="0" i="1">
                        <a:latin typeface="Cambria Math" panose="02040503050406030204" pitchFamily="18" charset="0"/>
                      </a:rPr>
                      <m:t>]</m:t>
                    </m:r>
                  </m:oMath>
                </a14:m>
                <a:endParaRPr lang="en-US" altLang="zh-CN" b="0" dirty="0"/>
              </a:p>
              <a:p>
                <a:pPr eaLnBrk="1" hangingPunct="1">
                  <a:defRPr/>
                </a:pPr>
                <a:endParaRPr altLang="zh-CN" dirty="0"/>
              </a:p>
            </p:txBody>
          </p:sp>
        </mc:Choice>
        <mc:Fallback xmlns="">
          <p:sp>
            <p:nvSpPr>
              <p:cNvPr id="43012" name="内容占位符 4"/>
              <p:cNvSpPr>
                <a:spLocks noGrp="1" noRot="1" noChangeAspect="1" noMove="1" noResize="1" noEditPoints="1" noAdjustHandles="1" noChangeArrowheads="1" noChangeShapeType="1" noTextEdit="1"/>
              </p:cNvSpPr>
              <p:nvPr>
                <p:ph idx="4294967295"/>
              </p:nvPr>
            </p:nvSpPr>
            <p:spPr>
              <a:xfrm>
                <a:off x="0" y="1052513"/>
                <a:ext cx="7886700" cy="5329237"/>
              </a:xfrm>
              <a:blipFill>
                <a:blip r:embed="rId3"/>
                <a:stretch>
                  <a:fillRect l="-1159" t="-1716" r="-5023"/>
                </a:stretch>
              </a:blipFill>
            </p:spPr>
            <p:txBody>
              <a:bodyPr/>
              <a:lstStyle/>
              <a:p>
                <a:r>
                  <a:rPr lang="zh-CN" altLang="en-US">
                    <a:noFill/>
                  </a:rPr>
                  <a:t> </a:t>
                </a:r>
              </a:p>
            </p:txBody>
          </p:sp>
        </mc:Fallback>
      </mc:AlternateContent>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11</a:t>
            </a:fld>
            <a:endParaRPr lang="zh-CN" altLang="en-US" dirty="0"/>
          </a:p>
        </p:txBody>
      </p:sp>
    </p:spTree>
    <p:extLst>
      <p:ext uri="{BB962C8B-B14F-4D97-AF65-F5344CB8AC3E}">
        <p14:creationId xmlns:p14="http://schemas.microsoft.com/office/powerpoint/2010/main" val="2556543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err="1">
                <a:solidFill>
                  <a:srgbClr val="622820"/>
                </a:solidFill>
                <a:latin typeface="隶书" panose="02010509060101010101" pitchFamily="49" charset="-122"/>
                <a:ea typeface="隶书" panose="02010509060101010101" pitchFamily="49" charset="-122"/>
              </a:rPr>
              <a:t>AFLfast</a:t>
            </a:r>
            <a:r>
              <a:rPr lang="zh-CN" altLang="en-US" dirty="0">
                <a:solidFill>
                  <a:srgbClr val="622820"/>
                </a:solidFill>
                <a:latin typeface="隶书" panose="02010509060101010101" pitchFamily="49" charset="-122"/>
                <a:ea typeface="隶书" panose="02010509060101010101" pitchFamily="49" charset="-122"/>
              </a:rPr>
              <a:t>：能量分配策略</a:t>
            </a:r>
            <a:endParaRPr lang="zh-CN" dirty="0">
              <a:solidFill>
                <a:srgbClr val="622820"/>
              </a:solidFill>
              <a:latin typeface="隶书" panose="02010509060101010101" pitchFamily="49" charset="-122"/>
              <a:ea typeface="隶书" panose="02010509060101010101" pitchFamily="49" charset="-122"/>
            </a:endParaRPr>
          </a:p>
        </p:txBody>
      </p:sp>
      <mc:AlternateContent xmlns:mc="http://schemas.openxmlformats.org/markup-compatibility/2006" xmlns:a14="http://schemas.microsoft.com/office/drawing/2010/main">
        <mc:Choice Requires="a14">
          <p:sp>
            <p:nvSpPr>
              <p:cNvPr id="43012" name="内容占位符 4"/>
              <p:cNvSpPr>
                <a:spLocks noGrp="1"/>
              </p:cNvSpPr>
              <p:nvPr>
                <p:ph idx="4294967295"/>
              </p:nvPr>
            </p:nvSpPr>
            <p:spPr>
              <a:xfrm>
                <a:off x="0" y="566419"/>
                <a:ext cx="7886700" cy="6291581"/>
              </a:xfrm>
            </p:spPr>
            <p:txBody>
              <a:bodyPr/>
              <a:lstStyle/>
              <a:p>
                <a:pPr>
                  <a:defRPr/>
                </a:pPr>
                <a:r>
                  <a:rPr lang="en-US" altLang="zh-CN" sz="2000" dirty="0"/>
                  <a:t>EXPLOIT</a:t>
                </a:r>
                <a:r>
                  <a:rPr lang="zh-CN" altLang="en-US" sz="2000" dirty="0"/>
                  <a:t>： </a:t>
                </a:r>
                <a14:m>
                  <m:oMath xmlns:m="http://schemas.openxmlformats.org/officeDocument/2006/math">
                    <m:r>
                      <a:rPr lang="en-US" altLang="zh-CN" sz="2000" b="1" i="1" smtClean="0">
                        <a:latin typeface="Cambria Math" panose="02040503050406030204" pitchFamily="18" charset="0"/>
                      </a:rPr>
                      <m:t>𝒑</m:t>
                    </m:r>
                    <m:d>
                      <m:dPr>
                        <m:ctrlPr>
                          <a:rPr lang="en-US" altLang="zh-CN" sz="2000" b="1" i="1" smtClean="0">
                            <a:latin typeface="Cambria Math" charset="0"/>
                          </a:rPr>
                        </m:ctrlPr>
                      </m:dPr>
                      <m:e>
                        <m:r>
                          <a:rPr lang="en-US" altLang="zh-CN" sz="2000" b="1" i="1" smtClean="0">
                            <a:latin typeface="Cambria Math" panose="02040503050406030204" pitchFamily="18" charset="0"/>
                          </a:rPr>
                          <m:t>𝒊</m:t>
                        </m:r>
                      </m:e>
                    </m:d>
                    <m:r>
                      <a:rPr lang="en-US" altLang="zh-CN" sz="2000" b="1" i="1" smtClean="0">
                        <a:latin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𝜶</m:t>
                    </m:r>
                    <m:r>
                      <a:rPr lang="en-US" altLang="zh-CN" sz="2000" b="1"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𝒊</m:t>
                    </m:r>
                    <m:r>
                      <a:rPr lang="en-US" altLang="zh-CN" sz="2000" b="1" i="1" smtClean="0">
                        <a:latin typeface="Cambria Math" panose="02040503050406030204" pitchFamily="18" charset="0"/>
                        <a:ea typeface="Cambria Math" panose="02040503050406030204" pitchFamily="18" charset="0"/>
                      </a:rPr>
                      <m:t>) </m:t>
                    </m:r>
                  </m:oMath>
                </a14:m>
                <a:endParaRPr lang="en-US" altLang="zh-CN" sz="2000" dirty="0"/>
              </a:p>
              <a:p>
                <a:pPr>
                  <a:defRPr/>
                </a:pPr>
                <a:endParaRPr lang="en-US" altLang="zh-CN" sz="2000" dirty="0"/>
              </a:p>
              <a:p>
                <a:pPr>
                  <a:defRPr/>
                </a:pPr>
                <a:r>
                  <a:rPr lang="en-US" altLang="zh-CN" sz="2000" dirty="0"/>
                  <a:t>EXPLORE: </a:t>
                </a:r>
                <a14:m>
                  <m:oMath xmlns:m="http://schemas.openxmlformats.org/officeDocument/2006/math">
                    <m:r>
                      <a:rPr lang="en-US" altLang="zh-CN" sz="2000" i="1">
                        <a:latin typeface="Cambria Math" panose="02040503050406030204" pitchFamily="18" charset="0"/>
                      </a:rPr>
                      <m:t>𝒑</m:t>
                    </m:r>
                    <m:d>
                      <m:dPr>
                        <m:ctrlPr>
                          <a:rPr lang="en-US" altLang="zh-CN" sz="2000" i="1">
                            <a:latin typeface="Cambria Math" charset="0"/>
                          </a:rPr>
                        </m:ctrlPr>
                      </m:dPr>
                      <m:e>
                        <m:r>
                          <a:rPr lang="en-US" altLang="zh-CN" sz="2000" i="1">
                            <a:latin typeface="Cambria Math" panose="02040503050406030204" pitchFamily="18" charset="0"/>
                          </a:rPr>
                          <m:t>𝒊</m:t>
                        </m:r>
                      </m:e>
                    </m:d>
                    <m:r>
                      <a:rPr lang="en-US" altLang="zh-CN" sz="2000" i="1">
                        <a:latin typeface="Cambria Math" panose="02040503050406030204" pitchFamily="18" charset="0"/>
                      </a:rPr>
                      <m:t>=</m:t>
                    </m:r>
                    <m:f>
                      <m:fPr>
                        <m:ctrlPr>
                          <a:rPr lang="en-US" altLang="zh-CN" sz="2000" i="1" smtClean="0">
                            <a:latin typeface="Cambria Math" charset="0"/>
                          </a:rPr>
                        </m:ctrlPr>
                      </m:fPr>
                      <m:num>
                        <m:r>
                          <a:rPr lang="en-US" altLang="zh-CN" sz="2000" i="1" dirty="0">
                            <a:latin typeface="Cambria Math" panose="02040503050406030204" pitchFamily="18" charset="0"/>
                            <a:ea typeface="Cambria Math" panose="02040503050406030204" pitchFamily="18" charset="0"/>
                          </a:rPr>
                          <m:t>𝛼</m:t>
                        </m:r>
                        <m:r>
                          <a:rPr lang="en-US" altLang="zh-CN" sz="2000" i="1" dirty="0">
                            <a:latin typeface="Cambria Math" panose="02040503050406030204" pitchFamily="18" charset="0"/>
                            <a:ea typeface="Cambria Math" panose="02040503050406030204" pitchFamily="18" charset="0"/>
                          </a:rPr>
                          <m:t>(</m:t>
                        </m:r>
                        <m:r>
                          <a:rPr lang="en-US" altLang="zh-CN" sz="2000" i="1" dirty="0" err="1">
                            <a:latin typeface="Cambria Math" panose="02040503050406030204" pitchFamily="18" charset="0"/>
                            <a:ea typeface="Cambria Math" panose="02040503050406030204" pitchFamily="18" charset="0"/>
                          </a:rPr>
                          <m:t>𝑖</m:t>
                        </m:r>
                        <m:r>
                          <a:rPr lang="en-US" altLang="zh-CN" sz="2000" i="1" dirty="0">
                            <a:latin typeface="Cambria Math" panose="02040503050406030204" pitchFamily="18" charset="0"/>
                            <a:ea typeface="Cambria Math" panose="02040503050406030204" pitchFamily="18" charset="0"/>
                          </a:rPr>
                          <m:t>)</m:t>
                        </m:r>
                      </m:num>
                      <m:den>
                        <m:r>
                          <a:rPr lang="en-US" altLang="zh-CN" sz="2000" i="1" smtClean="0">
                            <a:latin typeface="Cambria Math" panose="02040503050406030204" pitchFamily="18" charset="0"/>
                            <a:ea typeface="Cambria Math" panose="02040503050406030204" pitchFamily="18" charset="0"/>
                          </a:rPr>
                          <m:t>𝜷</m:t>
                        </m:r>
                      </m:den>
                    </m:f>
                  </m:oMath>
                </a14:m>
                <a:endParaRPr lang="en-US" altLang="zh-CN" sz="2000" dirty="0"/>
              </a:p>
              <a:p>
                <a:pPr>
                  <a:defRPr/>
                </a:pPr>
                <a:endParaRPr lang="en-US" altLang="zh-CN" sz="2000" dirty="0"/>
              </a:p>
              <a:p>
                <a:pPr>
                  <a:defRPr/>
                </a:pPr>
                <a:r>
                  <a:rPr lang="en-US" altLang="zh-CN" sz="2000" dirty="0"/>
                  <a:t>COE:</a:t>
                </a:r>
                <a14:m>
                  <m:oMath xmlns:m="http://schemas.openxmlformats.org/officeDocument/2006/math">
                    <m:r>
                      <a:rPr lang="en-US" altLang="zh-CN" sz="2000" b="1" i="1" smtClean="0">
                        <a:latin typeface="Cambria Math" panose="02040503050406030204" pitchFamily="18" charset="0"/>
                      </a:rPr>
                      <m:t>𝒑</m:t>
                    </m:r>
                    <m:d>
                      <m:dPr>
                        <m:ctrlPr>
                          <a:rPr lang="en-US" altLang="zh-CN" sz="2000" b="1" i="1" smtClean="0">
                            <a:latin typeface="Cambria Math" charset="0"/>
                          </a:rPr>
                        </m:ctrlPr>
                      </m:dPr>
                      <m:e>
                        <m:r>
                          <a:rPr lang="en-US" altLang="zh-CN" sz="2000" b="1" i="1" smtClean="0">
                            <a:latin typeface="Cambria Math" panose="02040503050406030204" pitchFamily="18" charset="0"/>
                          </a:rPr>
                          <m:t>𝒊</m:t>
                        </m:r>
                      </m:e>
                    </m:d>
                    <m:r>
                      <a:rPr lang="en-US" altLang="zh-CN" sz="2000" b="1" i="1" smtClean="0">
                        <a:latin typeface="Cambria Math" panose="02040503050406030204" pitchFamily="18" charset="0"/>
                      </a:rPr>
                      <m:t>=</m:t>
                    </m:r>
                    <m:d>
                      <m:dPr>
                        <m:begChr m:val="{"/>
                        <m:endChr m:val=""/>
                        <m:ctrlPr>
                          <a:rPr lang="en-US" altLang="zh-CN" sz="2000" b="1" i="1" smtClean="0">
                            <a:latin typeface="Cambria Math" charset="0"/>
                          </a:rPr>
                        </m:ctrlPr>
                      </m:dPr>
                      <m:e>
                        <m:eqArr>
                          <m:eqArrPr>
                            <m:ctrlPr>
                              <a:rPr lang="en-US" altLang="zh-CN" sz="2000" b="1" i="1" smtClean="0">
                                <a:latin typeface="Cambria Math" charset="0"/>
                              </a:rPr>
                            </m:ctrlPr>
                          </m:eqArrPr>
                          <m:e>
                            <m:r>
                              <a:rPr lang="en-US" altLang="zh-CN" sz="2000" b="1" i="1" smtClean="0">
                                <a:latin typeface="Cambria Math" panose="02040503050406030204" pitchFamily="18" charset="0"/>
                              </a:rPr>
                              <m:t>𝟎</m:t>
                            </m:r>
                          </m:e>
                          <m:e>
                            <m:r>
                              <a:rPr lang="en-US" altLang="zh-CN" sz="2000" b="1" i="1" smtClean="0">
                                <a:latin typeface="Cambria Math" panose="02040503050406030204" pitchFamily="18" charset="0"/>
                              </a:rPr>
                              <m:t>𝒎𝒊𝒏</m:t>
                            </m:r>
                            <m:r>
                              <a:rPr lang="en-US" altLang="zh-CN" sz="2000" b="1" i="1" smtClean="0">
                                <a:latin typeface="Cambria Math" panose="02040503050406030204" pitchFamily="18" charset="0"/>
                              </a:rPr>
                              <m:t>(</m:t>
                            </m:r>
                            <m:f>
                              <m:fPr>
                                <m:ctrlPr>
                                  <a:rPr lang="en-US" altLang="zh-CN" sz="2000" b="1" i="1" smtClean="0">
                                    <a:latin typeface="Cambria Math" charset="0"/>
                                  </a:rPr>
                                </m:ctrlPr>
                              </m:fPr>
                              <m:num>
                                <m:r>
                                  <a:rPr lang="en-US" altLang="zh-CN" sz="2000" b="1" i="1" smtClean="0">
                                    <a:latin typeface="Cambria Math" panose="02040503050406030204" pitchFamily="18" charset="0"/>
                                    <a:ea typeface="Cambria Math" panose="02040503050406030204" pitchFamily="18" charset="0"/>
                                  </a:rPr>
                                  <m:t>𝜶</m:t>
                                </m:r>
                                <m:d>
                                  <m:dPr>
                                    <m:ctrlPr>
                                      <a:rPr lang="en-US" altLang="zh-CN" sz="2000" b="1" i="1" smtClean="0">
                                        <a:latin typeface="Cambria Math" charset="0"/>
                                        <a:ea typeface="Cambria Math" panose="02040503050406030204" pitchFamily="18" charset="0"/>
                                      </a:rPr>
                                    </m:ctrlPr>
                                  </m:dPr>
                                  <m:e>
                                    <m:r>
                                      <a:rPr lang="en-US" altLang="zh-CN" sz="2000" b="1" i="1" smtClean="0">
                                        <a:latin typeface="Cambria Math" panose="02040503050406030204" pitchFamily="18" charset="0"/>
                                        <a:ea typeface="Cambria Math" panose="02040503050406030204" pitchFamily="18" charset="0"/>
                                      </a:rPr>
                                      <m:t>𝒊</m:t>
                                    </m:r>
                                  </m:e>
                                </m:d>
                              </m:num>
                              <m:den>
                                <m:r>
                                  <a:rPr lang="en-US" altLang="zh-CN" sz="2000" b="1" i="1" smtClean="0">
                                    <a:latin typeface="Cambria Math" panose="02040503050406030204" pitchFamily="18" charset="0"/>
                                    <a:ea typeface="Cambria Math" panose="02040503050406030204" pitchFamily="18" charset="0"/>
                                  </a:rPr>
                                  <m:t>𝜷</m:t>
                                </m:r>
                              </m:den>
                            </m:f>
                            <m:sSup>
                              <m:sSupPr>
                                <m:ctrlPr>
                                  <a:rPr lang="en-US" altLang="zh-CN" sz="2000" b="1" i="1" smtClean="0">
                                    <a:latin typeface="Cambria Math" charset="0"/>
                                  </a:rPr>
                                </m:ctrlPr>
                              </m:sSupPr>
                              <m:e>
                                <m:r>
                                  <a:rPr lang="en-US" altLang="zh-CN" sz="2000" b="1" i="1" smtClean="0">
                                    <a:latin typeface="Cambria Math" panose="02040503050406030204" pitchFamily="18" charset="0"/>
                                  </a:rPr>
                                  <m:t>𝟐</m:t>
                                </m:r>
                              </m:e>
                              <m:sup>
                                <m:r>
                                  <a:rPr lang="en-US" altLang="zh-CN" sz="2000" b="1" i="1" smtClean="0">
                                    <a:latin typeface="Cambria Math" panose="02040503050406030204" pitchFamily="18" charset="0"/>
                                  </a:rPr>
                                  <m:t>𝒔</m:t>
                                </m:r>
                                <m:d>
                                  <m:dPr>
                                    <m:ctrlPr>
                                      <a:rPr lang="en-US" altLang="zh-CN" sz="2000" b="1" i="1" smtClean="0">
                                        <a:latin typeface="Cambria Math" charset="0"/>
                                      </a:rPr>
                                    </m:ctrlPr>
                                  </m:dPr>
                                  <m:e>
                                    <m:r>
                                      <a:rPr lang="en-US" altLang="zh-CN" sz="2000" b="1" i="1" smtClean="0">
                                        <a:latin typeface="Cambria Math" panose="02040503050406030204" pitchFamily="18" charset="0"/>
                                      </a:rPr>
                                      <m:t>𝒊</m:t>
                                    </m:r>
                                  </m:e>
                                </m:d>
                              </m:sup>
                            </m:sSup>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𝑴</m:t>
                            </m:r>
                            <m:r>
                              <a:rPr lang="en-US" altLang="zh-CN" sz="2000" b="1" i="1" smtClean="0">
                                <a:latin typeface="Cambria Math" panose="02040503050406030204" pitchFamily="18" charset="0"/>
                              </a:rPr>
                              <m:t>)</m:t>
                            </m:r>
                          </m:e>
                        </m:eqArr>
                      </m:e>
                    </m:d>
                    <m:m>
                      <m:mPr>
                        <m:mcs>
                          <m:mc>
                            <m:mcPr>
                              <m:count m:val="1"/>
                              <m:mcJc m:val="center"/>
                            </m:mcPr>
                          </m:mc>
                        </m:mcs>
                        <m:ctrlPr>
                          <a:rPr lang="en-US" altLang="zh-CN" sz="2000" b="1" i="1" smtClean="0">
                            <a:latin typeface="Cambria Math" charset="0"/>
                          </a:rPr>
                        </m:ctrlPr>
                      </m:mPr>
                      <m:mr>
                        <m:e>
                          <m:r>
                            <m:rPr>
                              <m:brk m:alnAt="7"/>
                            </m:rP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𝒇</m:t>
                          </m:r>
                          <m:d>
                            <m:dPr>
                              <m:ctrlPr>
                                <a:rPr lang="en-US" altLang="zh-CN" sz="2000" b="1" i="1" smtClean="0">
                                  <a:latin typeface="Cambria Math" charset="0"/>
                                </a:rPr>
                              </m:ctrlPr>
                            </m:dPr>
                            <m:e>
                              <m:r>
                                <m:rPr>
                                  <m:brk m:alnAt="7"/>
                                </m:rPr>
                                <a:rPr lang="en-US" altLang="zh-CN" sz="2000" b="1" i="1" smtClean="0">
                                  <a:latin typeface="Cambria Math" panose="02040503050406030204" pitchFamily="18" charset="0"/>
                                </a:rPr>
                                <m:t>𝒊</m:t>
                              </m:r>
                            </m:e>
                          </m:d>
                          <m:r>
                            <m:rPr>
                              <m:brk m:alnAt="7"/>
                            </m:rPr>
                            <a:rPr lang="en-US" altLang="zh-CN" sz="2000" b="1" i="1" smtClean="0">
                              <a:latin typeface="Cambria Math" panose="02040503050406030204" pitchFamily="18" charset="0"/>
                            </a:rPr>
                            <m:t>&gt;</m:t>
                          </m:r>
                          <m:r>
                            <a:rPr lang="en-US" altLang="zh-CN" sz="2000" b="1" i="1" smtClean="0">
                              <a:latin typeface="Cambria Math" panose="02040503050406030204" pitchFamily="18" charset="0"/>
                            </a:rPr>
                            <m:t>𝒖</m:t>
                          </m:r>
                        </m:e>
                      </m:mr>
                      <m:mr>
                        <m:e>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𝒐𝒕𝒉𝒆𝒓𝒔</m:t>
                          </m:r>
                        </m:e>
                      </m:mr>
                    </m:m>
                  </m:oMath>
                </a14:m>
                <a:endParaRPr lang="en-US" altLang="zh-CN" sz="2000" b="1" dirty="0"/>
              </a:p>
              <a:p>
                <a:pPr>
                  <a:defRPr/>
                </a:pPr>
                <a:endParaRPr lang="en-US" altLang="zh-CN" sz="2000" b="1" dirty="0"/>
              </a:p>
              <a:p>
                <a:pPr>
                  <a:defRPr/>
                </a:pPr>
                <a:r>
                  <a:rPr lang="en-US" altLang="zh-CN" sz="2000" dirty="0"/>
                  <a:t>FAST:</a:t>
                </a:r>
                <a14:m>
                  <m:oMath xmlns:m="http://schemas.openxmlformats.org/officeDocument/2006/math">
                    <m:r>
                      <a:rPr lang="en-US" altLang="zh-CN" sz="2000" b="1" i="1" smtClean="0">
                        <a:latin typeface="Cambria Math" panose="02040503050406030204" pitchFamily="18" charset="0"/>
                      </a:rPr>
                      <m:t>𝒑</m:t>
                    </m:r>
                    <m:d>
                      <m:dPr>
                        <m:ctrlPr>
                          <a:rPr lang="en-US" altLang="zh-CN" sz="2000" b="1" i="1" smtClean="0">
                            <a:latin typeface="Cambria Math" charset="0"/>
                          </a:rPr>
                        </m:ctrlPr>
                      </m:dPr>
                      <m:e>
                        <m:r>
                          <a:rPr lang="en-US" altLang="zh-CN" sz="2000" b="1" i="1" smtClean="0">
                            <a:latin typeface="Cambria Math" panose="02040503050406030204" pitchFamily="18" charset="0"/>
                          </a:rPr>
                          <m:t>𝒊</m:t>
                        </m:r>
                      </m:e>
                    </m:d>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𝒎𝒊𝒏</m:t>
                    </m:r>
                    <m:r>
                      <a:rPr lang="en-US" altLang="zh-CN" sz="2000" b="1" i="1" smtClean="0">
                        <a:latin typeface="Cambria Math" panose="02040503050406030204" pitchFamily="18" charset="0"/>
                      </a:rPr>
                      <m:t>(</m:t>
                    </m:r>
                    <m:f>
                      <m:fPr>
                        <m:ctrlPr>
                          <a:rPr lang="en-US" altLang="zh-CN" sz="2000" i="1">
                            <a:latin typeface="Cambria Math" charset="0"/>
                          </a:rPr>
                        </m:ctrlPr>
                      </m:fPr>
                      <m:num>
                        <m:r>
                          <a:rPr lang="en-US" altLang="zh-CN" sz="2000" i="1">
                            <a:latin typeface="Cambria Math" panose="02040503050406030204" pitchFamily="18" charset="0"/>
                            <a:ea typeface="Cambria Math" panose="02040503050406030204" pitchFamily="18" charset="0"/>
                          </a:rPr>
                          <m:t>𝜶</m:t>
                        </m:r>
                        <m:d>
                          <m:dPr>
                            <m:ctrlPr>
                              <a:rPr lang="en-US" altLang="zh-CN" sz="2000" i="1">
                                <a:latin typeface="Cambria Math"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𝒊</m:t>
                            </m:r>
                          </m:e>
                        </m:d>
                      </m:num>
                      <m:den>
                        <m:r>
                          <a:rPr lang="en-US" altLang="zh-CN" sz="2000" i="1">
                            <a:latin typeface="Cambria Math" panose="02040503050406030204" pitchFamily="18" charset="0"/>
                            <a:ea typeface="Cambria Math" panose="02040503050406030204" pitchFamily="18" charset="0"/>
                          </a:rPr>
                          <m:t>𝜷</m:t>
                        </m:r>
                      </m:den>
                    </m:f>
                    <m:f>
                      <m:fPr>
                        <m:ctrlPr>
                          <a:rPr lang="en-US" altLang="zh-CN" sz="2000" i="1" smtClean="0">
                            <a:latin typeface="Cambria Math" charset="0"/>
                            <a:ea typeface="Cambria Math" panose="02040503050406030204" pitchFamily="18" charset="0"/>
                          </a:rPr>
                        </m:ctrlPr>
                      </m:fPr>
                      <m:num>
                        <m:sSup>
                          <m:sSupPr>
                            <m:ctrlPr>
                              <a:rPr lang="en-US" altLang="zh-CN" sz="2000" i="1">
                                <a:latin typeface="Cambria Math" charset="0"/>
                              </a:rPr>
                            </m:ctrlPr>
                          </m:sSupPr>
                          <m:e>
                            <m:r>
                              <a:rPr lang="en-US" altLang="zh-CN" sz="2000" i="1">
                                <a:latin typeface="Cambria Math" panose="02040503050406030204" pitchFamily="18" charset="0"/>
                              </a:rPr>
                              <m:t>𝟐</m:t>
                            </m:r>
                          </m:e>
                          <m:sup>
                            <m:r>
                              <a:rPr lang="en-US" altLang="zh-CN" sz="2000" i="1">
                                <a:latin typeface="Cambria Math" panose="02040503050406030204" pitchFamily="18" charset="0"/>
                              </a:rPr>
                              <m:t>𝒔</m:t>
                            </m:r>
                            <m:d>
                              <m:dPr>
                                <m:ctrlPr>
                                  <a:rPr lang="en-US" altLang="zh-CN" sz="2000" i="1">
                                    <a:latin typeface="Cambria Math" charset="0"/>
                                  </a:rPr>
                                </m:ctrlPr>
                              </m:dPr>
                              <m:e>
                                <m:r>
                                  <a:rPr lang="en-US" altLang="zh-CN" sz="2000" i="1">
                                    <a:latin typeface="Cambria Math" panose="02040503050406030204" pitchFamily="18" charset="0"/>
                                  </a:rPr>
                                  <m:t>𝒊</m:t>
                                </m:r>
                              </m:e>
                            </m:d>
                          </m:sup>
                        </m:sSup>
                      </m:num>
                      <m:den>
                        <m:r>
                          <a:rPr lang="en-US" altLang="zh-CN" sz="2000" b="1" i="1" smtClean="0">
                            <a:latin typeface="Cambria Math" panose="02040503050406030204" pitchFamily="18" charset="0"/>
                            <a:ea typeface="Cambria Math" panose="02040503050406030204" pitchFamily="18" charset="0"/>
                          </a:rPr>
                          <m:t>𝒇</m:t>
                        </m:r>
                        <m:r>
                          <a:rPr lang="en-US" altLang="zh-CN" sz="2000" b="1"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𝒊</m:t>
                        </m:r>
                        <m:r>
                          <a:rPr lang="en-US" altLang="zh-CN" sz="2000" b="1" i="1" smtClean="0">
                            <a:latin typeface="Cambria Math" panose="02040503050406030204" pitchFamily="18" charset="0"/>
                            <a:ea typeface="Cambria Math" panose="02040503050406030204" pitchFamily="18" charset="0"/>
                          </a:rPr>
                          <m:t>)</m:t>
                        </m:r>
                      </m:den>
                    </m:f>
                    <m:r>
                      <a:rPr lang="en-US" altLang="zh-CN" sz="2000" i="1">
                        <a:latin typeface="Cambria Math" panose="02040503050406030204" pitchFamily="18" charset="0"/>
                      </a:rPr>
                      <m:t>,</m:t>
                    </m:r>
                    <m:r>
                      <a:rPr lang="en-US" altLang="zh-CN" sz="2000" i="1">
                        <a:latin typeface="Cambria Math" panose="02040503050406030204" pitchFamily="18" charset="0"/>
                      </a:rPr>
                      <m:t>𝑴</m:t>
                    </m:r>
                    <m:r>
                      <a:rPr lang="en-US" altLang="zh-CN" sz="2000" b="1" i="1" smtClean="0">
                        <a:latin typeface="Cambria Math" panose="02040503050406030204" pitchFamily="18" charset="0"/>
                      </a:rPr>
                      <m:t>)</m:t>
                    </m:r>
                  </m:oMath>
                </a14:m>
                <a:endParaRPr lang="en-US" altLang="zh-CN" sz="2000" dirty="0"/>
              </a:p>
              <a:p>
                <a:pPr>
                  <a:defRPr/>
                </a:pPr>
                <a:endParaRPr lang="en-US" altLang="zh-CN" sz="2000" dirty="0"/>
              </a:p>
              <a:p>
                <a:pPr>
                  <a:defRPr/>
                </a:pPr>
                <a:r>
                  <a:rPr lang="en-US" altLang="zh-CN" sz="2000" dirty="0"/>
                  <a:t>LINEAR:</a:t>
                </a:r>
                <a14:m>
                  <m:oMath xmlns:m="http://schemas.openxmlformats.org/officeDocument/2006/math">
                    <m:r>
                      <a:rPr lang="en-US" altLang="zh-CN" sz="2000" i="1">
                        <a:latin typeface="Cambria Math" panose="02040503050406030204" pitchFamily="18" charset="0"/>
                      </a:rPr>
                      <m:t>𝒑</m:t>
                    </m:r>
                    <m:d>
                      <m:dPr>
                        <m:ctrlPr>
                          <a:rPr lang="en-US" altLang="zh-CN" sz="2000" i="1">
                            <a:latin typeface="Cambria Math" charset="0"/>
                          </a:rPr>
                        </m:ctrlPr>
                      </m:dPr>
                      <m:e>
                        <m:r>
                          <a:rPr lang="en-US" altLang="zh-CN" sz="2000" i="1">
                            <a:latin typeface="Cambria Math" panose="02040503050406030204" pitchFamily="18" charset="0"/>
                          </a:rPr>
                          <m:t>𝒊</m:t>
                        </m:r>
                      </m:e>
                    </m:d>
                    <m:r>
                      <a:rPr lang="en-US" altLang="zh-CN" sz="2000" i="1">
                        <a:latin typeface="Cambria Math" panose="02040503050406030204" pitchFamily="18" charset="0"/>
                      </a:rPr>
                      <m:t>=</m:t>
                    </m:r>
                    <m:r>
                      <a:rPr lang="en-US" altLang="zh-CN" sz="2000" i="1">
                        <a:latin typeface="Cambria Math" panose="02040503050406030204" pitchFamily="18" charset="0"/>
                      </a:rPr>
                      <m:t>𝒎𝒊𝒏</m:t>
                    </m:r>
                    <m:r>
                      <a:rPr lang="en-US" altLang="zh-CN" sz="2000" i="1">
                        <a:latin typeface="Cambria Math" panose="02040503050406030204" pitchFamily="18" charset="0"/>
                      </a:rPr>
                      <m:t>(</m:t>
                    </m:r>
                    <m:f>
                      <m:fPr>
                        <m:ctrlPr>
                          <a:rPr lang="en-US" altLang="zh-CN" sz="2000" i="1">
                            <a:latin typeface="Cambria Math" charset="0"/>
                          </a:rPr>
                        </m:ctrlPr>
                      </m:fPr>
                      <m:num>
                        <m:r>
                          <a:rPr lang="en-US" altLang="zh-CN" sz="2000" i="1">
                            <a:latin typeface="Cambria Math" panose="02040503050406030204" pitchFamily="18" charset="0"/>
                            <a:ea typeface="Cambria Math" panose="02040503050406030204" pitchFamily="18" charset="0"/>
                          </a:rPr>
                          <m:t>𝜶</m:t>
                        </m:r>
                        <m:d>
                          <m:dPr>
                            <m:ctrlPr>
                              <a:rPr lang="en-US" altLang="zh-CN" sz="2000" i="1">
                                <a:latin typeface="Cambria Math"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𝒊</m:t>
                            </m:r>
                          </m:e>
                        </m:d>
                      </m:num>
                      <m:den>
                        <m:r>
                          <a:rPr lang="en-US" altLang="zh-CN" sz="2000" i="1">
                            <a:latin typeface="Cambria Math" panose="02040503050406030204" pitchFamily="18" charset="0"/>
                            <a:ea typeface="Cambria Math" panose="02040503050406030204" pitchFamily="18" charset="0"/>
                          </a:rPr>
                          <m:t>𝜷</m:t>
                        </m:r>
                      </m:den>
                    </m:f>
                    <m:f>
                      <m:fPr>
                        <m:ctrlPr>
                          <a:rPr lang="en-US" altLang="zh-CN" sz="2000" i="1">
                            <a:latin typeface="Cambria Math" charset="0"/>
                            <a:ea typeface="Cambria Math" panose="02040503050406030204" pitchFamily="18" charset="0"/>
                          </a:rPr>
                        </m:ctrlPr>
                      </m:fPr>
                      <m:num>
                        <m:r>
                          <a:rPr lang="en-US" altLang="zh-CN" sz="2000" i="1">
                            <a:latin typeface="Cambria Math" panose="02040503050406030204" pitchFamily="18" charset="0"/>
                          </a:rPr>
                          <m:t>𝒔</m:t>
                        </m:r>
                        <m:d>
                          <m:dPr>
                            <m:ctrlPr>
                              <a:rPr lang="en-US" altLang="zh-CN" sz="2000" i="1">
                                <a:latin typeface="Cambria Math" charset="0"/>
                              </a:rPr>
                            </m:ctrlPr>
                          </m:dPr>
                          <m:e>
                            <m:r>
                              <a:rPr lang="en-US" altLang="zh-CN" sz="2000" i="1">
                                <a:latin typeface="Cambria Math" panose="02040503050406030204" pitchFamily="18" charset="0"/>
                              </a:rPr>
                              <m:t>𝒊</m:t>
                            </m:r>
                          </m:e>
                        </m:d>
                      </m:num>
                      <m:den>
                        <m:r>
                          <a:rPr lang="en-US" altLang="zh-CN" sz="2000" i="1">
                            <a:latin typeface="Cambria Math" panose="02040503050406030204" pitchFamily="18" charset="0"/>
                            <a:ea typeface="Cambria Math" panose="02040503050406030204" pitchFamily="18" charset="0"/>
                          </a:rPr>
                          <m:t>𝒇</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𝒊</m:t>
                        </m:r>
                        <m:r>
                          <a:rPr lang="en-US" altLang="zh-CN" sz="2000" i="1">
                            <a:latin typeface="Cambria Math" panose="02040503050406030204" pitchFamily="18" charset="0"/>
                            <a:ea typeface="Cambria Math" panose="02040503050406030204" pitchFamily="18" charset="0"/>
                          </a:rPr>
                          <m:t>)</m:t>
                        </m:r>
                      </m:den>
                    </m:f>
                    <m:r>
                      <a:rPr lang="en-US" altLang="zh-CN" sz="2000" i="1">
                        <a:latin typeface="Cambria Math" panose="02040503050406030204" pitchFamily="18" charset="0"/>
                      </a:rPr>
                      <m:t>,</m:t>
                    </m:r>
                    <m:r>
                      <a:rPr lang="en-US" altLang="zh-CN" sz="2000" i="1">
                        <a:latin typeface="Cambria Math" panose="02040503050406030204" pitchFamily="18" charset="0"/>
                      </a:rPr>
                      <m:t>𝑴</m:t>
                    </m:r>
                    <m:r>
                      <a:rPr lang="en-US" altLang="zh-CN" sz="2000" i="1">
                        <a:latin typeface="Cambria Math" panose="02040503050406030204" pitchFamily="18" charset="0"/>
                      </a:rPr>
                      <m:t>)</m:t>
                    </m:r>
                  </m:oMath>
                </a14:m>
                <a:endParaRPr lang="en-US" altLang="zh-CN" sz="2000" dirty="0"/>
              </a:p>
              <a:p>
                <a:pPr>
                  <a:defRPr/>
                </a:pPr>
                <a:endParaRPr lang="en-US" altLang="zh-CN" sz="2000" dirty="0"/>
              </a:p>
              <a:p>
                <a:pPr>
                  <a:defRPr/>
                </a:pPr>
                <a:r>
                  <a:rPr lang="en-US" altLang="zh-CN" sz="2000" dirty="0"/>
                  <a:t>QUAD:</a:t>
                </a:r>
                <a14:m>
                  <m:oMath xmlns:m="http://schemas.openxmlformats.org/officeDocument/2006/math">
                    <m:r>
                      <a:rPr lang="en-US" altLang="zh-CN" sz="2000" i="1">
                        <a:latin typeface="Cambria Math" panose="02040503050406030204" pitchFamily="18" charset="0"/>
                      </a:rPr>
                      <m:t>𝒑</m:t>
                    </m:r>
                    <m:d>
                      <m:dPr>
                        <m:ctrlPr>
                          <a:rPr lang="en-US" altLang="zh-CN" sz="2000" i="1">
                            <a:latin typeface="Cambria Math" charset="0"/>
                          </a:rPr>
                        </m:ctrlPr>
                      </m:dPr>
                      <m:e>
                        <m:r>
                          <a:rPr lang="en-US" altLang="zh-CN" sz="2000" i="1">
                            <a:latin typeface="Cambria Math" panose="02040503050406030204" pitchFamily="18" charset="0"/>
                          </a:rPr>
                          <m:t>𝒊</m:t>
                        </m:r>
                      </m:e>
                    </m:d>
                    <m:r>
                      <a:rPr lang="en-US" altLang="zh-CN" sz="2000" i="1">
                        <a:latin typeface="Cambria Math" panose="02040503050406030204" pitchFamily="18" charset="0"/>
                      </a:rPr>
                      <m:t>=</m:t>
                    </m:r>
                    <m:r>
                      <a:rPr lang="en-US" altLang="zh-CN" sz="2000" i="1">
                        <a:latin typeface="Cambria Math" panose="02040503050406030204" pitchFamily="18" charset="0"/>
                      </a:rPr>
                      <m:t>𝒎𝒊𝒏</m:t>
                    </m:r>
                    <m:r>
                      <a:rPr lang="en-US" altLang="zh-CN" sz="2000" i="1">
                        <a:latin typeface="Cambria Math" panose="02040503050406030204" pitchFamily="18" charset="0"/>
                      </a:rPr>
                      <m:t>(</m:t>
                    </m:r>
                    <m:f>
                      <m:fPr>
                        <m:ctrlPr>
                          <a:rPr lang="en-US" altLang="zh-CN" sz="2000" i="1">
                            <a:latin typeface="Cambria Math" charset="0"/>
                          </a:rPr>
                        </m:ctrlPr>
                      </m:fPr>
                      <m:num>
                        <m:r>
                          <a:rPr lang="en-US" altLang="zh-CN" sz="2000" i="1">
                            <a:latin typeface="Cambria Math" panose="02040503050406030204" pitchFamily="18" charset="0"/>
                            <a:ea typeface="Cambria Math" panose="02040503050406030204" pitchFamily="18" charset="0"/>
                          </a:rPr>
                          <m:t>𝜶</m:t>
                        </m:r>
                        <m:d>
                          <m:dPr>
                            <m:ctrlPr>
                              <a:rPr lang="en-US" altLang="zh-CN" sz="2000" i="1">
                                <a:latin typeface="Cambria Math"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𝒊</m:t>
                            </m:r>
                          </m:e>
                        </m:d>
                      </m:num>
                      <m:den>
                        <m:r>
                          <a:rPr lang="en-US" altLang="zh-CN" sz="2000" i="1">
                            <a:latin typeface="Cambria Math" panose="02040503050406030204" pitchFamily="18" charset="0"/>
                            <a:ea typeface="Cambria Math" panose="02040503050406030204" pitchFamily="18" charset="0"/>
                          </a:rPr>
                          <m:t>𝜷</m:t>
                        </m:r>
                      </m:den>
                    </m:f>
                    <m:f>
                      <m:fPr>
                        <m:ctrlPr>
                          <a:rPr lang="en-US" altLang="zh-CN" sz="2000" i="1" smtClean="0">
                            <a:latin typeface="Cambria Math" charset="0"/>
                            <a:ea typeface="Cambria Math" panose="02040503050406030204" pitchFamily="18" charset="0"/>
                          </a:rPr>
                        </m:ctrlPr>
                      </m:fPr>
                      <m:num>
                        <m:sSup>
                          <m:sSupPr>
                            <m:ctrlPr>
                              <a:rPr lang="en-US" altLang="zh-CN" sz="2000" i="1" smtClean="0">
                                <a:latin typeface="Cambria Math" charset="0"/>
                                <a:ea typeface="Cambria Math" panose="02040503050406030204" pitchFamily="18" charset="0"/>
                              </a:rPr>
                            </m:ctrlPr>
                          </m:sSupPr>
                          <m:e>
                            <m:r>
                              <a:rPr lang="en-US" altLang="zh-CN" sz="2000" i="1">
                                <a:latin typeface="Cambria Math" panose="02040503050406030204" pitchFamily="18" charset="0"/>
                              </a:rPr>
                              <m:t>𝒔</m:t>
                            </m:r>
                            <m:d>
                              <m:dPr>
                                <m:ctrlPr>
                                  <a:rPr lang="en-US" altLang="zh-CN" sz="2000" i="1">
                                    <a:latin typeface="Cambria Math" charset="0"/>
                                  </a:rPr>
                                </m:ctrlPr>
                              </m:dPr>
                              <m:e>
                                <m:r>
                                  <a:rPr lang="en-US" altLang="zh-CN" sz="2000" i="1">
                                    <a:latin typeface="Cambria Math" panose="02040503050406030204" pitchFamily="18" charset="0"/>
                                  </a:rPr>
                                  <m:t>𝒊</m:t>
                                </m:r>
                              </m:e>
                            </m:d>
                          </m:e>
                          <m:sup>
                            <m:r>
                              <a:rPr lang="en-US" altLang="zh-CN" sz="2000" b="1" i="1" smtClean="0">
                                <a:latin typeface="Cambria Math" panose="02040503050406030204" pitchFamily="18" charset="0"/>
                                <a:ea typeface="Cambria Math" panose="02040503050406030204" pitchFamily="18" charset="0"/>
                              </a:rPr>
                              <m:t>𝟐</m:t>
                            </m:r>
                          </m:sup>
                        </m:sSup>
                      </m:num>
                      <m:den>
                        <m:r>
                          <a:rPr lang="en-US" altLang="zh-CN" sz="2000" i="1">
                            <a:latin typeface="Cambria Math" panose="02040503050406030204" pitchFamily="18" charset="0"/>
                            <a:ea typeface="Cambria Math" panose="02040503050406030204" pitchFamily="18" charset="0"/>
                          </a:rPr>
                          <m:t>𝒇</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𝒊</m:t>
                        </m:r>
                        <m:r>
                          <a:rPr lang="en-US" altLang="zh-CN" sz="2000" i="1">
                            <a:latin typeface="Cambria Math" panose="02040503050406030204" pitchFamily="18" charset="0"/>
                            <a:ea typeface="Cambria Math" panose="02040503050406030204" pitchFamily="18" charset="0"/>
                          </a:rPr>
                          <m:t>)</m:t>
                        </m:r>
                      </m:den>
                    </m:f>
                    <m:r>
                      <a:rPr lang="en-US" altLang="zh-CN" sz="2000" i="1">
                        <a:latin typeface="Cambria Math" panose="02040503050406030204" pitchFamily="18" charset="0"/>
                      </a:rPr>
                      <m:t>,</m:t>
                    </m:r>
                    <m:r>
                      <a:rPr lang="en-US" altLang="zh-CN" sz="2000" i="1">
                        <a:latin typeface="Cambria Math" panose="02040503050406030204" pitchFamily="18" charset="0"/>
                      </a:rPr>
                      <m:t>𝑴</m:t>
                    </m:r>
                    <m:r>
                      <a:rPr lang="en-US" altLang="zh-CN" sz="2000" i="1">
                        <a:latin typeface="Cambria Math" panose="02040503050406030204" pitchFamily="18" charset="0"/>
                      </a:rPr>
                      <m:t>)</m:t>
                    </m:r>
                  </m:oMath>
                </a14:m>
                <a:endParaRPr lang="en-US" altLang="zh-CN" sz="2000" dirty="0"/>
              </a:p>
              <a:p>
                <a:pPr>
                  <a:defRPr/>
                </a:pPr>
                <a:endParaRPr lang="en-US" altLang="zh-CN" dirty="0"/>
              </a:p>
              <a:p>
                <a:pPr>
                  <a:defRPr/>
                </a:pPr>
                <a:endParaRPr lang="en-US" altLang="zh-CN" dirty="0"/>
              </a:p>
              <a:p>
                <a:pPr eaLnBrk="1" hangingPunct="1">
                  <a:defRPr/>
                </a:pPr>
                <a:endParaRPr altLang="zh-CN" dirty="0"/>
              </a:p>
            </p:txBody>
          </p:sp>
        </mc:Choice>
        <mc:Fallback xmlns="">
          <p:sp>
            <p:nvSpPr>
              <p:cNvPr id="43012" name="内容占位符 4"/>
              <p:cNvSpPr>
                <a:spLocks noGrp="1" noRot="1" noChangeAspect="1" noMove="1" noResize="1" noEditPoints="1" noAdjustHandles="1" noChangeArrowheads="1" noChangeShapeType="1" noTextEdit="1"/>
              </p:cNvSpPr>
              <p:nvPr>
                <p:ph idx="4294967295"/>
              </p:nvPr>
            </p:nvSpPr>
            <p:spPr>
              <a:xfrm>
                <a:off x="0" y="566419"/>
                <a:ext cx="7886700" cy="6291581"/>
              </a:xfrm>
              <a:blipFill>
                <a:blip r:embed="rId3"/>
                <a:stretch>
                  <a:fillRect l="-2899" t="-8871"/>
                </a:stretch>
              </a:blipFill>
            </p:spPr>
            <p:txBody>
              <a:bodyPr/>
              <a:lstStyle/>
              <a:p>
                <a:r>
                  <a:rPr lang="zh-CN" altLang="en-US">
                    <a:noFill/>
                  </a:rPr>
                  <a:t> </a:t>
                </a:r>
              </a:p>
            </p:txBody>
          </p:sp>
        </mc:Fallback>
      </mc:AlternateContent>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12</a:t>
            </a:fld>
            <a:endParaRPr lang="zh-CN" altLang="en-US" dirty="0"/>
          </a:p>
        </p:txBody>
      </p:sp>
      <p:sp>
        <p:nvSpPr>
          <p:cNvPr id="2" name="矩形 1">
            <a:extLst>
              <a:ext uri="{FF2B5EF4-FFF2-40B4-BE49-F238E27FC236}">
                <a16:creationId xmlns="" xmlns:a16="http://schemas.microsoft.com/office/drawing/2014/main" id="{A7FD5ACF-2DA5-485F-8668-169936D2092F}"/>
              </a:ext>
            </a:extLst>
          </p:cNvPr>
          <p:cNvSpPr/>
          <p:nvPr/>
        </p:nvSpPr>
        <p:spPr>
          <a:xfrm>
            <a:off x="2267744" y="2636912"/>
            <a:ext cx="1008112"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800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3012">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3012">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30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AFL</a:t>
            </a:r>
            <a:r>
              <a:rPr lang="zh-CN" altLang="en-US" dirty="0">
                <a:solidFill>
                  <a:srgbClr val="622820"/>
                </a:solidFill>
                <a:latin typeface="隶书" panose="02010509060101010101" pitchFamily="49" charset="-122"/>
                <a:ea typeface="隶书" panose="02010509060101010101" pitchFamily="49" charset="-122"/>
              </a:rPr>
              <a:t>改进：</a:t>
            </a:r>
            <a:r>
              <a:rPr lang="en-US" altLang="zh-CN" dirty="0">
                <a:latin typeface="隶书" panose="02010509060101010101" pitchFamily="49" charset="-122"/>
                <a:ea typeface="隶书" panose="02010509060101010101" pitchFamily="49" charset="-122"/>
              </a:rPr>
              <a:t> Hawkeye</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146883" y="584200"/>
            <a:ext cx="7886700" cy="5329237"/>
          </a:xfrm>
        </p:spPr>
        <p:txBody>
          <a:bodyPr/>
          <a:lstStyle/>
          <a:p>
            <a:pPr marL="457200" indent="-457200" eaLnBrk="1" hangingPunct="1">
              <a:buFont typeface="+mj-lt"/>
              <a:buAutoNum type="arabicPeriod"/>
              <a:defRPr/>
            </a:pPr>
            <a:endParaRPr lang="en-US" altLang="zh-CN" dirty="0"/>
          </a:p>
          <a:p>
            <a:pPr eaLnBrk="1" hangingPunct="1">
              <a:defRPr/>
            </a:pPr>
            <a:r>
              <a:rPr lang="zh-CN" altLang="en-US" dirty="0"/>
              <a:t>改进原因：</a:t>
            </a:r>
            <a:endParaRPr lang="en-US" altLang="zh-CN" dirty="0"/>
          </a:p>
          <a:p>
            <a:pPr eaLnBrk="1" hangingPunct="1">
              <a:defRPr/>
            </a:pPr>
            <a:endParaRPr lang="en-US" altLang="zh-CN" dirty="0"/>
          </a:p>
          <a:p>
            <a:pPr eaLnBrk="1" hangingPunct="1">
              <a:buFont typeface="Wingdings" pitchFamily="2" charset="2"/>
              <a:buChar char="ü"/>
              <a:defRPr/>
            </a:pPr>
            <a:r>
              <a:rPr lang="zh-CN" altLang="en-US" dirty="0"/>
              <a:t>挑战：</a:t>
            </a:r>
            <a:endParaRPr lang="en-US" altLang="zh-CN" dirty="0"/>
          </a:p>
          <a:p>
            <a:pPr lvl="1">
              <a:buFont typeface="Wingdings" panose="05000000000000000000" pitchFamily="2" charset="2"/>
              <a:buChar char="Ø"/>
              <a:defRPr/>
            </a:pPr>
            <a:r>
              <a:rPr lang="zh-CN" altLang="en-US" sz="2400" dirty="0"/>
              <a:t>大部分的</a:t>
            </a:r>
            <a:r>
              <a:rPr lang="en-US" altLang="zh-CN" sz="2400" dirty="0"/>
              <a:t>fuzz</a:t>
            </a:r>
            <a:r>
              <a:rPr lang="zh-CN" altLang="en-US" sz="2400" dirty="0"/>
              <a:t>工具是基于覆盖率的，没有指向性</a:t>
            </a:r>
            <a:endParaRPr lang="en-US" altLang="zh-CN" sz="2400" dirty="0"/>
          </a:p>
          <a:p>
            <a:pPr lvl="1">
              <a:buFont typeface="Wingdings" panose="05000000000000000000" pitchFamily="2" charset="2"/>
              <a:buChar char="Ø"/>
              <a:defRPr/>
            </a:pPr>
            <a:r>
              <a:rPr lang="zh-CN" altLang="en-US" sz="2400" dirty="0"/>
              <a:t>现有的指向性</a:t>
            </a:r>
            <a:r>
              <a:rPr lang="en-US" altLang="zh-CN" sz="2400" dirty="0"/>
              <a:t>Fuzz</a:t>
            </a:r>
            <a:r>
              <a:rPr lang="zh-CN" altLang="en-US" sz="2400" dirty="0"/>
              <a:t>方法</a:t>
            </a:r>
            <a:r>
              <a:rPr lang="en-US" altLang="zh-CN" sz="2400" dirty="0"/>
              <a:t>(</a:t>
            </a:r>
            <a:r>
              <a:rPr lang="en-US" altLang="zh-CN" sz="2400" dirty="0" err="1"/>
              <a:t>AFLGo</a:t>
            </a:r>
            <a:r>
              <a:rPr lang="en-US" altLang="zh-CN" sz="2400" dirty="0"/>
              <a:t>)</a:t>
            </a:r>
            <a:r>
              <a:rPr lang="zh-CN" altLang="en-US" sz="2400" dirty="0"/>
              <a:t>存在偏向于短路径，有些长路径上会存在</a:t>
            </a:r>
            <a:r>
              <a:rPr lang="en-US" altLang="zh-CN" sz="2400" dirty="0"/>
              <a:t>crash</a:t>
            </a:r>
          </a:p>
          <a:p>
            <a:pPr marL="0" indent="0" eaLnBrk="1" hangingPunct="1">
              <a:buNone/>
              <a:defRPr/>
            </a:pPr>
            <a:endParaRPr lang="en-US" altLang="zh-CN" dirty="0"/>
          </a:p>
          <a:p>
            <a:pPr eaLnBrk="1" hangingPunct="1">
              <a:buFont typeface="Wingdings" pitchFamily="2" charset="2"/>
              <a:buChar char="ü"/>
              <a:defRPr/>
            </a:pPr>
            <a:r>
              <a:rPr lang="zh-CN" altLang="en-US" dirty="0"/>
              <a:t>改进方向：分配更多能量给长路径</a:t>
            </a: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13</a:t>
            </a:fld>
            <a:endParaRPr lang="zh-CN" altLang="en-US" dirty="0"/>
          </a:p>
        </p:txBody>
      </p:sp>
    </p:spTree>
    <p:extLst>
      <p:ext uri="{BB962C8B-B14F-4D97-AF65-F5344CB8AC3E}">
        <p14:creationId xmlns:p14="http://schemas.microsoft.com/office/powerpoint/2010/main" val="305428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latin typeface="隶书" panose="02010509060101010101" pitchFamily="49" charset="-122"/>
                <a:ea typeface="隶书" panose="02010509060101010101" pitchFamily="49" charset="-122"/>
              </a:rPr>
              <a:t>AFL</a:t>
            </a:r>
            <a:r>
              <a:rPr lang="zh-CN" altLang="en-US" dirty="0">
                <a:latin typeface="隶书" panose="02010509060101010101" pitchFamily="49" charset="-122"/>
                <a:ea typeface="隶书" panose="02010509060101010101" pitchFamily="49" charset="-122"/>
              </a:rPr>
              <a:t>改进：</a:t>
            </a:r>
            <a:r>
              <a:rPr lang="en-US" altLang="zh-CN" dirty="0">
                <a:latin typeface="隶书" panose="02010509060101010101" pitchFamily="49" charset="-122"/>
                <a:ea typeface="隶书" panose="02010509060101010101" pitchFamily="49" charset="-122"/>
              </a:rPr>
              <a:t>Hawkeye</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16746" y="332011"/>
            <a:ext cx="7886700" cy="5329237"/>
          </a:xfrm>
        </p:spPr>
        <p:txBody>
          <a:bodyPr/>
          <a:lstStyle/>
          <a:p>
            <a:pPr marL="0" indent="0" eaLnBrk="1" hangingPunct="1">
              <a:buNone/>
              <a:defRPr/>
            </a:pPr>
            <a:endParaRPr lang="en-US" altLang="zh-CN" dirty="0"/>
          </a:p>
          <a:p>
            <a:pPr>
              <a:defRPr/>
            </a:pPr>
            <a:r>
              <a:rPr lang="en-US" altLang="zh-CN" dirty="0"/>
              <a:t>Hawkeye</a:t>
            </a:r>
            <a:r>
              <a:rPr lang="zh-CN" altLang="en-US" dirty="0"/>
              <a:t>改进方法：静态分析 </a:t>
            </a:r>
            <a:r>
              <a:rPr lang="en-US" altLang="zh-CN" dirty="0"/>
              <a:t>+ fuzzing loop</a:t>
            </a:r>
          </a:p>
          <a:p>
            <a:pPr eaLnBrk="1" hangingPunct="1">
              <a:defRPr/>
            </a:pPr>
            <a:endParaRPr lang="en-US" altLang="zh-CN" dirty="0"/>
          </a:p>
          <a:p>
            <a:pPr eaLnBrk="1" hangingPunct="1">
              <a:defRPr/>
            </a:pPr>
            <a:endParaRPr lang="en-US" altLang="zh-CN" dirty="0"/>
          </a:p>
          <a:p>
            <a:pPr eaLnBrk="1" hangingPunct="1">
              <a:defRPr/>
            </a:pPr>
            <a:endParaRPr lang="en-US" altLang="zh-CN" dirty="0"/>
          </a:p>
          <a:p>
            <a:pPr eaLnBrk="1" hangingPunct="1">
              <a:defRPr/>
            </a:pPr>
            <a:endParaRPr lang="en-US" altLang="zh-CN" dirty="0"/>
          </a:p>
          <a:p>
            <a:pPr marL="0" indent="0" eaLnBrk="1" hangingPunct="1">
              <a:buNone/>
              <a:defRPr/>
            </a:pPr>
            <a:endParaRPr lang="en-US" altLang="zh-CN" dirty="0"/>
          </a:p>
          <a:p>
            <a:pPr marL="0" indent="0" eaLnBrk="1" hangingPunct="1">
              <a:buNone/>
              <a:defRPr/>
            </a:pPr>
            <a:endParaRPr lang="en-US" altLang="zh-CN" dirty="0"/>
          </a:p>
          <a:p>
            <a:pPr lvl="1">
              <a:buFont typeface="Wingdings" panose="05000000000000000000" pitchFamily="2" charset="2"/>
              <a:buChar char="l"/>
              <a:defRPr/>
            </a:pPr>
            <a:r>
              <a:rPr lang="en-US" altLang="zh-CN" dirty="0"/>
              <a:t> </a:t>
            </a:r>
            <a:r>
              <a:rPr lang="zh-CN" altLang="en-US" dirty="0"/>
              <a:t>静态分析：构建</a:t>
            </a:r>
            <a:r>
              <a:rPr lang="en-US" altLang="zh-CN" dirty="0"/>
              <a:t>CFG(control flow graph)</a:t>
            </a:r>
            <a:r>
              <a:rPr lang="zh-CN" altLang="en-US" dirty="0"/>
              <a:t>，</a:t>
            </a:r>
            <a:r>
              <a:rPr lang="en-US" altLang="zh-CN" dirty="0"/>
              <a:t>CG(call graph)</a:t>
            </a:r>
          </a:p>
          <a:p>
            <a:pPr lvl="1">
              <a:buFont typeface="Wingdings" panose="05000000000000000000" pitchFamily="2" charset="2"/>
              <a:buChar char="l"/>
              <a:defRPr/>
            </a:pPr>
            <a:endParaRPr lang="en-US" altLang="zh-CN" dirty="0"/>
          </a:p>
          <a:p>
            <a:pPr marL="0" indent="0" eaLnBrk="1" hangingPunct="1">
              <a:buNone/>
              <a:defRPr/>
            </a:pPr>
            <a:endParaRPr lang="en-US" altLang="zh-CN" dirty="0"/>
          </a:p>
          <a:p>
            <a:pPr marL="0" indent="0" eaLnBrk="1" hangingPunct="1">
              <a:buNone/>
              <a:defRPr/>
            </a:pPr>
            <a:endParaRPr lang="en-US"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14</a:t>
            </a:fld>
            <a:endParaRPr lang="zh-CN" altLang="en-US" dirty="0"/>
          </a:p>
        </p:txBody>
      </p:sp>
      <p:pic>
        <p:nvPicPr>
          <p:cNvPr id="2" name="图片 1">
            <a:extLst>
              <a:ext uri="{FF2B5EF4-FFF2-40B4-BE49-F238E27FC236}">
                <a16:creationId xmlns="" xmlns:a16="http://schemas.microsoft.com/office/drawing/2014/main" id="{9188D942-3829-4851-BE1A-123DDD9E06D6}"/>
              </a:ext>
            </a:extLst>
          </p:cNvPr>
          <p:cNvPicPr>
            <a:picLocks noChangeAspect="1"/>
          </p:cNvPicPr>
          <p:nvPr/>
        </p:nvPicPr>
        <p:blipFill>
          <a:blip r:embed="rId3"/>
          <a:stretch>
            <a:fillRect/>
          </a:stretch>
        </p:blipFill>
        <p:spPr>
          <a:xfrm>
            <a:off x="0" y="1268760"/>
            <a:ext cx="9144000" cy="2114879"/>
          </a:xfrm>
          <a:prstGeom prst="rect">
            <a:avLst/>
          </a:prstGeom>
        </p:spPr>
      </p:pic>
      <p:pic>
        <p:nvPicPr>
          <p:cNvPr id="3" name="图片 2">
            <a:extLst>
              <a:ext uri="{FF2B5EF4-FFF2-40B4-BE49-F238E27FC236}">
                <a16:creationId xmlns="" xmlns:a16="http://schemas.microsoft.com/office/drawing/2014/main" id="{AE19601F-CEDE-4096-9FCC-E6F79FB83D1A}"/>
              </a:ext>
            </a:extLst>
          </p:cNvPr>
          <p:cNvPicPr>
            <a:picLocks noChangeAspect="1"/>
          </p:cNvPicPr>
          <p:nvPr/>
        </p:nvPicPr>
        <p:blipFill>
          <a:blip r:embed="rId4"/>
          <a:stretch>
            <a:fillRect/>
          </a:stretch>
        </p:blipFill>
        <p:spPr>
          <a:xfrm>
            <a:off x="6720881" y="3379014"/>
            <a:ext cx="2476518" cy="3109935"/>
          </a:xfrm>
          <a:prstGeom prst="rect">
            <a:avLst/>
          </a:prstGeom>
        </p:spPr>
      </p:pic>
      <p:pic>
        <p:nvPicPr>
          <p:cNvPr id="5" name="图片 4">
            <a:extLst>
              <a:ext uri="{FF2B5EF4-FFF2-40B4-BE49-F238E27FC236}">
                <a16:creationId xmlns="" xmlns:a16="http://schemas.microsoft.com/office/drawing/2014/main" id="{260C1F0F-6D0E-483D-8EFC-DBA5B120F843}"/>
              </a:ext>
            </a:extLst>
          </p:cNvPr>
          <p:cNvPicPr>
            <a:picLocks noChangeAspect="1"/>
          </p:cNvPicPr>
          <p:nvPr/>
        </p:nvPicPr>
        <p:blipFill>
          <a:blip r:embed="rId5"/>
          <a:stretch>
            <a:fillRect/>
          </a:stretch>
        </p:blipFill>
        <p:spPr>
          <a:xfrm>
            <a:off x="6806529" y="3506628"/>
            <a:ext cx="2388069" cy="2691185"/>
          </a:xfrm>
          <a:prstGeom prst="rect">
            <a:avLst/>
          </a:prstGeom>
        </p:spPr>
      </p:pic>
      <p:grpSp>
        <p:nvGrpSpPr>
          <p:cNvPr id="12" name="组合 11">
            <a:extLst>
              <a:ext uri="{FF2B5EF4-FFF2-40B4-BE49-F238E27FC236}">
                <a16:creationId xmlns="" xmlns:a16="http://schemas.microsoft.com/office/drawing/2014/main" id="{8441D225-A927-4FB6-B31E-71AB2E4ABF41}"/>
              </a:ext>
            </a:extLst>
          </p:cNvPr>
          <p:cNvGrpSpPr/>
          <p:nvPr/>
        </p:nvGrpSpPr>
        <p:grpSpPr>
          <a:xfrm>
            <a:off x="395536" y="4273289"/>
            <a:ext cx="8681789" cy="1748587"/>
            <a:chOff x="395536" y="4273289"/>
            <a:chExt cx="8681789" cy="1748587"/>
          </a:xfrm>
        </p:grpSpPr>
        <p:grpSp>
          <p:nvGrpSpPr>
            <p:cNvPr id="6" name="组合 5">
              <a:extLst>
                <a:ext uri="{FF2B5EF4-FFF2-40B4-BE49-F238E27FC236}">
                  <a16:creationId xmlns="" xmlns:a16="http://schemas.microsoft.com/office/drawing/2014/main" id="{74382C78-F2F6-4316-B276-D2C42CFEB36F}"/>
                </a:ext>
              </a:extLst>
            </p:cNvPr>
            <p:cNvGrpSpPr/>
            <p:nvPr/>
          </p:nvGrpSpPr>
          <p:grpSpPr>
            <a:xfrm>
              <a:off x="3892749" y="4273289"/>
              <a:ext cx="5184576" cy="944815"/>
              <a:chOff x="3419872" y="4293097"/>
              <a:chExt cx="5184576" cy="944815"/>
            </a:xfrm>
          </p:grpSpPr>
          <p:sp>
            <p:nvSpPr>
              <p:cNvPr id="16" name="右大括号 15">
                <a:extLst>
                  <a:ext uri="{FF2B5EF4-FFF2-40B4-BE49-F238E27FC236}">
                    <a16:creationId xmlns="" xmlns:a16="http://schemas.microsoft.com/office/drawing/2014/main" id="{696CF4BB-3DBF-4A08-83D5-C44B7F96B9D1}"/>
                  </a:ext>
                </a:extLst>
              </p:cNvPr>
              <p:cNvSpPr/>
              <p:nvPr/>
            </p:nvSpPr>
            <p:spPr>
              <a:xfrm>
                <a:off x="3851920" y="4725144"/>
                <a:ext cx="197899" cy="512768"/>
              </a:xfrm>
              <a:prstGeom prst="rightBrac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 xmlns:a16="http://schemas.microsoft.com/office/drawing/2014/main" id="{26DD7A62-D969-47F6-B386-549002DB2762}"/>
                  </a:ext>
                </a:extLst>
              </p:cNvPr>
              <p:cNvSpPr txBox="1"/>
              <p:nvPr/>
            </p:nvSpPr>
            <p:spPr>
              <a:xfrm>
                <a:off x="4139952" y="4780498"/>
                <a:ext cx="2061943" cy="369332"/>
              </a:xfrm>
              <a:prstGeom prst="rect">
                <a:avLst/>
              </a:prstGeom>
              <a:noFill/>
            </p:spPr>
            <p:txBody>
              <a:bodyPr wrap="square" rtlCol="0">
                <a:spAutoFit/>
              </a:bodyPr>
              <a:lstStyle/>
              <a:p>
                <a:r>
                  <a:rPr lang="zh-CN" altLang="en-US" dirty="0"/>
                  <a:t>覆盖函数的相似度</a:t>
                </a:r>
              </a:p>
            </p:txBody>
          </p:sp>
          <p:sp>
            <p:nvSpPr>
              <p:cNvPr id="19" name="右大括号 18">
                <a:extLst>
                  <a:ext uri="{FF2B5EF4-FFF2-40B4-BE49-F238E27FC236}">
                    <a16:creationId xmlns="" xmlns:a16="http://schemas.microsoft.com/office/drawing/2014/main" id="{D3A5D654-964E-4AF2-9F74-C96D5F8F21EA}"/>
                  </a:ext>
                </a:extLst>
              </p:cNvPr>
              <p:cNvSpPr/>
              <p:nvPr/>
            </p:nvSpPr>
            <p:spPr>
              <a:xfrm>
                <a:off x="6237808" y="4452396"/>
                <a:ext cx="197899" cy="512768"/>
              </a:xfrm>
              <a:prstGeom prst="rightBrac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a:extLst>
                  <a:ext uri="{FF2B5EF4-FFF2-40B4-BE49-F238E27FC236}">
                    <a16:creationId xmlns="" xmlns:a16="http://schemas.microsoft.com/office/drawing/2014/main" id="{87DD0ED3-E3D3-46A7-A72F-2FA819B66FB2}"/>
                  </a:ext>
                </a:extLst>
              </p:cNvPr>
              <p:cNvSpPr txBox="1"/>
              <p:nvPr/>
            </p:nvSpPr>
            <p:spPr>
              <a:xfrm>
                <a:off x="6542505" y="4509120"/>
                <a:ext cx="2061943" cy="369332"/>
              </a:xfrm>
              <a:prstGeom prst="rect">
                <a:avLst/>
              </a:prstGeom>
              <a:noFill/>
            </p:spPr>
            <p:txBody>
              <a:bodyPr wrap="square" rtlCol="0">
                <a:spAutoFit/>
              </a:bodyPr>
              <a:lstStyle/>
              <a:p>
                <a:r>
                  <a:rPr lang="zh-CN" altLang="en-US" dirty="0"/>
                  <a:t>能量分配函数</a:t>
                </a:r>
              </a:p>
            </p:txBody>
          </p:sp>
          <p:cxnSp>
            <p:nvCxnSpPr>
              <p:cNvPr id="21" name="直接箭头连接符 20">
                <a:extLst>
                  <a:ext uri="{FF2B5EF4-FFF2-40B4-BE49-F238E27FC236}">
                    <a16:creationId xmlns="" xmlns:a16="http://schemas.microsoft.com/office/drawing/2014/main" id="{48DAE77E-EC3C-4B5A-98B8-00697EBCECF6}"/>
                  </a:ext>
                </a:extLst>
              </p:cNvPr>
              <p:cNvCxnSpPr/>
              <p:nvPr/>
            </p:nvCxnSpPr>
            <p:spPr>
              <a:xfrm>
                <a:off x="3419872" y="4452396"/>
                <a:ext cx="720080" cy="0"/>
              </a:xfrm>
              <a:prstGeom prst="straightConnector1">
                <a:avLst/>
              </a:prstGeom>
              <a:ln w="190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 xmlns:a16="http://schemas.microsoft.com/office/drawing/2014/main" id="{0518356A-3CC6-435C-84B5-D76AA3DE97A8}"/>
                  </a:ext>
                </a:extLst>
              </p:cNvPr>
              <p:cNvSpPr txBox="1"/>
              <p:nvPr/>
            </p:nvSpPr>
            <p:spPr>
              <a:xfrm>
                <a:off x="4139952" y="4293097"/>
                <a:ext cx="2295755" cy="369332"/>
              </a:xfrm>
              <a:prstGeom prst="rect">
                <a:avLst/>
              </a:prstGeom>
              <a:noFill/>
            </p:spPr>
            <p:txBody>
              <a:bodyPr wrap="square" rtlCol="0">
                <a:spAutoFit/>
              </a:bodyPr>
              <a:lstStyle/>
              <a:p>
                <a:r>
                  <a:rPr lang="zh-CN" altLang="en-US" dirty="0"/>
                  <a:t>基本块</a:t>
                </a:r>
                <a:r>
                  <a:rPr lang="en-US" altLang="zh-CN" dirty="0"/>
                  <a:t>trace</a:t>
                </a:r>
                <a:r>
                  <a:rPr lang="zh-CN" altLang="en-US" dirty="0"/>
                  <a:t>的距离</a:t>
                </a:r>
              </a:p>
            </p:txBody>
          </p:sp>
        </p:grpSp>
        <p:pic>
          <p:nvPicPr>
            <p:cNvPr id="11" name="图片 10">
              <a:extLst>
                <a:ext uri="{FF2B5EF4-FFF2-40B4-BE49-F238E27FC236}">
                  <a16:creationId xmlns="" xmlns:a16="http://schemas.microsoft.com/office/drawing/2014/main" id="{7C0F2EFB-432D-42D3-905F-8C07D885E41A}"/>
                </a:ext>
              </a:extLst>
            </p:cNvPr>
            <p:cNvPicPr>
              <a:picLocks noChangeAspect="1"/>
            </p:cNvPicPr>
            <p:nvPr/>
          </p:nvPicPr>
          <p:blipFill>
            <a:blip r:embed="rId6"/>
            <a:stretch>
              <a:fillRect/>
            </a:stretch>
          </p:blipFill>
          <p:spPr>
            <a:xfrm>
              <a:off x="395536" y="4330770"/>
              <a:ext cx="3456384" cy="1691106"/>
            </a:xfrm>
            <a:prstGeom prst="rect">
              <a:avLst/>
            </a:prstGeom>
          </p:spPr>
        </p:pic>
      </p:grpSp>
    </p:spTree>
    <p:extLst>
      <p:ext uri="{BB962C8B-B14F-4D97-AF65-F5344CB8AC3E}">
        <p14:creationId xmlns:p14="http://schemas.microsoft.com/office/powerpoint/2010/main" val="1262342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latin typeface="隶书" panose="02010509060101010101" pitchFamily="49" charset="-122"/>
                <a:ea typeface="隶书" panose="02010509060101010101" pitchFamily="49" charset="-122"/>
              </a:rPr>
              <a:t>Hawkeye</a:t>
            </a:r>
            <a:r>
              <a:rPr lang="zh-CN" altLang="en-US" dirty="0">
                <a:latin typeface="隶书" panose="02010509060101010101" pitchFamily="49" charset="-122"/>
                <a:ea typeface="隶书" panose="02010509060101010101" pitchFamily="49" charset="-122"/>
              </a:rPr>
              <a:t>：能量分配策略</a:t>
            </a:r>
            <a:endParaRPr lang="zh-CN" dirty="0">
              <a:solidFill>
                <a:srgbClr val="622820"/>
              </a:solidFill>
              <a:latin typeface="隶书" panose="02010509060101010101" pitchFamily="49" charset="-122"/>
              <a:ea typeface="隶书" panose="02010509060101010101" pitchFamily="49" charset="-122"/>
            </a:endParaRPr>
          </a:p>
        </p:txBody>
      </p:sp>
      <mc:AlternateContent xmlns:mc="http://schemas.openxmlformats.org/markup-compatibility/2006" xmlns:a14="http://schemas.microsoft.com/office/drawing/2010/main">
        <mc:Choice Requires="a14">
          <p:sp>
            <p:nvSpPr>
              <p:cNvPr id="43012" name="内容占位符 4"/>
              <p:cNvSpPr>
                <a:spLocks noGrp="1"/>
              </p:cNvSpPr>
              <p:nvPr>
                <p:ph idx="4294967295"/>
              </p:nvPr>
            </p:nvSpPr>
            <p:spPr>
              <a:xfrm>
                <a:off x="16746" y="332011"/>
                <a:ext cx="7886700" cy="5329237"/>
              </a:xfrm>
            </p:spPr>
            <p:txBody>
              <a:bodyPr/>
              <a:lstStyle/>
              <a:p>
                <a:pPr marL="0" indent="0" eaLnBrk="1" hangingPunct="1">
                  <a:buNone/>
                  <a:defRPr/>
                </a:pPr>
                <a:endParaRPr lang="en-US" altLang="zh-CN" dirty="0">
                  <a:latin typeface="+mj-lt"/>
                </a:endParaRPr>
              </a:p>
              <a:p>
                <a:pPr>
                  <a:defRPr/>
                </a:pPr>
                <a:r>
                  <a:rPr lang="zh-CN" altLang="en-US" dirty="0">
                    <a:latin typeface="+mj-lt"/>
                  </a:rPr>
                  <a:t> 基本块级别的距离：</a:t>
                </a:r>
                <a14:m>
                  <m:oMath xmlns:m="http://schemas.openxmlformats.org/officeDocument/2006/math">
                    <m:r>
                      <a:rPr lang="en-US" altLang="zh-CN" sz="2000" b="0" i="1" dirty="0" smtClean="0">
                        <a:latin typeface="Cambria Math" panose="02040503050406030204" pitchFamily="18" charset="0"/>
                      </a:rPr>
                      <m:t>𝑑</m:t>
                    </m:r>
                    <m:r>
                      <a:rPr lang="en-US" altLang="zh-CN" sz="2000" b="0" i="1" baseline="-25000" dirty="0" err="1">
                        <a:latin typeface="Cambria Math" panose="02040503050406030204" pitchFamily="18" charset="0"/>
                      </a:rPr>
                      <m:t>𝑏</m:t>
                    </m:r>
                    <m:r>
                      <a:rPr lang="en-US" altLang="zh-CN" sz="2000" b="0" i="1" dirty="0">
                        <a:latin typeface="Cambria Math" panose="02040503050406030204" pitchFamily="18" charset="0"/>
                      </a:rPr>
                      <m:t>(</m:t>
                    </m:r>
                    <m:r>
                      <a:rPr lang="en-US" altLang="zh-CN" sz="2000" b="0" i="1" dirty="0">
                        <a:latin typeface="Cambria Math" panose="02040503050406030204" pitchFamily="18" charset="0"/>
                      </a:rPr>
                      <m:t>𝑚</m:t>
                    </m:r>
                    <m:r>
                      <a:rPr lang="en-US" altLang="zh-CN" sz="2000" b="0" i="1" baseline="-25000" dirty="0">
                        <a:latin typeface="Cambria Math" panose="02040503050406030204" pitchFamily="18" charset="0"/>
                      </a:rPr>
                      <m:t>1</m:t>
                    </m:r>
                    <m:r>
                      <a:rPr lang="en-US" altLang="zh-CN" sz="2000" b="0" i="1" dirty="0">
                        <a:latin typeface="Cambria Math" panose="02040503050406030204" pitchFamily="18" charset="0"/>
                      </a:rPr>
                      <m:t>,</m:t>
                    </m:r>
                    <m:r>
                      <a:rPr lang="en-US" altLang="zh-CN" sz="2000" b="0" i="1" dirty="0">
                        <a:latin typeface="Cambria Math" panose="02040503050406030204" pitchFamily="18" charset="0"/>
                      </a:rPr>
                      <m:t>𝑚</m:t>
                    </m:r>
                    <m:r>
                      <a:rPr lang="en-US" altLang="zh-CN" sz="2000" b="0" i="1" baseline="-25000" dirty="0">
                        <a:latin typeface="Cambria Math" panose="02040503050406030204" pitchFamily="18" charset="0"/>
                      </a:rPr>
                      <m:t>2</m:t>
                    </m:r>
                    <m:r>
                      <a:rPr lang="en-US" altLang="zh-CN" sz="2000" b="0" i="1" dirty="0">
                        <a:latin typeface="Cambria Math" panose="02040503050406030204" pitchFamily="18" charset="0"/>
                      </a:rPr>
                      <m:t>)</m:t>
                    </m:r>
                  </m:oMath>
                </a14:m>
                <a:r>
                  <a:rPr lang="zh-CN" altLang="en-US" sz="2000" b="0" dirty="0">
                    <a:latin typeface="+mj-lt"/>
                  </a:rPr>
                  <a:t>为基本块</a:t>
                </a:r>
                <a14:m>
                  <m:oMath xmlns:m="http://schemas.openxmlformats.org/officeDocument/2006/math">
                    <m:r>
                      <a:rPr lang="en-US" altLang="zh-CN" sz="2000" b="0" i="1" dirty="0" smtClean="0">
                        <a:latin typeface="Cambria Math" panose="02040503050406030204" pitchFamily="18" charset="0"/>
                      </a:rPr>
                      <m:t>𝑚</m:t>
                    </m:r>
                    <m:r>
                      <a:rPr lang="en-US" altLang="zh-CN" sz="2000" b="0" i="1" baseline="-25000" dirty="0">
                        <a:latin typeface="Cambria Math" panose="02040503050406030204" pitchFamily="18" charset="0"/>
                      </a:rPr>
                      <m:t>1</m:t>
                    </m:r>
                  </m:oMath>
                </a14:m>
                <a:r>
                  <a:rPr lang="zh-CN" altLang="en-US" sz="2000" b="0" dirty="0">
                    <a:latin typeface="+mj-lt"/>
                  </a:rPr>
                  <a:t>到</a:t>
                </a:r>
                <a14:m>
                  <m:oMath xmlns:m="http://schemas.openxmlformats.org/officeDocument/2006/math">
                    <m:r>
                      <a:rPr lang="en-US" altLang="zh-CN" sz="2000" b="0" i="1" dirty="0" smtClean="0">
                        <a:latin typeface="Cambria Math" panose="02040503050406030204" pitchFamily="18" charset="0"/>
                      </a:rPr>
                      <m:t>𝑚</m:t>
                    </m:r>
                    <m:r>
                      <a:rPr lang="en-US" altLang="zh-CN" sz="2000" b="0" i="1" baseline="-25000" dirty="0">
                        <a:latin typeface="Cambria Math" panose="02040503050406030204" pitchFamily="18" charset="0"/>
                      </a:rPr>
                      <m:t>2</m:t>
                    </m:r>
                  </m:oMath>
                </a14:m>
                <a:r>
                  <a:rPr lang="zh-CN" altLang="en-US" sz="2000" b="0" dirty="0">
                    <a:latin typeface="+mj-lt"/>
                  </a:rPr>
                  <a:t>的最短路径</a:t>
                </a:r>
                <a:endParaRPr lang="en-US" altLang="zh-CN" sz="2000" b="0" dirty="0">
                  <a:latin typeface="+mj-lt"/>
                </a:endParaRPr>
              </a:p>
              <a:p>
                <a:pPr marL="0" indent="0">
                  <a:buNone/>
                  <a:defRPr/>
                </a:pPr>
                <a:endParaRPr lang="en-US" altLang="zh-CN" dirty="0">
                  <a:latin typeface="+mj-lt"/>
                </a:endParaRPr>
              </a:p>
              <a:p>
                <a:pPr>
                  <a:defRPr/>
                </a:pPr>
                <a:r>
                  <a:rPr lang="zh-CN" altLang="en-US" dirty="0">
                    <a:latin typeface="+mj-lt"/>
                  </a:rPr>
                  <a:t> 基本块路径的距离：</a:t>
                </a: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r>
                  <a:rPr lang="en-US" altLang="zh-CN" sz="2200" b="0" dirty="0" err="1">
                    <a:latin typeface="+mj-lt"/>
                  </a:rPr>
                  <a:t>AFLGo</a:t>
                </a:r>
                <a:r>
                  <a:rPr lang="zh-CN" altLang="en-US" b="0" dirty="0">
                    <a:latin typeface="+mj-lt"/>
                  </a:rPr>
                  <a:t>：</a:t>
                </a:r>
                <a:endParaRPr lang="en-US" altLang="zh-CN" b="0" dirty="0">
                  <a:latin typeface="+mj-lt"/>
                </a:endParaRPr>
              </a:p>
              <a:p>
                <a:pPr marL="0" indent="0">
                  <a:buNone/>
                  <a:defRPr/>
                </a:pPr>
                <a:endParaRPr lang="en-US" altLang="zh-CN" dirty="0">
                  <a:latin typeface="+mj-lt"/>
                </a:endParaRPr>
              </a:p>
              <a:p>
                <a:pPr marL="0" indent="0">
                  <a:buNone/>
                  <a:defRPr/>
                </a:pPr>
                <a:r>
                  <a:rPr lang="en-US" altLang="zh-CN" dirty="0">
                    <a:latin typeface="+mj-lt"/>
                  </a:rPr>
                  <a:t> </a:t>
                </a:r>
              </a:p>
              <a:p>
                <a:pPr marL="457200" lvl="1" indent="0">
                  <a:buNone/>
                  <a:defRPr/>
                </a:pPr>
                <a:endParaRPr lang="en-US" altLang="zh-CN" dirty="0">
                  <a:latin typeface="+mj-lt"/>
                </a:endParaRPr>
              </a:p>
              <a:p>
                <a:pPr marL="0" indent="0" eaLnBrk="1" hangingPunct="1">
                  <a:buNone/>
                  <a:defRPr/>
                </a:pPr>
                <a:endParaRPr lang="en-US" altLang="zh-CN" dirty="0">
                  <a:latin typeface="+mj-lt"/>
                </a:endParaRPr>
              </a:p>
              <a:p>
                <a:pPr marL="0" indent="0">
                  <a:buNone/>
                  <a:defRPr/>
                </a:pPr>
                <a:r>
                  <a:rPr lang="en-US" altLang="zh-CN" dirty="0">
                    <a:latin typeface="+mj-lt"/>
                  </a:rPr>
                  <a:t> </a:t>
                </a:r>
              </a:p>
            </p:txBody>
          </p:sp>
        </mc:Choice>
        <mc:Fallback xmlns="">
          <p:sp>
            <p:nvSpPr>
              <p:cNvPr id="43012" name="内容占位符 4"/>
              <p:cNvSpPr>
                <a:spLocks noGrp="1" noRot="1" noChangeAspect="1" noMove="1" noResize="1" noEditPoints="1" noAdjustHandles="1" noChangeArrowheads="1" noChangeShapeType="1" noTextEdit="1"/>
              </p:cNvSpPr>
              <p:nvPr>
                <p:ph idx="4294967295"/>
              </p:nvPr>
            </p:nvSpPr>
            <p:spPr>
              <a:xfrm>
                <a:off x="16746" y="332011"/>
                <a:ext cx="7886700" cy="5329237"/>
              </a:xfrm>
              <a:blipFill>
                <a:blip r:embed="rId3"/>
                <a:stretch>
                  <a:fillRect l="-1083" b="-4571"/>
                </a:stretch>
              </a:blipFill>
            </p:spPr>
            <p:txBody>
              <a:bodyPr/>
              <a:lstStyle/>
              <a:p>
                <a:r>
                  <a:rPr lang="zh-CN" altLang="en-US">
                    <a:noFill/>
                  </a:rPr>
                  <a:t> </a:t>
                </a:r>
              </a:p>
            </p:txBody>
          </p:sp>
        </mc:Fallback>
      </mc:AlternateContent>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a:xfrm>
            <a:off x="7959778" y="6700603"/>
            <a:ext cx="1185758" cy="68732"/>
          </a:xfrm>
        </p:spPr>
        <p:txBody>
          <a:bodyPr/>
          <a:lstStyle/>
          <a:p>
            <a:fld id="{8A6D26B4-866C-4665-A6B1-E1D86A7FEB5A}" type="slidenum">
              <a:rPr lang="zh-CN" altLang="en-US" smtClean="0"/>
              <a:pPr/>
              <a:t>15</a:t>
            </a:fld>
            <a:endParaRPr lang="zh-CN" altLang="en-US" dirty="0"/>
          </a:p>
        </p:txBody>
      </p:sp>
      <p:pic>
        <p:nvPicPr>
          <p:cNvPr id="3" name="图片 2">
            <a:extLst>
              <a:ext uri="{FF2B5EF4-FFF2-40B4-BE49-F238E27FC236}">
                <a16:creationId xmlns="" xmlns:a16="http://schemas.microsoft.com/office/drawing/2014/main" id="{07B01618-9EA3-4FEE-BE88-2D1C7A5DDB63}"/>
              </a:ext>
            </a:extLst>
          </p:cNvPr>
          <p:cNvPicPr>
            <a:picLocks noChangeAspect="1"/>
          </p:cNvPicPr>
          <p:nvPr/>
        </p:nvPicPr>
        <p:blipFill>
          <a:blip r:embed="rId4"/>
          <a:stretch>
            <a:fillRect/>
          </a:stretch>
        </p:blipFill>
        <p:spPr>
          <a:xfrm>
            <a:off x="3174156" y="1444607"/>
            <a:ext cx="3956505" cy="936104"/>
          </a:xfrm>
          <a:prstGeom prst="rect">
            <a:avLst/>
          </a:prstGeom>
        </p:spPr>
      </p:pic>
      <p:sp>
        <p:nvSpPr>
          <p:cNvPr id="6" name="箭头: 下 5">
            <a:extLst>
              <a:ext uri="{FF2B5EF4-FFF2-40B4-BE49-F238E27FC236}">
                <a16:creationId xmlns="" xmlns:a16="http://schemas.microsoft.com/office/drawing/2014/main" id="{F9DB5039-AE90-4FA1-871E-656DFCC1AA6E}"/>
              </a:ext>
            </a:extLst>
          </p:cNvPr>
          <p:cNvSpPr/>
          <p:nvPr/>
        </p:nvSpPr>
        <p:spPr>
          <a:xfrm>
            <a:off x="1379451" y="1228607"/>
            <a:ext cx="216000" cy="432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 xmlns:a16="http://schemas.microsoft.com/office/drawing/2014/main" id="{792C375C-54BC-43C9-8FEA-30D517C6CA38}"/>
              </a:ext>
            </a:extLst>
          </p:cNvPr>
          <p:cNvPicPr>
            <a:picLocks noChangeAspect="1"/>
          </p:cNvPicPr>
          <p:nvPr/>
        </p:nvPicPr>
        <p:blipFill>
          <a:blip r:embed="rId5"/>
          <a:stretch>
            <a:fillRect/>
          </a:stretch>
        </p:blipFill>
        <p:spPr>
          <a:xfrm>
            <a:off x="6876256" y="2269644"/>
            <a:ext cx="1872208" cy="3723615"/>
          </a:xfrm>
          <a:prstGeom prst="rect">
            <a:avLst/>
          </a:prstGeom>
        </p:spPr>
      </p:pic>
      <p:pic>
        <p:nvPicPr>
          <p:cNvPr id="8" name="图片 7">
            <a:extLst>
              <a:ext uri="{FF2B5EF4-FFF2-40B4-BE49-F238E27FC236}">
                <a16:creationId xmlns="" xmlns:a16="http://schemas.microsoft.com/office/drawing/2014/main" id="{F33547F1-73DB-4E28-A8F1-3BB4232A05C2}"/>
              </a:ext>
            </a:extLst>
          </p:cNvPr>
          <p:cNvPicPr>
            <a:picLocks noChangeAspect="1"/>
          </p:cNvPicPr>
          <p:nvPr/>
        </p:nvPicPr>
        <p:blipFill>
          <a:blip r:embed="rId6"/>
          <a:stretch>
            <a:fillRect/>
          </a:stretch>
        </p:blipFill>
        <p:spPr>
          <a:xfrm>
            <a:off x="-36512" y="2492896"/>
            <a:ext cx="6265473" cy="1640728"/>
          </a:xfrm>
          <a:prstGeom prst="rect">
            <a:avLst/>
          </a:prstGeom>
        </p:spPr>
      </p:pic>
      <p:sp>
        <p:nvSpPr>
          <p:cNvPr id="10" name="文本框 9">
            <a:extLst>
              <a:ext uri="{FF2B5EF4-FFF2-40B4-BE49-F238E27FC236}">
                <a16:creationId xmlns="" xmlns:a16="http://schemas.microsoft.com/office/drawing/2014/main" id="{0FF0225A-7421-4DD7-9AB4-32368EC73CD5}"/>
              </a:ext>
            </a:extLst>
          </p:cNvPr>
          <p:cNvSpPr txBox="1"/>
          <p:nvPr/>
        </p:nvSpPr>
        <p:spPr>
          <a:xfrm>
            <a:off x="6876256" y="5999260"/>
            <a:ext cx="2304256" cy="369332"/>
          </a:xfrm>
          <a:prstGeom prst="rect">
            <a:avLst/>
          </a:prstGeom>
          <a:noFill/>
        </p:spPr>
        <p:txBody>
          <a:bodyPr wrap="square" rtlCol="0">
            <a:spAutoFit/>
          </a:bodyPr>
          <a:lstStyle/>
          <a:p>
            <a:r>
              <a:rPr lang="zh-CN" altLang="en-US" dirty="0"/>
              <a:t>图：函数的控制流图</a:t>
            </a:r>
          </a:p>
        </p:txBody>
      </p:sp>
      <p:sp>
        <p:nvSpPr>
          <p:cNvPr id="13" name="文本框 12">
            <a:extLst>
              <a:ext uri="{FF2B5EF4-FFF2-40B4-BE49-F238E27FC236}">
                <a16:creationId xmlns="" xmlns:a16="http://schemas.microsoft.com/office/drawing/2014/main" id="{FF284D54-5205-4816-852B-70629605A6AC}"/>
              </a:ext>
            </a:extLst>
          </p:cNvPr>
          <p:cNvSpPr txBox="1"/>
          <p:nvPr/>
        </p:nvSpPr>
        <p:spPr>
          <a:xfrm>
            <a:off x="7164288" y="1285301"/>
            <a:ext cx="1872208" cy="646331"/>
          </a:xfrm>
          <a:prstGeom prst="rect">
            <a:avLst/>
          </a:prstGeom>
          <a:noFill/>
          <a:ln>
            <a:solidFill>
              <a:schemeClr val="accent2">
                <a:lumMod val="75000"/>
              </a:schemeClr>
            </a:solidFill>
          </a:ln>
        </p:spPr>
        <p:txBody>
          <a:bodyPr wrap="square" rtlCol="0">
            <a:spAutoFit/>
          </a:bodyPr>
          <a:lstStyle/>
          <a:p>
            <a:r>
              <a:rPr lang="en-US" altLang="zh-CN" dirty="0">
                <a:latin typeface="宋体" panose="02010600030101010101" pitchFamily="2" charset="-122"/>
                <a:ea typeface="宋体" panose="02010600030101010101" pitchFamily="2" charset="-122"/>
              </a:rPr>
              <a:t>S:</a:t>
            </a:r>
            <a:r>
              <a:rPr lang="zh-CN" altLang="en-US" dirty="0">
                <a:latin typeface="宋体" panose="02010600030101010101" pitchFamily="2" charset="-122"/>
                <a:ea typeface="宋体" panose="02010600030101010101" pitchFamily="2" charset="-122"/>
              </a:rPr>
              <a:t>种子，</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T</a:t>
            </a:r>
            <a:r>
              <a:rPr lang="en-US" altLang="zh-CN" baseline="-25000"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：目标基本块</a:t>
            </a:r>
          </a:p>
        </p:txBody>
      </p:sp>
      <p:pic>
        <p:nvPicPr>
          <p:cNvPr id="11" name="图片 10">
            <a:extLst>
              <a:ext uri="{FF2B5EF4-FFF2-40B4-BE49-F238E27FC236}">
                <a16:creationId xmlns="" xmlns:a16="http://schemas.microsoft.com/office/drawing/2014/main" id="{9C129456-EF28-4E72-A99D-5598A0139EC0}"/>
              </a:ext>
            </a:extLst>
          </p:cNvPr>
          <p:cNvPicPr>
            <a:picLocks noChangeAspect="1"/>
          </p:cNvPicPr>
          <p:nvPr/>
        </p:nvPicPr>
        <p:blipFill>
          <a:blip r:embed="rId7"/>
          <a:stretch>
            <a:fillRect/>
          </a:stretch>
        </p:blipFill>
        <p:spPr>
          <a:xfrm>
            <a:off x="-84079" y="4154435"/>
            <a:ext cx="1872208" cy="476562"/>
          </a:xfrm>
          <a:prstGeom prst="rect">
            <a:avLst/>
          </a:prstGeom>
        </p:spPr>
      </p:pic>
      <p:pic>
        <p:nvPicPr>
          <p:cNvPr id="12" name="图片 11">
            <a:extLst>
              <a:ext uri="{FF2B5EF4-FFF2-40B4-BE49-F238E27FC236}">
                <a16:creationId xmlns="" xmlns:a16="http://schemas.microsoft.com/office/drawing/2014/main" id="{CC04CB12-39B5-4B4D-A58D-DF0DEBA749A5}"/>
              </a:ext>
            </a:extLst>
          </p:cNvPr>
          <p:cNvPicPr>
            <a:picLocks noChangeAspect="1"/>
          </p:cNvPicPr>
          <p:nvPr/>
        </p:nvPicPr>
        <p:blipFill>
          <a:blip r:embed="rId8"/>
          <a:stretch>
            <a:fillRect/>
          </a:stretch>
        </p:blipFill>
        <p:spPr>
          <a:xfrm>
            <a:off x="2051720" y="4154435"/>
            <a:ext cx="1922395" cy="476561"/>
          </a:xfrm>
          <a:prstGeom prst="rect">
            <a:avLst/>
          </a:prstGeom>
        </p:spPr>
      </p:pic>
      <p:pic>
        <p:nvPicPr>
          <p:cNvPr id="14" name="图片 13">
            <a:extLst>
              <a:ext uri="{FF2B5EF4-FFF2-40B4-BE49-F238E27FC236}">
                <a16:creationId xmlns="" xmlns:a16="http://schemas.microsoft.com/office/drawing/2014/main" id="{7987481A-CB59-4CB4-AC16-5D2D6C525024}"/>
              </a:ext>
            </a:extLst>
          </p:cNvPr>
          <p:cNvPicPr>
            <a:picLocks noChangeAspect="1"/>
          </p:cNvPicPr>
          <p:nvPr/>
        </p:nvPicPr>
        <p:blipFill>
          <a:blip r:embed="rId9"/>
          <a:stretch>
            <a:fillRect/>
          </a:stretch>
        </p:blipFill>
        <p:spPr>
          <a:xfrm>
            <a:off x="1187624" y="5207593"/>
            <a:ext cx="3976225" cy="579866"/>
          </a:xfrm>
          <a:prstGeom prst="rect">
            <a:avLst/>
          </a:prstGeom>
        </p:spPr>
      </p:pic>
    </p:spTree>
    <p:extLst>
      <p:ext uri="{BB962C8B-B14F-4D97-AF65-F5344CB8AC3E}">
        <p14:creationId xmlns:p14="http://schemas.microsoft.com/office/powerpoint/2010/main" val="1980880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 xmlns:a16="http://schemas.microsoft.com/office/drawing/2014/main" id="{654C8AFA-B652-4E51-870E-A643DFD03303}"/>
              </a:ext>
            </a:extLst>
          </p:cNvPr>
          <p:cNvPicPr>
            <a:picLocks noChangeAspect="1"/>
          </p:cNvPicPr>
          <p:nvPr/>
        </p:nvPicPr>
        <p:blipFill>
          <a:blip r:embed="rId3"/>
          <a:stretch>
            <a:fillRect/>
          </a:stretch>
        </p:blipFill>
        <p:spPr>
          <a:xfrm>
            <a:off x="3035092" y="4293096"/>
            <a:ext cx="3727855" cy="541034"/>
          </a:xfrm>
          <a:prstGeom prst="rect">
            <a:avLst/>
          </a:prstGeom>
        </p:spPr>
      </p:pic>
      <p:sp>
        <p:nvSpPr>
          <p:cNvPr id="9" name="标题 4"/>
          <p:cNvSpPr>
            <a:spLocks noGrp="1"/>
          </p:cNvSpPr>
          <p:nvPr>
            <p:ph type="title" idx="4294967295"/>
          </p:nvPr>
        </p:nvSpPr>
        <p:spPr>
          <a:xfrm>
            <a:off x="0" y="0"/>
            <a:ext cx="6480175" cy="584200"/>
          </a:xfrm>
        </p:spPr>
        <p:txBody>
          <a:bodyPr/>
          <a:lstStyle/>
          <a:p>
            <a:pPr>
              <a:defRPr/>
            </a:pPr>
            <a:r>
              <a:rPr lang="en-US" altLang="zh-CN" dirty="0">
                <a:latin typeface="隶书" panose="02010509060101010101" pitchFamily="49" charset="-122"/>
                <a:ea typeface="隶书" panose="02010509060101010101" pitchFamily="49" charset="-122"/>
              </a:rPr>
              <a:t>Hawkeye</a:t>
            </a:r>
            <a:r>
              <a:rPr lang="zh-CN" altLang="en-US" dirty="0">
                <a:latin typeface="隶书" panose="02010509060101010101" pitchFamily="49" charset="-122"/>
                <a:ea typeface="隶书" panose="02010509060101010101" pitchFamily="49" charset="-122"/>
              </a:rPr>
              <a:t>：能量分配策略</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16746" y="332011"/>
            <a:ext cx="7886700" cy="5329237"/>
          </a:xfrm>
        </p:spPr>
        <p:txBody>
          <a:bodyPr/>
          <a:lstStyle/>
          <a:p>
            <a:pPr marL="0" indent="0" eaLnBrk="1" hangingPunct="1">
              <a:buNone/>
              <a:defRPr/>
            </a:pPr>
            <a:endParaRPr lang="en-US" altLang="zh-CN" dirty="0">
              <a:latin typeface="+mj-lt"/>
            </a:endParaRPr>
          </a:p>
          <a:p>
            <a:pPr>
              <a:defRPr/>
            </a:pPr>
            <a:r>
              <a:rPr lang="zh-CN" altLang="en-US" dirty="0">
                <a:latin typeface="+mj-lt"/>
              </a:rPr>
              <a:t> 函数级别的距离 ：</a:t>
            </a:r>
            <a:endParaRPr lang="en-US" altLang="zh-CN" dirty="0">
              <a:latin typeface="+mj-lt"/>
            </a:endParaRPr>
          </a:p>
          <a:p>
            <a:pPr marL="0" indent="0">
              <a:buNone/>
              <a:defRPr/>
            </a:pPr>
            <a:endParaRPr lang="en-US" altLang="zh-CN" dirty="0">
              <a:latin typeface="+mj-lt"/>
            </a:endParaRPr>
          </a:p>
          <a:p>
            <a:pPr>
              <a:defRPr/>
            </a:pPr>
            <a:r>
              <a:rPr lang="zh-CN" altLang="en-US" dirty="0">
                <a:latin typeface="+mj-lt"/>
              </a:rPr>
              <a:t> 函数路径闭包 ：   </a:t>
            </a:r>
            <a:r>
              <a:rPr lang="zh-CN" altLang="en-US" sz="2000" b="0" dirty="0">
                <a:latin typeface="+mj-lt"/>
              </a:rPr>
              <a:t>例如</a:t>
            </a:r>
            <a:endParaRPr lang="en-US" altLang="zh-CN" sz="2000" b="0" dirty="0">
              <a:latin typeface="+mj-lt"/>
            </a:endParaRPr>
          </a:p>
          <a:p>
            <a:pPr eaLnBrk="1" hangingPunct="1">
              <a:defRPr/>
            </a:pPr>
            <a:endParaRPr lang="en-US" altLang="zh-CN" dirty="0">
              <a:latin typeface="+mj-lt"/>
            </a:endParaRPr>
          </a:p>
          <a:p>
            <a:pPr eaLnBrk="1" hangingPunct="1">
              <a:defRPr/>
            </a:pPr>
            <a:r>
              <a:rPr lang="en-US" altLang="zh-CN" dirty="0">
                <a:latin typeface="+mj-lt"/>
              </a:rPr>
              <a:t> </a:t>
            </a:r>
            <a:r>
              <a:rPr lang="zh-CN" altLang="en-US" dirty="0">
                <a:latin typeface="+mj-lt"/>
              </a:rPr>
              <a:t>覆盖函数的相似度：</a:t>
            </a: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endParaRPr lang="en-US" altLang="zh-CN" dirty="0">
              <a:latin typeface="+mj-lt"/>
            </a:endParaRPr>
          </a:p>
          <a:p>
            <a:pPr>
              <a:defRPr/>
            </a:pPr>
            <a:r>
              <a:rPr lang="zh-CN" altLang="en-US" dirty="0"/>
              <a:t> 能量分配函数： </a:t>
            </a:r>
          </a:p>
          <a:p>
            <a:pPr>
              <a:defRPr/>
            </a:pPr>
            <a:endParaRPr lang="en-US" altLang="zh-CN" dirty="0">
              <a:latin typeface="+mj-lt"/>
            </a:endParaRPr>
          </a:p>
          <a:p>
            <a:pPr marL="0" indent="0" eaLnBrk="1" hangingPunct="1">
              <a:buNone/>
              <a:defRPr/>
            </a:pPr>
            <a:endParaRPr lang="en-US" altLang="zh-CN" dirty="0">
              <a:latin typeface="+mj-lt"/>
            </a:endParaRPr>
          </a:p>
          <a:p>
            <a:pPr lvl="2">
              <a:buFont typeface="Wingdings" panose="05000000000000000000" pitchFamily="2" charset="2"/>
              <a:buChar char="Ø"/>
              <a:defRPr/>
            </a:pPr>
            <a:endParaRPr lang="en-US" altLang="zh-CN" dirty="0">
              <a:latin typeface="+mj-lt"/>
            </a:endParaRPr>
          </a:p>
          <a:p>
            <a:pPr lvl="1">
              <a:buFont typeface="Wingdings" panose="05000000000000000000" pitchFamily="2" charset="2"/>
              <a:buChar char="l"/>
              <a:defRPr/>
            </a:pPr>
            <a:endParaRPr lang="en-US" altLang="zh-CN" dirty="0">
              <a:latin typeface="+mj-lt"/>
            </a:endParaRPr>
          </a:p>
          <a:p>
            <a:pPr marL="0" indent="0" eaLnBrk="1" hangingPunct="1">
              <a:buNone/>
              <a:defRPr/>
            </a:pPr>
            <a:endParaRPr lang="en-US" altLang="zh-CN" dirty="0">
              <a:latin typeface="+mj-lt"/>
            </a:endParaRPr>
          </a:p>
          <a:p>
            <a:pPr marL="0" indent="0" eaLnBrk="1" hangingPunct="1">
              <a:buNone/>
              <a:defRPr/>
            </a:pPr>
            <a:endParaRPr lang="en-US" altLang="zh-CN" dirty="0">
              <a:latin typeface="+mj-lt"/>
            </a:endParaRPr>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16</a:t>
            </a:fld>
            <a:endParaRPr lang="zh-CN" altLang="en-US" dirty="0"/>
          </a:p>
        </p:txBody>
      </p:sp>
      <p:pic>
        <p:nvPicPr>
          <p:cNvPr id="5" name="图片 4">
            <a:extLst>
              <a:ext uri="{FF2B5EF4-FFF2-40B4-BE49-F238E27FC236}">
                <a16:creationId xmlns="" xmlns:a16="http://schemas.microsoft.com/office/drawing/2014/main" id="{1616E557-407D-4A7A-9B3C-7D608AE5D1FB}"/>
              </a:ext>
            </a:extLst>
          </p:cNvPr>
          <p:cNvPicPr>
            <a:picLocks noChangeAspect="1"/>
          </p:cNvPicPr>
          <p:nvPr/>
        </p:nvPicPr>
        <p:blipFill>
          <a:blip r:embed="rId4"/>
          <a:stretch>
            <a:fillRect/>
          </a:stretch>
        </p:blipFill>
        <p:spPr>
          <a:xfrm>
            <a:off x="2906516" y="544253"/>
            <a:ext cx="5646140" cy="820805"/>
          </a:xfrm>
          <a:prstGeom prst="rect">
            <a:avLst/>
          </a:prstGeom>
        </p:spPr>
      </p:pic>
      <p:sp>
        <p:nvSpPr>
          <p:cNvPr id="7" name="加号 6">
            <a:extLst>
              <a:ext uri="{FF2B5EF4-FFF2-40B4-BE49-F238E27FC236}">
                <a16:creationId xmlns="" xmlns:a16="http://schemas.microsoft.com/office/drawing/2014/main" id="{E3B7C246-D958-4EC0-B96D-248500999690}"/>
              </a:ext>
            </a:extLst>
          </p:cNvPr>
          <p:cNvSpPr/>
          <p:nvPr/>
        </p:nvSpPr>
        <p:spPr>
          <a:xfrm>
            <a:off x="1079612" y="1196752"/>
            <a:ext cx="432048" cy="425723"/>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a:extLst>
              <a:ext uri="{FF2B5EF4-FFF2-40B4-BE49-F238E27FC236}">
                <a16:creationId xmlns="" xmlns:a16="http://schemas.microsoft.com/office/drawing/2014/main" id="{D42B95EC-FA06-4E76-B4DE-FA725CAE432E}"/>
              </a:ext>
            </a:extLst>
          </p:cNvPr>
          <p:cNvSpPr/>
          <p:nvPr/>
        </p:nvSpPr>
        <p:spPr>
          <a:xfrm>
            <a:off x="1187624" y="2171586"/>
            <a:ext cx="216024" cy="432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 xmlns:a16="http://schemas.microsoft.com/office/drawing/2014/main" id="{678C6F1E-FF1C-4433-B9FB-316D361731CB}"/>
              </a:ext>
            </a:extLst>
          </p:cNvPr>
          <p:cNvPicPr>
            <a:picLocks noChangeAspect="1"/>
          </p:cNvPicPr>
          <p:nvPr/>
        </p:nvPicPr>
        <p:blipFill>
          <a:blip r:embed="rId5"/>
          <a:stretch>
            <a:fillRect/>
          </a:stretch>
        </p:blipFill>
        <p:spPr>
          <a:xfrm>
            <a:off x="3204221" y="2367893"/>
            <a:ext cx="3918065" cy="820805"/>
          </a:xfrm>
          <a:prstGeom prst="rect">
            <a:avLst/>
          </a:prstGeom>
        </p:spPr>
      </p:pic>
      <p:pic>
        <p:nvPicPr>
          <p:cNvPr id="13" name="图片 12">
            <a:extLst>
              <a:ext uri="{FF2B5EF4-FFF2-40B4-BE49-F238E27FC236}">
                <a16:creationId xmlns="" xmlns:a16="http://schemas.microsoft.com/office/drawing/2014/main" id="{9D722E75-C00C-4D13-92F9-FE88D62D384F}"/>
              </a:ext>
            </a:extLst>
          </p:cNvPr>
          <p:cNvPicPr>
            <a:picLocks noChangeAspect="1"/>
          </p:cNvPicPr>
          <p:nvPr/>
        </p:nvPicPr>
        <p:blipFill>
          <a:blip r:embed="rId6"/>
          <a:stretch>
            <a:fillRect/>
          </a:stretch>
        </p:blipFill>
        <p:spPr>
          <a:xfrm>
            <a:off x="7153694" y="2081649"/>
            <a:ext cx="1872208" cy="3723615"/>
          </a:xfrm>
          <a:prstGeom prst="rect">
            <a:avLst/>
          </a:prstGeom>
        </p:spPr>
      </p:pic>
      <p:pic>
        <p:nvPicPr>
          <p:cNvPr id="2" name="图片 1">
            <a:extLst>
              <a:ext uri="{FF2B5EF4-FFF2-40B4-BE49-F238E27FC236}">
                <a16:creationId xmlns="" xmlns:a16="http://schemas.microsoft.com/office/drawing/2014/main" id="{229E4371-55E5-476C-AAC4-D0AB2CE4430D}"/>
              </a:ext>
            </a:extLst>
          </p:cNvPr>
          <p:cNvPicPr>
            <a:picLocks noChangeAspect="1"/>
          </p:cNvPicPr>
          <p:nvPr/>
        </p:nvPicPr>
        <p:blipFill>
          <a:blip r:embed="rId7"/>
          <a:stretch>
            <a:fillRect/>
          </a:stretch>
        </p:blipFill>
        <p:spPr>
          <a:xfrm>
            <a:off x="3635896" y="1684722"/>
            <a:ext cx="2670595" cy="486864"/>
          </a:xfrm>
          <a:prstGeom prst="rect">
            <a:avLst/>
          </a:prstGeom>
        </p:spPr>
      </p:pic>
      <p:sp>
        <p:nvSpPr>
          <p:cNvPr id="14" name="文本框 13">
            <a:extLst>
              <a:ext uri="{FF2B5EF4-FFF2-40B4-BE49-F238E27FC236}">
                <a16:creationId xmlns="" xmlns:a16="http://schemas.microsoft.com/office/drawing/2014/main" id="{615C874A-6F83-4086-BDB6-A5C08EBAF900}"/>
              </a:ext>
            </a:extLst>
          </p:cNvPr>
          <p:cNvSpPr txBox="1"/>
          <p:nvPr/>
        </p:nvSpPr>
        <p:spPr>
          <a:xfrm>
            <a:off x="7092280" y="5939988"/>
            <a:ext cx="2304256" cy="369332"/>
          </a:xfrm>
          <a:prstGeom prst="rect">
            <a:avLst/>
          </a:prstGeom>
          <a:noFill/>
        </p:spPr>
        <p:txBody>
          <a:bodyPr wrap="square" rtlCol="0">
            <a:spAutoFit/>
          </a:bodyPr>
          <a:lstStyle/>
          <a:p>
            <a:r>
              <a:rPr lang="zh-CN" altLang="en-US" dirty="0"/>
              <a:t>图：程序的调用图</a:t>
            </a:r>
          </a:p>
        </p:txBody>
      </p:sp>
      <p:sp>
        <p:nvSpPr>
          <p:cNvPr id="16" name="文本框 15">
            <a:extLst>
              <a:ext uri="{FF2B5EF4-FFF2-40B4-BE49-F238E27FC236}">
                <a16:creationId xmlns="" xmlns:a16="http://schemas.microsoft.com/office/drawing/2014/main" id="{426F2A71-F078-41BF-B3D1-57C4726E908B}"/>
              </a:ext>
            </a:extLst>
          </p:cNvPr>
          <p:cNvSpPr txBox="1"/>
          <p:nvPr/>
        </p:nvSpPr>
        <p:spPr>
          <a:xfrm>
            <a:off x="7380312" y="1619508"/>
            <a:ext cx="1620336" cy="369332"/>
          </a:xfrm>
          <a:prstGeom prst="rect">
            <a:avLst/>
          </a:prstGeom>
          <a:noFill/>
          <a:ln>
            <a:solidFill>
              <a:schemeClr val="accent2">
                <a:lumMod val="75000"/>
              </a:schemeClr>
            </a:solidFill>
          </a:ln>
        </p:spPr>
        <p:txBody>
          <a:bodyPr wrap="square" rtlCol="0">
            <a:spAutoFit/>
          </a:bodyPr>
          <a:lstStyle/>
          <a:p>
            <a:r>
              <a:rPr lang="en-US" altLang="zh-CN" dirty="0" err="1">
                <a:latin typeface="宋体" panose="02010600030101010101" pitchFamily="2" charset="-122"/>
                <a:ea typeface="宋体" panose="02010600030101010101" pitchFamily="2" charset="-122"/>
              </a:rPr>
              <a:t>T</a:t>
            </a:r>
            <a:r>
              <a:rPr lang="en-US" altLang="zh-CN" baseline="-25000" dirty="0" err="1">
                <a:latin typeface="宋体" panose="02010600030101010101" pitchFamily="2" charset="-122"/>
                <a:ea typeface="宋体" panose="02010600030101010101" pitchFamily="2" charset="-122"/>
              </a:rPr>
              <a:t>f</a:t>
            </a:r>
            <a:r>
              <a:rPr lang="zh-CN" altLang="en-US" dirty="0">
                <a:latin typeface="宋体" panose="02010600030101010101" pitchFamily="2" charset="-122"/>
                <a:ea typeface="宋体" panose="02010600030101010101" pitchFamily="2" charset="-122"/>
              </a:rPr>
              <a:t>：目标函数</a:t>
            </a:r>
          </a:p>
        </p:txBody>
      </p:sp>
      <p:sp>
        <p:nvSpPr>
          <p:cNvPr id="8" name="矩形: 圆角 7">
            <a:extLst>
              <a:ext uri="{FF2B5EF4-FFF2-40B4-BE49-F238E27FC236}">
                <a16:creationId xmlns="" xmlns:a16="http://schemas.microsoft.com/office/drawing/2014/main" id="{38A9E79B-74AC-4797-92C1-7E3DCDDBB107}"/>
              </a:ext>
            </a:extLst>
          </p:cNvPr>
          <p:cNvSpPr/>
          <p:nvPr/>
        </p:nvSpPr>
        <p:spPr>
          <a:xfrm>
            <a:off x="4283968" y="4365104"/>
            <a:ext cx="792088" cy="4690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 xmlns:a16="http://schemas.microsoft.com/office/drawing/2014/main" id="{E3DC3DA3-B2E5-444A-A7A5-BB209C904847}"/>
              </a:ext>
            </a:extLst>
          </p:cNvPr>
          <p:cNvSpPr/>
          <p:nvPr/>
        </p:nvSpPr>
        <p:spPr>
          <a:xfrm>
            <a:off x="5630614" y="4375565"/>
            <a:ext cx="873869" cy="4585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39997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latin typeface="隶书" panose="02010509060101010101" pitchFamily="49" charset="-122"/>
                <a:ea typeface="隶书" panose="02010509060101010101" pitchFamily="49" charset="-122"/>
              </a:rPr>
              <a:t>实验</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584201"/>
            <a:ext cx="8892480" cy="5797550"/>
          </a:xfrm>
        </p:spPr>
        <p:txBody>
          <a:bodyPr/>
          <a:lstStyle/>
          <a:p>
            <a:pPr>
              <a:defRPr/>
            </a:pPr>
            <a:endParaRPr lang="en-US" altLang="zh-CN" dirty="0"/>
          </a:p>
          <a:p>
            <a:pPr>
              <a:defRPr/>
            </a:pPr>
            <a:endParaRPr lang="en-US" altLang="zh-CN" dirty="0"/>
          </a:p>
          <a:p>
            <a:pPr>
              <a:defRPr/>
            </a:pPr>
            <a:r>
              <a:rPr lang="zh-CN" altLang="en-US" dirty="0"/>
              <a:t>实验目的：</a:t>
            </a:r>
            <a:endParaRPr lang="en-US" altLang="zh-CN" dirty="0"/>
          </a:p>
          <a:p>
            <a:pPr>
              <a:buFont typeface="Wingdings" pitchFamily="2" charset="2"/>
              <a:buChar char="l"/>
              <a:defRPr/>
            </a:pPr>
            <a:r>
              <a:rPr lang="zh-CN" altLang="en-US" b="0" dirty="0"/>
              <a:t>修改</a:t>
            </a:r>
            <a:r>
              <a:rPr lang="en-US" altLang="zh-CN" b="0" dirty="0"/>
              <a:t>AFL</a:t>
            </a:r>
            <a:r>
              <a:rPr lang="zh-CN" altLang="en-US" b="0" dirty="0"/>
              <a:t>种子队列调度策略，在单位时间内，加快</a:t>
            </a:r>
            <a:r>
              <a:rPr lang="en-US" altLang="zh-CN" b="0" dirty="0"/>
              <a:t>fuzz</a:t>
            </a:r>
            <a:r>
              <a:rPr lang="zh-CN" altLang="en-US" b="0" dirty="0"/>
              <a:t>出</a:t>
            </a:r>
            <a:r>
              <a:rPr lang="en-US" altLang="zh-CN" b="0" dirty="0"/>
              <a:t>crash</a:t>
            </a:r>
            <a:r>
              <a:rPr lang="zh-CN" altLang="en-US" b="0" dirty="0"/>
              <a:t>的速度，并且验证调度优化效果，并分析优化优劣的原因</a:t>
            </a:r>
            <a:endParaRPr lang="en-US" altLang="zh-CN" b="0" dirty="0"/>
          </a:p>
          <a:p>
            <a:pPr marL="0" indent="0">
              <a:buNone/>
              <a:defRPr/>
            </a:pPr>
            <a:endParaRPr lang="en-US" altLang="zh-CN" b="0" dirty="0"/>
          </a:p>
          <a:p>
            <a:pPr marL="0" indent="0">
              <a:buNone/>
              <a:defRPr/>
            </a:pPr>
            <a:endParaRPr lang="en-US" altLang="zh-CN" b="0" dirty="0"/>
          </a:p>
          <a:p>
            <a:pPr>
              <a:defRPr/>
            </a:pPr>
            <a:r>
              <a:rPr lang="zh-CN" altLang="en-US" dirty="0"/>
              <a:t>实验策略：</a:t>
            </a:r>
            <a:endParaRPr lang="en-US" altLang="zh-CN" dirty="0"/>
          </a:p>
          <a:p>
            <a:pPr>
              <a:buFont typeface="Wingdings" pitchFamily="2" charset="2"/>
              <a:buChar char="l"/>
              <a:defRPr/>
            </a:pPr>
            <a:r>
              <a:rPr lang="zh-CN" altLang="en-US" b="0" dirty="0"/>
              <a:t>偏向低频路径，给予低频路径更多机会</a:t>
            </a:r>
            <a:endParaRPr lang="en-US" altLang="zh-CN" b="0" dirty="0"/>
          </a:p>
          <a:p>
            <a:pPr>
              <a:buFont typeface="Wingdings" pitchFamily="2" charset="2"/>
              <a:buChar char="l"/>
              <a:defRPr/>
            </a:pPr>
            <a:r>
              <a:rPr lang="zh-CN" altLang="en-US" b="0" dirty="0"/>
              <a:t>偏向能产生更多新路径的种子，给予其更多机会</a:t>
            </a: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eaLnBrk="1" hangingPunct="1">
              <a:defRPr/>
            </a:pP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17</a:t>
            </a:fld>
            <a:endParaRPr lang="zh-CN" altLang="en-US" dirty="0"/>
          </a:p>
        </p:txBody>
      </p:sp>
    </p:spTree>
    <p:extLst>
      <p:ext uri="{BB962C8B-B14F-4D97-AF65-F5344CB8AC3E}">
        <p14:creationId xmlns:p14="http://schemas.microsoft.com/office/powerpoint/2010/main" val="881342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latin typeface="隶书" panose="02010509060101010101" pitchFamily="49" charset="-122"/>
                <a:ea typeface="隶书" panose="02010509060101010101" pitchFamily="49" charset="-122"/>
              </a:rPr>
              <a:t>实验设计</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730762"/>
            <a:ext cx="8892480" cy="468535"/>
          </a:xfrm>
        </p:spPr>
        <p:txBody>
          <a:bodyPr/>
          <a:lstStyle/>
          <a:p>
            <a:pPr>
              <a:defRPr/>
            </a:pPr>
            <a:r>
              <a:rPr lang="zh-CN" altLang="en-US" dirty="0"/>
              <a:t>对照一</a:t>
            </a:r>
            <a:endParaRPr lang="en-US" altLang="zh-CN" dirty="0"/>
          </a:p>
          <a:p>
            <a:pPr marL="0" indent="0">
              <a:buNone/>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eaLnBrk="1" hangingPunct="1">
              <a:defRPr/>
            </a:pP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18</a:t>
            </a:fld>
            <a:endParaRPr lang="zh-CN" altLang="en-US" dirty="0"/>
          </a:p>
        </p:txBody>
      </p:sp>
      <p:graphicFrame>
        <p:nvGraphicFramePr>
          <p:cNvPr id="2" name="表格 1">
            <a:extLst>
              <a:ext uri="{FF2B5EF4-FFF2-40B4-BE49-F238E27FC236}">
                <a16:creationId xmlns="" xmlns:a16="http://schemas.microsoft.com/office/drawing/2014/main" id="{2B7D3C71-003F-BB4D-8CBD-1C3C2660A0A6}"/>
              </a:ext>
            </a:extLst>
          </p:cNvPr>
          <p:cNvGraphicFramePr>
            <a:graphicFrameLocks noGrp="1"/>
          </p:cNvGraphicFramePr>
          <p:nvPr/>
        </p:nvGraphicFramePr>
        <p:xfrm>
          <a:off x="539552" y="1303784"/>
          <a:ext cx="4908681" cy="1779193"/>
        </p:xfrm>
        <a:graphic>
          <a:graphicData uri="http://schemas.openxmlformats.org/drawingml/2006/table">
            <a:tbl>
              <a:tblPr firstRow="1" bandRow="1">
                <a:tableStyleId>{5C22544A-7EE6-4342-B048-85BDC9FD1C3A}</a:tableStyleId>
              </a:tblPr>
              <a:tblGrid>
                <a:gridCol w="1656184">
                  <a:extLst>
                    <a:ext uri="{9D8B030D-6E8A-4147-A177-3AD203B41FA5}">
                      <a16:colId xmlns="" xmlns:a16="http://schemas.microsoft.com/office/drawing/2014/main" val="398318757"/>
                    </a:ext>
                  </a:extLst>
                </a:gridCol>
                <a:gridCol w="648072">
                  <a:extLst>
                    <a:ext uri="{9D8B030D-6E8A-4147-A177-3AD203B41FA5}">
                      <a16:colId xmlns="" xmlns:a16="http://schemas.microsoft.com/office/drawing/2014/main" val="986775382"/>
                    </a:ext>
                  </a:extLst>
                </a:gridCol>
                <a:gridCol w="1170335">
                  <a:extLst>
                    <a:ext uri="{9D8B030D-6E8A-4147-A177-3AD203B41FA5}">
                      <a16:colId xmlns="" xmlns:a16="http://schemas.microsoft.com/office/drawing/2014/main" val="3793076066"/>
                    </a:ext>
                  </a:extLst>
                </a:gridCol>
                <a:gridCol w="1434090">
                  <a:extLst>
                    <a:ext uri="{9D8B030D-6E8A-4147-A177-3AD203B41FA5}">
                      <a16:colId xmlns="" xmlns:a16="http://schemas.microsoft.com/office/drawing/2014/main" val="1137013159"/>
                    </a:ext>
                  </a:extLst>
                </a:gridCol>
              </a:tblGrid>
              <a:tr h="377113">
                <a:tc>
                  <a:txBody>
                    <a:bodyPr/>
                    <a:lstStyle/>
                    <a:p>
                      <a:endParaRPr lang="zh-CN" altLang="en-US" sz="1600" dirty="0"/>
                    </a:p>
                  </a:txBody>
                  <a:tcPr/>
                </a:tc>
                <a:tc>
                  <a:txBody>
                    <a:bodyPr/>
                    <a:lstStyle/>
                    <a:p>
                      <a:pPr algn="ctr"/>
                      <a:r>
                        <a:rPr lang="en-US" altLang="zh-CN" sz="1600" dirty="0"/>
                        <a:t>AFL</a:t>
                      </a:r>
                      <a:endParaRPr lang="zh-CN" altLang="en-US" sz="1600" dirty="0"/>
                    </a:p>
                  </a:txBody>
                  <a:tcPr/>
                </a:tc>
                <a:tc>
                  <a:txBody>
                    <a:bodyPr/>
                    <a:lstStyle/>
                    <a:p>
                      <a:pPr algn="ctr"/>
                      <a:r>
                        <a:rPr lang="en-US" altLang="zh-CN" sz="1600" dirty="0"/>
                        <a:t>AFLFAST</a:t>
                      </a:r>
                      <a:endParaRPr lang="zh-CN" altLang="en-US" sz="1600" dirty="0"/>
                    </a:p>
                  </a:txBody>
                  <a:tcPr/>
                </a:tc>
                <a:tc>
                  <a:txBody>
                    <a:bodyPr/>
                    <a:lstStyle/>
                    <a:p>
                      <a:pPr algn="ctr"/>
                      <a:r>
                        <a:rPr lang="en-US" altLang="zh-CN" sz="1600" dirty="0"/>
                        <a:t>AFLSLOW</a:t>
                      </a:r>
                    </a:p>
                  </a:txBody>
                  <a:tcPr/>
                </a:tc>
                <a:extLst>
                  <a:ext uri="{0D108BD9-81ED-4DB2-BD59-A6C34878D82A}">
                    <a16:rowId xmlns="" xmlns:a16="http://schemas.microsoft.com/office/drawing/2014/main" val="2398094577"/>
                  </a:ext>
                </a:extLst>
              </a:tr>
              <a:tr h="467868">
                <a:tc>
                  <a:txBody>
                    <a:bodyPr/>
                    <a:lstStyle/>
                    <a:p>
                      <a:pPr algn="ctr"/>
                      <a:r>
                        <a:rPr lang="en-US" altLang="zh-CN" sz="1600" dirty="0"/>
                        <a:t>Low Frequency</a:t>
                      </a:r>
                    </a:p>
                    <a:p>
                      <a:pPr algn="ctr"/>
                      <a:r>
                        <a:rPr lang="en-US" altLang="zh-CN" sz="1600" dirty="0"/>
                        <a:t>Path</a:t>
                      </a:r>
                      <a:endParaRPr lang="zh-CN" altLang="en-US" sz="1600" dirty="0"/>
                    </a:p>
                  </a:txBody>
                  <a:tcPr/>
                </a:tc>
                <a:tc>
                  <a:txBody>
                    <a:bodyPr/>
                    <a:lstStyle/>
                    <a:p>
                      <a:pPr algn="ct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a:t>
                      </a:r>
                    </a:p>
                    <a:p>
                      <a:pPr algn="ct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a:t>
                      </a:r>
                    </a:p>
                    <a:p>
                      <a:pPr algn="ctr"/>
                      <a:endParaRPr lang="zh-CN" altLang="en-US" sz="1600" dirty="0"/>
                    </a:p>
                  </a:txBody>
                  <a:tcPr/>
                </a:tc>
                <a:extLst>
                  <a:ext uri="{0D108BD9-81ED-4DB2-BD59-A6C34878D82A}">
                    <a16:rowId xmlns="" xmlns:a16="http://schemas.microsoft.com/office/drawing/2014/main" val="3485127646"/>
                  </a:ext>
                </a:extLst>
              </a:tr>
              <a:tr h="719284">
                <a:tc>
                  <a:txBody>
                    <a:bodyPr/>
                    <a:lstStyle/>
                    <a:p>
                      <a:pPr algn="ctr"/>
                      <a:r>
                        <a:rPr lang="en-US" altLang="zh-CN" sz="1600" dirty="0"/>
                        <a:t>Generate</a:t>
                      </a:r>
                    </a:p>
                    <a:p>
                      <a:pPr algn="ctr"/>
                      <a:r>
                        <a:rPr lang="en-US" altLang="zh-CN" sz="1600" dirty="0"/>
                        <a:t>New Path</a:t>
                      </a:r>
                    </a:p>
                    <a:p>
                      <a:pPr algn="ctr"/>
                      <a:r>
                        <a:rPr lang="en-US" altLang="zh-CN" sz="1600" dirty="0"/>
                        <a:t>Ability</a:t>
                      </a: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p>
                      <a:pPr algn="ct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p>
                      <a:pPr algn="ct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a:t>
                      </a:r>
                    </a:p>
                    <a:p>
                      <a:pPr algn="ctr"/>
                      <a:endParaRPr lang="zh-CN" altLang="en-US" sz="1600" dirty="0"/>
                    </a:p>
                  </a:txBody>
                  <a:tcPr/>
                </a:tc>
                <a:extLst>
                  <a:ext uri="{0D108BD9-81ED-4DB2-BD59-A6C34878D82A}">
                    <a16:rowId xmlns="" xmlns:a16="http://schemas.microsoft.com/office/drawing/2014/main" val="3012236847"/>
                  </a:ext>
                </a:extLst>
              </a:tr>
            </a:tbl>
          </a:graphicData>
        </a:graphic>
      </p:graphicFrame>
      <p:sp>
        <p:nvSpPr>
          <p:cNvPr id="6" name="内容占位符 4"/>
          <p:cNvSpPr>
            <a:spLocks noGrp="1"/>
          </p:cNvSpPr>
          <p:nvPr>
            <p:ph idx="4294967295"/>
          </p:nvPr>
        </p:nvSpPr>
        <p:spPr>
          <a:xfrm>
            <a:off x="0" y="3573016"/>
            <a:ext cx="8892480" cy="468535"/>
          </a:xfrm>
        </p:spPr>
        <p:txBody>
          <a:bodyPr/>
          <a:lstStyle/>
          <a:p>
            <a:pPr>
              <a:defRPr/>
            </a:pPr>
            <a:r>
              <a:rPr lang="zh-CN" altLang="en-US" dirty="0"/>
              <a:t>对照二</a:t>
            </a:r>
            <a:endParaRPr lang="en-US" altLang="zh-CN" dirty="0"/>
          </a:p>
          <a:p>
            <a:pPr marL="0" indent="0">
              <a:buNone/>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eaLnBrk="1" hangingPunct="1">
              <a:defRPr/>
            </a:pPr>
            <a:endParaRPr altLang="zh-CN" dirty="0"/>
          </a:p>
        </p:txBody>
      </p:sp>
      <p:graphicFrame>
        <p:nvGraphicFramePr>
          <p:cNvPr id="7" name="表格 6">
            <a:extLst>
              <a:ext uri="{FF2B5EF4-FFF2-40B4-BE49-F238E27FC236}">
                <a16:creationId xmlns="" xmlns:a16="http://schemas.microsoft.com/office/drawing/2014/main" id="{2B7D3C71-003F-BB4D-8CBD-1C3C2660A0A6}"/>
              </a:ext>
            </a:extLst>
          </p:cNvPr>
          <p:cNvGraphicFramePr>
            <a:graphicFrameLocks noGrp="1"/>
          </p:cNvGraphicFramePr>
          <p:nvPr/>
        </p:nvGraphicFramePr>
        <p:xfrm>
          <a:off x="539552" y="4214279"/>
          <a:ext cx="7128789" cy="1877524"/>
        </p:xfrm>
        <a:graphic>
          <a:graphicData uri="http://schemas.openxmlformats.org/drawingml/2006/table">
            <a:tbl>
              <a:tblPr firstRow="1" bandRow="1">
                <a:tableStyleId>{5C22544A-7EE6-4342-B048-85BDC9FD1C3A}</a:tableStyleId>
              </a:tblPr>
              <a:tblGrid>
                <a:gridCol w="1656184">
                  <a:extLst>
                    <a:ext uri="{9D8B030D-6E8A-4147-A177-3AD203B41FA5}">
                      <a16:colId xmlns="" xmlns:a16="http://schemas.microsoft.com/office/drawing/2014/main" val="398318757"/>
                    </a:ext>
                  </a:extLst>
                </a:gridCol>
                <a:gridCol w="1170335">
                  <a:extLst>
                    <a:ext uri="{9D8B030D-6E8A-4147-A177-3AD203B41FA5}">
                      <a16:colId xmlns="" xmlns:a16="http://schemas.microsoft.com/office/drawing/2014/main" val="3793076066"/>
                    </a:ext>
                  </a:extLst>
                </a:gridCol>
                <a:gridCol w="1434090">
                  <a:extLst>
                    <a:ext uri="{9D8B030D-6E8A-4147-A177-3AD203B41FA5}">
                      <a16:colId xmlns="" xmlns:a16="http://schemas.microsoft.com/office/drawing/2014/main" val="1137013159"/>
                    </a:ext>
                  </a:extLst>
                </a:gridCol>
                <a:gridCol w="1434090">
                  <a:extLst>
                    <a:ext uri="{9D8B030D-6E8A-4147-A177-3AD203B41FA5}">
                      <a16:colId xmlns="" xmlns:a16="http://schemas.microsoft.com/office/drawing/2014/main" val="487373150"/>
                    </a:ext>
                  </a:extLst>
                </a:gridCol>
                <a:gridCol w="1434090">
                  <a:extLst>
                    <a:ext uri="{9D8B030D-6E8A-4147-A177-3AD203B41FA5}">
                      <a16:colId xmlns="" xmlns:a16="http://schemas.microsoft.com/office/drawing/2014/main" val="488059961"/>
                    </a:ext>
                  </a:extLst>
                </a:gridCol>
              </a:tblGrid>
              <a:tr h="377113">
                <a:tc>
                  <a:txBody>
                    <a:bodyPr/>
                    <a:lstStyle/>
                    <a:p>
                      <a:r>
                        <a:rPr lang="en-US" altLang="zh-CN" sz="1100" dirty="0"/>
                        <a:t>Influence</a:t>
                      </a:r>
                      <a:r>
                        <a:rPr lang="zh-CN" altLang="en-US" sz="1100" dirty="0"/>
                        <a:t> </a:t>
                      </a:r>
                      <a:r>
                        <a:rPr lang="en-US" altLang="zh-CN" sz="1100" dirty="0"/>
                        <a:t>of</a:t>
                      </a:r>
                      <a:r>
                        <a:rPr lang="zh-CN" altLang="en-US" sz="1100" dirty="0"/>
                        <a:t> </a:t>
                      </a:r>
                      <a:r>
                        <a:rPr lang="en-US" altLang="zh-CN" sz="1100" dirty="0"/>
                        <a:t>generate</a:t>
                      </a:r>
                      <a:r>
                        <a:rPr lang="zh-CN" altLang="en-US" sz="1100" dirty="0"/>
                        <a:t> </a:t>
                      </a:r>
                      <a:r>
                        <a:rPr lang="en-US" altLang="zh-CN" sz="1100" dirty="0"/>
                        <a:t>new</a:t>
                      </a:r>
                      <a:r>
                        <a:rPr lang="zh-CN" altLang="en-US" sz="1100" dirty="0"/>
                        <a:t> </a:t>
                      </a:r>
                      <a:r>
                        <a:rPr lang="en-US" altLang="zh-CN" sz="1100" dirty="0"/>
                        <a:t>path</a:t>
                      </a:r>
                      <a:r>
                        <a:rPr lang="zh-CN" altLang="en-US" sz="1100" dirty="0"/>
                        <a:t> </a:t>
                      </a:r>
                      <a:r>
                        <a:rPr lang="en-US" altLang="zh-CN" sz="1100" dirty="0"/>
                        <a:t>ability</a:t>
                      </a:r>
                      <a:endParaRPr lang="zh-CN" altLang="en-US" sz="1100" dirty="0"/>
                    </a:p>
                  </a:txBody>
                  <a:tcPr/>
                </a:tc>
                <a:tc>
                  <a:txBody>
                    <a:bodyPr/>
                    <a:lstStyle/>
                    <a:p>
                      <a:pPr algn="ctr"/>
                      <a:r>
                        <a:rPr lang="en-US" altLang="zh-CN" sz="1600" dirty="0"/>
                        <a:t>AFLFAST</a:t>
                      </a:r>
                      <a:endParaRPr lang="zh-CN" altLang="en-US" sz="1600" dirty="0"/>
                    </a:p>
                  </a:txBody>
                  <a:tcPr/>
                </a:tc>
                <a:tc>
                  <a:txBody>
                    <a:bodyPr/>
                    <a:lstStyle/>
                    <a:p>
                      <a:pPr algn="ctr"/>
                      <a:r>
                        <a:rPr lang="en-US" altLang="zh-CN" sz="1600" dirty="0"/>
                        <a:t>AFLSLOW</a:t>
                      </a:r>
                    </a:p>
                    <a:p>
                      <a:pPr algn="ctr"/>
                      <a:r>
                        <a:rPr lang="en-US" altLang="zh-CN" sz="1600" dirty="0"/>
                        <a:t>1.2</a:t>
                      </a:r>
                    </a:p>
                  </a:txBody>
                  <a:tcPr/>
                </a:tc>
                <a:tc>
                  <a:txBody>
                    <a:bodyPr/>
                    <a:lstStyle/>
                    <a:p>
                      <a:pPr algn="ctr"/>
                      <a:r>
                        <a:rPr lang="en-US" altLang="zh-CN" sz="1600" dirty="0"/>
                        <a:t>AFLSLOW</a:t>
                      </a:r>
                    </a:p>
                    <a:p>
                      <a:pPr algn="ctr"/>
                      <a:r>
                        <a:rPr lang="en-US" altLang="zh-CN" sz="1600" dirty="0"/>
                        <a:t>1.3</a:t>
                      </a:r>
                    </a:p>
                  </a:txBody>
                  <a:tcPr/>
                </a:tc>
                <a:tc>
                  <a:txBody>
                    <a:bodyPr/>
                    <a:lstStyle/>
                    <a:p>
                      <a:pPr algn="ctr"/>
                      <a:r>
                        <a:rPr lang="en-US" altLang="zh-CN" sz="1600" dirty="0"/>
                        <a:t>AFLSLOW</a:t>
                      </a:r>
                    </a:p>
                    <a:p>
                      <a:pPr algn="ctr"/>
                      <a:r>
                        <a:rPr lang="en-US" altLang="zh-CN" sz="1600" dirty="0"/>
                        <a:t>1.4</a:t>
                      </a:r>
                    </a:p>
                  </a:txBody>
                  <a:tcPr/>
                </a:tc>
                <a:extLst>
                  <a:ext uri="{0D108BD9-81ED-4DB2-BD59-A6C34878D82A}">
                    <a16:rowId xmlns="" xmlns:a16="http://schemas.microsoft.com/office/drawing/2014/main" val="2398094577"/>
                  </a:ext>
                </a:extLst>
              </a:tr>
              <a:tr h="467868">
                <a:tc>
                  <a:txBody>
                    <a:bodyPr/>
                    <a:lstStyle/>
                    <a:p>
                      <a:pPr algn="ctr"/>
                      <a:r>
                        <a:rPr lang="en-US" altLang="zh-CN" sz="1600" dirty="0"/>
                        <a:t>Search</a:t>
                      </a:r>
                    </a:p>
                    <a:p>
                      <a:pPr algn="ctr"/>
                      <a:r>
                        <a:rPr lang="en-US" altLang="zh-CN" sz="1600" dirty="0"/>
                        <a:t>Schedule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600" dirty="0"/>
                    </a:p>
                    <a:p>
                      <a:pPr algn="ct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600" dirty="0"/>
                    </a:p>
                    <a:p>
                      <a:pPr algn="ct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a:t>
                      </a:r>
                    </a:p>
                    <a:p>
                      <a:pPr algn="ct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a:t>
                      </a:r>
                    </a:p>
                    <a:p>
                      <a:pPr algn="ctr"/>
                      <a:endParaRPr lang="zh-CN" altLang="en-US" sz="1600" dirty="0"/>
                    </a:p>
                  </a:txBody>
                  <a:tcPr/>
                </a:tc>
                <a:extLst>
                  <a:ext uri="{0D108BD9-81ED-4DB2-BD59-A6C34878D82A}">
                    <a16:rowId xmlns="" xmlns:a16="http://schemas.microsoft.com/office/drawing/2014/main" val="3485127646"/>
                  </a:ext>
                </a:extLst>
              </a:tr>
              <a:tr h="719284">
                <a:tc>
                  <a:txBody>
                    <a:bodyPr/>
                    <a:lstStyle/>
                    <a:p>
                      <a:pPr algn="ctr"/>
                      <a:r>
                        <a:rPr lang="en-US" altLang="zh-CN" sz="1600" dirty="0"/>
                        <a:t>Power</a:t>
                      </a:r>
                    </a:p>
                    <a:p>
                      <a:pPr algn="ctr"/>
                      <a:r>
                        <a:rPr lang="en-US" altLang="zh-CN" sz="1600" dirty="0"/>
                        <a:t>Schedule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p>
                      <a:pPr algn="ct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a:t>
                      </a:r>
                    </a:p>
                    <a:p>
                      <a:pPr algn="ctr"/>
                      <a:endParaRPr lang="zh-CN"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a:t>
                      </a:r>
                    </a:p>
                    <a:p>
                      <a:pPr algn="ctr"/>
                      <a:endParaRPr lang="zh-CN" altLang="en-US" sz="1600" dirty="0"/>
                    </a:p>
                  </a:txBody>
                  <a:tcPr/>
                </a:tc>
                <a:extLst>
                  <a:ext uri="{0D108BD9-81ED-4DB2-BD59-A6C34878D82A}">
                    <a16:rowId xmlns="" xmlns:a16="http://schemas.microsoft.com/office/drawing/2014/main" val="3012236847"/>
                  </a:ext>
                </a:extLst>
              </a:tr>
            </a:tbl>
          </a:graphicData>
        </a:graphic>
      </p:graphicFrame>
    </p:spTree>
    <p:extLst>
      <p:ext uri="{BB962C8B-B14F-4D97-AF65-F5344CB8AC3E}">
        <p14:creationId xmlns:p14="http://schemas.microsoft.com/office/powerpoint/2010/main" val="966848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AFL</a:t>
            </a:r>
            <a:r>
              <a:rPr lang="zh-CN" altLang="en-US" dirty="0">
                <a:latin typeface="隶书" panose="02010509060101010101" pitchFamily="49" charset="-122"/>
                <a:ea typeface="隶书" panose="02010509060101010101" pitchFamily="49" charset="-122"/>
              </a:rPr>
              <a:t>分析</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539552" y="836713"/>
            <a:ext cx="7886700" cy="1656184"/>
          </a:xfrm>
        </p:spPr>
        <p:txBody>
          <a:bodyPr/>
          <a:lstStyle/>
          <a:p>
            <a:pPr>
              <a:buFont typeface="Wingdings" charset="2"/>
              <a:buChar char="l"/>
            </a:pPr>
            <a:r>
              <a:rPr lang="zh-CN" altLang="en-US" sz="1600" b="0" dirty="0"/>
              <a:t>预处理：解析用户输入命令，检查环境变量的设置、输入输出路径、目标文件</a:t>
            </a:r>
            <a:endParaRPr lang="en-US" altLang="zh-CN" sz="1600" b="0" dirty="0"/>
          </a:p>
          <a:p>
            <a:pPr>
              <a:buFont typeface="Arial" charset="0"/>
              <a:buChar char="•"/>
            </a:pPr>
            <a:r>
              <a:rPr lang="zh-CN" altLang="en-US" sz="1600" b="0" dirty="0"/>
              <a:t>函数</a:t>
            </a:r>
            <a:r>
              <a:rPr lang="en-US" altLang="zh-CN" sz="1600" b="0" dirty="0" err="1"/>
              <a:t>perform_dry_run</a:t>
            </a:r>
            <a:r>
              <a:rPr lang="en-US" altLang="zh-CN" sz="1600" b="0" dirty="0"/>
              <a:t>()</a:t>
            </a:r>
            <a:r>
              <a:rPr lang="zh-CN" altLang="en-US" sz="1600" b="0" dirty="0"/>
              <a:t> 会使用初始的测试用例进行测试，确保目标程序能够正常执行</a:t>
            </a:r>
            <a:r>
              <a:rPr lang="en-US" altLang="zh-CN" sz="1600" b="0" dirty="0"/>
              <a:t>,</a:t>
            </a:r>
            <a:r>
              <a:rPr lang="zh-CN" altLang="en-US" sz="1600" b="0" dirty="0"/>
              <a:t>生成初始化的</a:t>
            </a:r>
            <a:r>
              <a:rPr lang="en-US" altLang="zh-CN" sz="1600" b="0" dirty="0"/>
              <a:t>queue</a:t>
            </a:r>
            <a:r>
              <a:rPr lang="zh-CN" altLang="en-US" sz="1600" b="0" dirty="0"/>
              <a:t>和</a:t>
            </a:r>
            <a:r>
              <a:rPr lang="en-US" altLang="zh-CN" sz="1600" b="0" dirty="0"/>
              <a:t>bitmap</a:t>
            </a:r>
            <a:r>
              <a:rPr lang="zh-CN" altLang="en-US" sz="1600" b="0" dirty="0"/>
              <a:t>。</a:t>
            </a:r>
            <a:endParaRPr lang="en-US" altLang="zh-CN" sz="1600" b="0" dirty="0"/>
          </a:p>
          <a:p>
            <a:pPr>
              <a:buFont typeface="Arial" charset="0"/>
              <a:buChar char="•"/>
            </a:pPr>
            <a:r>
              <a:rPr lang="zh-CN" altLang="en-US" sz="1600" b="0" dirty="0"/>
              <a:t>函数 </a:t>
            </a:r>
            <a:r>
              <a:rPr lang="en-US" altLang="zh-CN" sz="1600" b="0" dirty="0" err="1"/>
              <a:t>cull_queue</a:t>
            </a:r>
            <a:r>
              <a:rPr lang="en-US" altLang="zh-CN" sz="1600" b="0" dirty="0"/>
              <a:t>()</a:t>
            </a:r>
            <a:r>
              <a:rPr lang="zh-CN" altLang="en-US" sz="1600" b="0" dirty="0"/>
              <a:t> 会对初始队列进行筛选（更新</a:t>
            </a:r>
            <a:r>
              <a:rPr lang="en-US" altLang="zh-CN" sz="1600" b="0" dirty="0"/>
              <a:t>favored entry</a:t>
            </a:r>
            <a:r>
              <a:rPr lang="zh-CN" altLang="en-US" sz="1600" b="0" dirty="0"/>
              <a:t>）。遍历</a:t>
            </a:r>
            <a:r>
              <a:rPr lang="en-US" altLang="zh-CN" sz="1600" b="0" dirty="0" err="1"/>
              <a:t>top_rated</a:t>
            </a:r>
            <a:r>
              <a:rPr lang="en-US" altLang="zh-CN" sz="1600" b="0" dirty="0"/>
              <a:t>[]</a:t>
            </a:r>
            <a:r>
              <a:rPr lang="zh-CN" altLang="en-US" sz="1600" b="0" dirty="0"/>
              <a:t>中的</a:t>
            </a:r>
            <a:r>
              <a:rPr lang="en-US" altLang="zh-CN" sz="1600" b="0" dirty="0"/>
              <a:t>queue</a:t>
            </a:r>
            <a:r>
              <a:rPr lang="zh-CN" altLang="en-US" sz="1600" b="0" dirty="0"/>
              <a:t>，然后提取出发现新</a:t>
            </a:r>
            <a:r>
              <a:rPr lang="en-US" altLang="zh-CN" sz="1600" b="0" dirty="0"/>
              <a:t>edge</a:t>
            </a:r>
            <a:r>
              <a:rPr lang="zh-CN" altLang="en-US" sz="1600" b="0" dirty="0"/>
              <a:t>的</a:t>
            </a:r>
            <a:r>
              <a:rPr lang="en-US" altLang="zh-CN" sz="1600" b="0" dirty="0"/>
              <a:t>entry</a:t>
            </a:r>
            <a:r>
              <a:rPr lang="zh-CN" altLang="en-US" sz="1600" b="0" dirty="0"/>
              <a:t>，并标记为</a:t>
            </a:r>
            <a:r>
              <a:rPr lang="en-US" altLang="zh-CN" sz="1600" b="0" dirty="0"/>
              <a:t>favored</a:t>
            </a:r>
            <a:r>
              <a:rPr lang="zh-CN" altLang="en-US" sz="1600" b="0" dirty="0"/>
              <a:t>，使得在下次遍历</a:t>
            </a:r>
            <a:r>
              <a:rPr lang="en-US" altLang="zh-CN" sz="1600" b="0" dirty="0"/>
              <a:t>queue</a:t>
            </a:r>
            <a:r>
              <a:rPr lang="zh-CN" altLang="en-US" sz="1600" b="0" dirty="0"/>
              <a:t>时，这些</a:t>
            </a:r>
            <a:r>
              <a:rPr lang="en-US" altLang="zh-CN" sz="1600" b="0" dirty="0"/>
              <a:t>entry</a:t>
            </a:r>
            <a:r>
              <a:rPr lang="zh-CN" altLang="en-US" sz="1600" b="0" dirty="0"/>
              <a:t>能获得更多执行</a:t>
            </a:r>
            <a:r>
              <a:rPr lang="en-US" altLang="zh-CN" sz="1600" b="0" dirty="0"/>
              <a:t>fuzz</a:t>
            </a:r>
            <a:r>
              <a:rPr lang="zh-CN" altLang="en-US" sz="1600" b="0" dirty="0"/>
              <a:t>的机会。</a:t>
            </a:r>
            <a:endParaRPr lang="en-US" altLang="zh-CN" sz="1600" b="0"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19</a:t>
            </a:fld>
            <a:endParaRPr lang="zh-CN" altLang="en-US" dirty="0"/>
          </a:p>
        </p:txBody>
      </p:sp>
      <p:sp>
        <p:nvSpPr>
          <p:cNvPr id="7" name="内容占位符 4"/>
          <p:cNvSpPr>
            <a:spLocks noGrp="1"/>
          </p:cNvSpPr>
          <p:nvPr>
            <p:ph idx="4294967295"/>
          </p:nvPr>
        </p:nvSpPr>
        <p:spPr>
          <a:xfrm>
            <a:off x="539552" y="2526149"/>
            <a:ext cx="7886700" cy="2816807"/>
          </a:xfrm>
        </p:spPr>
        <p:txBody>
          <a:bodyPr/>
          <a:lstStyle/>
          <a:p>
            <a:pPr>
              <a:buFont typeface="Wingdings" charset="2"/>
              <a:buChar char="l"/>
            </a:pPr>
            <a:r>
              <a:rPr lang="zh-CN" altLang="en-US" sz="1600" b="0" dirty="0"/>
              <a:t>进入</a:t>
            </a:r>
            <a:r>
              <a:rPr lang="en-US" altLang="zh-CN" sz="1600" b="0" dirty="0"/>
              <a:t>while(1)</a:t>
            </a:r>
            <a:r>
              <a:rPr lang="zh-CN" altLang="en-US" sz="1600" b="0" dirty="0"/>
              <a:t>开始</a:t>
            </a:r>
            <a:r>
              <a:rPr lang="en-US" altLang="zh-CN" sz="1600" b="0" dirty="0"/>
              <a:t>fuzz</a:t>
            </a:r>
            <a:r>
              <a:rPr lang="zh-CN" altLang="en-US" sz="1600" b="0" dirty="0"/>
              <a:t>循环</a:t>
            </a:r>
            <a:endParaRPr lang="en-US" altLang="zh-CN" sz="1600" b="0" dirty="0"/>
          </a:p>
          <a:p>
            <a:pPr marL="285750" indent="-285750">
              <a:buFont typeface="Arial" panose="020B0604020202020204" pitchFamily="34" charset="0"/>
              <a:buChar char="•"/>
            </a:pPr>
            <a:r>
              <a:rPr lang="zh-CN" altLang="zh-CN" sz="1600" b="0" dirty="0"/>
              <a:t>进入循环后第一</a:t>
            </a:r>
            <a:r>
              <a:rPr lang="zh-CN" altLang="en-US" sz="1600" b="0" dirty="0"/>
              <a:t>步</a:t>
            </a:r>
            <a:r>
              <a:rPr lang="zh-CN" altLang="zh-CN" sz="1600" b="0" dirty="0"/>
              <a:t>还是 cull_queue() 对</a:t>
            </a:r>
            <a:r>
              <a:rPr lang="zh-CN" altLang="en-US" sz="1600" b="0" dirty="0"/>
              <a:t>队列</a:t>
            </a:r>
            <a:r>
              <a:rPr lang="zh-CN" altLang="zh-CN" sz="1600" b="0" dirty="0"/>
              <a:t>进行</a:t>
            </a:r>
            <a:r>
              <a:rPr lang="zh-CN" altLang="en-US" sz="1600" b="0" dirty="0"/>
              <a:t>精简</a:t>
            </a:r>
            <a:endParaRPr lang="en-US" altLang="zh-CN" sz="1600" b="0" dirty="0"/>
          </a:p>
          <a:p>
            <a:pPr marL="285750" indent="-285750">
              <a:buFont typeface="Arial" panose="020B0604020202020204" pitchFamily="34" charset="0"/>
              <a:buChar char="•"/>
            </a:pPr>
            <a:r>
              <a:rPr lang="zh-CN" altLang="zh-CN" sz="1600" b="0" dirty="0"/>
              <a:t>判断queue_cur是否为空，如果是，则表示已经完成对队列的遍历，初始化相关参数，重新开始遍历队列</a:t>
            </a:r>
            <a:endParaRPr lang="en-US" altLang="zh-CN" sz="1600" b="0" dirty="0"/>
          </a:p>
          <a:p>
            <a:pPr marL="285750" lvl="0" indent="-285750">
              <a:buFont typeface="Arial" panose="020B0604020202020204" pitchFamily="34" charset="0"/>
              <a:buChar char="•"/>
            </a:pPr>
            <a:r>
              <a:rPr lang="zh-CN" altLang="zh-CN" sz="1600" b="0" dirty="0"/>
              <a:t>fuzz_one() 函数会对queue_cur所对应文件进行fuzz，包括(跳过-calibrate_case-修剪测试用例-</a:t>
            </a:r>
            <a:r>
              <a:rPr lang="zh-CN" altLang="en-US" sz="1600" b="0" dirty="0"/>
              <a:t>能量分配</a:t>
            </a:r>
            <a:r>
              <a:rPr lang="zh-CN" altLang="zh-CN" sz="1600" b="0" dirty="0"/>
              <a:t>-变异)</a:t>
            </a:r>
            <a:endParaRPr lang="en-US" altLang="zh-CN" sz="1600" b="0" dirty="0"/>
          </a:p>
          <a:p>
            <a:pPr marL="285750" lvl="0" indent="-285750">
              <a:buFont typeface="Arial" panose="020B0604020202020204" pitchFamily="34" charset="0"/>
              <a:buChar char="•"/>
            </a:pPr>
            <a:r>
              <a:rPr lang="zh-CN" altLang="zh-CN" sz="1600" b="0" dirty="0"/>
              <a:t>判断是否结束，更新queue_cur和current_entry</a:t>
            </a:r>
            <a:endParaRPr lang="en-US" altLang="zh-CN" sz="1600" b="0" dirty="0"/>
          </a:p>
          <a:p>
            <a:pPr marL="285750" lvl="0" indent="-285750">
              <a:buFont typeface="Arial" panose="020B0604020202020204" pitchFamily="34" charset="0"/>
              <a:buChar char="•"/>
            </a:pPr>
            <a:r>
              <a:rPr lang="zh-CN" altLang="zh-CN" sz="1600" b="0" dirty="0"/>
              <a:t>当队列中的所有文件都经过变异测试了，则完成一次”cycle done”。整个队列又会从第一个文件开始，再次继续进行变异</a:t>
            </a:r>
          </a:p>
        </p:txBody>
      </p:sp>
    </p:spTree>
    <p:extLst>
      <p:ext uri="{BB962C8B-B14F-4D97-AF65-F5344CB8AC3E}">
        <p14:creationId xmlns:p14="http://schemas.microsoft.com/office/powerpoint/2010/main" val="143285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animEffect transition="in" filter="blinds(horizontal)">
                                      <p:cBhvr>
                                        <p:cTn id="7" dur="10"/>
                                        <p:tgtEl>
                                          <p:spTgt spid="4301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3012">
                                            <p:txEl>
                                              <p:pRg st="1" end="1"/>
                                            </p:txEl>
                                          </p:spTgt>
                                        </p:tgtEl>
                                        <p:attrNameLst>
                                          <p:attrName>style.visibility</p:attrName>
                                        </p:attrNameLst>
                                      </p:cBhvr>
                                      <p:to>
                                        <p:strVal val="visible"/>
                                      </p:to>
                                    </p:set>
                                    <p:animEffect transition="in" filter="blinds(horizontal)">
                                      <p:cBhvr>
                                        <p:cTn id="10" dur="10"/>
                                        <p:tgtEl>
                                          <p:spTgt spid="4301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3012">
                                            <p:txEl>
                                              <p:pRg st="2" end="2"/>
                                            </p:txEl>
                                          </p:spTgt>
                                        </p:tgtEl>
                                        <p:attrNameLst>
                                          <p:attrName>style.visibility</p:attrName>
                                        </p:attrNameLst>
                                      </p:cBhvr>
                                      <p:to>
                                        <p:strVal val="visible"/>
                                      </p:to>
                                    </p:set>
                                    <p:animEffect transition="in" filter="blinds(horizontal)">
                                      <p:cBhvr>
                                        <p:cTn id="13" dur="10"/>
                                        <p:tgtEl>
                                          <p:spTgt spid="4301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blinds(horizontal)">
                                      <p:cBhvr>
                                        <p:cTn id="18" dur="10"/>
                                        <p:tgtEl>
                                          <p:spTgt spid="7">
                                            <p:txEl>
                                              <p:pRg st="0" end="0"/>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blinds(horizontal)">
                                      <p:cBhvr>
                                        <p:cTn id="21" dur="10"/>
                                        <p:tgtEl>
                                          <p:spTgt spid="7">
                                            <p:txEl>
                                              <p:pRg st="1" end="1"/>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blinds(horizontal)">
                                      <p:cBhvr>
                                        <p:cTn id="24" dur="10"/>
                                        <p:tgtEl>
                                          <p:spTgt spid="7">
                                            <p:txEl>
                                              <p:pRg st="2" end="2"/>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blinds(horizontal)">
                                      <p:cBhvr>
                                        <p:cTn id="27" dur="10"/>
                                        <p:tgtEl>
                                          <p:spTgt spid="7">
                                            <p:txEl>
                                              <p:pRg st="3" end="3"/>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blinds(horizontal)">
                                      <p:cBhvr>
                                        <p:cTn id="30" dur="10"/>
                                        <p:tgtEl>
                                          <p:spTgt spid="7">
                                            <p:txEl>
                                              <p:pRg st="4" end="4"/>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blinds(horizontal)">
                                      <p:cBhvr>
                                        <p:cTn id="33" dur="1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uiExpand="1" build="allAtOnce"/>
      <p:bldP spid="7" grpId="0" uiExpand="1"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err="1">
                <a:latin typeface="隶书" panose="02010509060101010101" pitchFamily="49" charset="-122"/>
                <a:ea typeface="隶书" panose="02010509060101010101" pitchFamily="49" charset="-122"/>
              </a:rPr>
              <a:t>struct</a:t>
            </a:r>
            <a:r>
              <a:rPr lang="en-US" altLang="zh-CN" dirty="0">
                <a:latin typeface="隶书" panose="02010509060101010101" pitchFamily="49" charset="-122"/>
                <a:ea typeface="隶书" panose="02010509060101010101" pitchFamily="49" charset="-122"/>
              </a:rPr>
              <a:t> </a:t>
            </a:r>
            <a:r>
              <a:rPr lang="en-US" altLang="zh-CN" dirty="0" err="1">
                <a:latin typeface="隶书" panose="02010509060101010101" pitchFamily="49" charset="-122"/>
                <a:ea typeface="隶书" panose="02010509060101010101" pitchFamily="49" charset="-122"/>
              </a:rPr>
              <a:t>q</a:t>
            </a:r>
            <a:r>
              <a:rPr lang="en-US" altLang="zh-CN" dirty="0" err="1">
                <a:solidFill>
                  <a:srgbClr val="622820"/>
                </a:solidFill>
                <a:latin typeface="隶书" panose="02010509060101010101" pitchFamily="49" charset="-122"/>
                <a:ea typeface="隶书" panose="02010509060101010101" pitchFamily="49" charset="-122"/>
              </a:rPr>
              <a:t>ueue_entry</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20</a:t>
            </a:fld>
            <a:endParaRPr lang="zh-CN" altLang="en-US" dirty="0"/>
          </a:p>
        </p:txBody>
      </p:sp>
      <p:pic>
        <p:nvPicPr>
          <p:cNvPr id="5" name="图片 4"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584200"/>
            <a:ext cx="7257583" cy="5941144"/>
          </a:xfrm>
          <a:prstGeom prst="rect">
            <a:avLst/>
          </a:prstGeom>
        </p:spPr>
      </p:pic>
    </p:spTree>
    <p:extLst>
      <p:ext uri="{BB962C8B-B14F-4D97-AF65-F5344CB8AC3E}">
        <p14:creationId xmlns:p14="http://schemas.microsoft.com/office/powerpoint/2010/main" val="411957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1" y="0"/>
            <a:ext cx="9077325" cy="584200"/>
          </a:xfrm>
        </p:spPr>
        <p:txBody>
          <a:bodyPr/>
          <a:lstStyle/>
          <a:p>
            <a:pPr>
              <a:defRPr/>
            </a:pPr>
            <a:r>
              <a:rPr lang="en-US" altLang="zh-CN" dirty="0" err="1">
                <a:latin typeface="隶书" panose="02010509060101010101" pitchFamily="49" charset="-122"/>
                <a:ea typeface="隶书" panose="02010509060101010101" pitchFamily="49" charset="-122"/>
              </a:rPr>
              <a:t>update_bitmap_score</a:t>
            </a:r>
            <a:r>
              <a:rPr lang="en-US" altLang="zh-CN" dirty="0">
                <a:latin typeface="隶书" panose="02010509060101010101" pitchFamily="49" charset="-122"/>
                <a:ea typeface="隶书" panose="02010509060101010101" pitchFamily="49" charset="-122"/>
              </a:rPr>
              <a:t>()                    </a:t>
            </a:r>
            <a:r>
              <a:rPr lang="zh-CN" altLang="en-US" dirty="0">
                <a:latin typeface="隶书" panose="02010509060101010101" pitchFamily="49" charset="-122"/>
                <a:ea typeface="隶书" panose="02010509060101010101" pitchFamily="49" charset="-122"/>
              </a:rPr>
              <a:t>搜索策略</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21</a:t>
            </a:fld>
            <a:endParaRPr lang="zh-CN" altLang="en-US" dirty="0"/>
          </a:p>
        </p:txBody>
      </p:sp>
    </p:spTree>
    <p:extLst>
      <p:ext uri="{BB962C8B-B14F-4D97-AF65-F5344CB8AC3E}">
        <p14:creationId xmlns:p14="http://schemas.microsoft.com/office/powerpoint/2010/main" val="1159620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1" y="0"/>
            <a:ext cx="9077325" cy="584200"/>
          </a:xfrm>
        </p:spPr>
        <p:txBody>
          <a:bodyPr/>
          <a:lstStyle/>
          <a:p>
            <a:pPr>
              <a:defRPr/>
            </a:pPr>
            <a:r>
              <a:rPr lang="en-US" altLang="zh-CN" dirty="0" err="1">
                <a:latin typeface="隶书" panose="02010509060101010101" pitchFamily="49" charset="-122"/>
                <a:ea typeface="隶书" panose="02010509060101010101" pitchFamily="49" charset="-122"/>
              </a:rPr>
              <a:t>calculate_score</a:t>
            </a:r>
            <a:r>
              <a:rPr lang="en-US" altLang="zh-CN" dirty="0">
                <a:latin typeface="隶书" panose="02010509060101010101" pitchFamily="49" charset="-122"/>
                <a:ea typeface="隶书" panose="02010509060101010101" pitchFamily="49" charset="-122"/>
              </a:rPr>
              <a:t>()                        </a:t>
            </a:r>
            <a:r>
              <a:rPr lang="zh-CN" altLang="en-US" dirty="0">
                <a:latin typeface="隶书" panose="02010509060101010101" pitchFamily="49" charset="-122"/>
                <a:ea typeface="隶书" panose="02010509060101010101" pitchFamily="49" charset="-122"/>
              </a:rPr>
              <a:t>能量分配</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22</a:t>
            </a:fld>
            <a:endParaRPr lang="zh-CN" altLang="en-US" dirty="0"/>
          </a:p>
        </p:txBody>
      </p:sp>
    </p:spTree>
    <p:extLst>
      <p:ext uri="{BB962C8B-B14F-4D97-AF65-F5344CB8AC3E}">
        <p14:creationId xmlns:p14="http://schemas.microsoft.com/office/powerpoint/2010/main" val="2055725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latin typeface="隶书" panose="02010509060101010101" pitchFamily="49" charset="-122"/>
                <a:ea typeface="隶书" panose="02010509060101010101" pitchFamily="49" charset="-122"/>
              </a:rPr>
              <a:t>实验</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589406"/>
            <a:ext cx="8892480" cy="3564879"/>
          </a:xfrm>
        </p:spPr>
        <p:txBody>
          <a:bodyPr/>
          <a:lstStyle/>
          <a:p>
            <a:pPr>
              <a:defRPr/>
            </a:pPr>
            <a:r>
              <a:rPr lang="zh-CN" altLang="en-US" dirty="0"/>
              <a:t>实验配置：</a:t>
            </a:r>
            <a:endParaRPr lang="en-US" altLang="zh-CN" dirty="0"/>
          </a:p>
          <a:p>
            <a:pPr>
              <a:buFont typeface="Wingdings" pitchFamily="2" charset="2"/>
              <a:buChar char="l"/>
              <a:defRPr/>
            </a:pPr>
            <a:r>
              <a:rPr lang="zh-CN" altLang="en-US" b="0" dirty="0"/>
              <a:t>服务器</a:t>
            </a:r>
            <a:r>
              <a:rPr lang="en-US" altLang="zh-CN" b="0" dirty="0"/>
              <a:t>1:</a:t>
            </a:r>
            <a:r>
              <a:rPr lang="zh-CN" altLang="en-US" b="0" dirty="0"/>
              <a:t> </a:t>
            </a:r>
            <a:r>
              <a:rPr lang="en-US" altLang="zh-CN" b="0" dirty="0"/>
              <a:t>64</a:t>
            </a:r>
            <a:r>
              <a:rPr lang="zh-CN" altLang="en-US" b="0" dirty="0"/>
              <a:t>位机 </a:t>
            </a:r>
            <a:r>
              <a:rPr lang="en-US" altLang="zh-CN" b="0" dirty="0"/>
              <a:t>1</a:t>
            </a:r>
            <a:r>
              <a:rPr lang="zh-CN" altLang="en-US" b="0" dirty="0"/>
              <a:t>核</a:t>
            </a:r>
            <a:r>
              <a:rPr lang="en-US" altLang="zh-CN" b="0" dirty="0"/>
              <a:t>(Xeon®E5-26XX V4) 2G Debian 9.0</a:t>
            </a:r>
          </a:p>
          <a:p>
            <a:pPr>
              <a:buFont typeface="Wingdings" pitchFamily="2" charset="2"/>
              <a:buChar char="l"/>
              <a:defRPr/>
            </a:pPr>
            <a:r>
              <a:rPr lang="zh-CN" altLang="en-US" b="0" dirty="0"/>
              <a:t>服务器</a:t>
            </a:r>
            <a:r>
              <a:rPr lang="en-US" altLang="zh-CN" b="0" dirty="0"/>
              <a:t>2: 64</a:t>
            </a:r>
            <a:r>
              <a:rPr lang="zh-CN" altLang="en-US" b="0" dirty="0"/>
              <a:t>位机 </a:t>
            </a:r>
            <a:r>
              <a:rPr lang="en-US" altLang="zh-CN" b="0" dirty="0"/>
              <a:t>1</a:t>
            </a:r>
            <a:r>
              <a:rPr lang="zh-CN" altLang="en-US" b="0" dirty="0"/>
              <a:t>核</a:t>
            </a:r>
            <a:r>
              <a:rPr lang="en-US" altLang="zh-CN" b="0" dirty="0"/>
              <a:t>(Xeon®E5-26XX V4) 2G Debian 9.0</a:t>
            </a:r>
          </a:p>
          <a:p>
            <a:pPr>
              <a:buFont typeface="Wingdings" pitchFamily="2" charset="2"/>
              <a:buChar char="l"/>
              <a:defRPr/>
            </a:pPr>
            <a:r>
              <a:rPr lang="zh-CN" altLang="en-US" b="0" dirty="0"/>
              <a:t>服务器</a:t>
            </a:r>
            <a:r>
              <a:rPr lang="en-US" altLang="zh-CN" b="0" dirty="0"/>
              <a:t>3: 64</a:t>
            </a:r>
            <a:r>
              <a:rPr lang="zh-CN" altLang="en-US" b="0" dirty="0"/>
              <a:t>位机 </a:t>
            </a:r>
            <a:r>
              <a:rPr lang="en-US" altLang="zh-CN" b="0" dirty="0"/>
              <a:t>1</a:t>
            </a:r>
            <a:r>
              <a:rPr lang="zh-CN" altLang="en-US" b="0" dirty="0"/>
              <a:t>核</a:t>
            </a:r>
            <a:r>
              <a:rPr lang="en-US" altLang="zh-CN" b="0" dirty="0"/>
              <a:t>(Virtual CPU) 1G Debian 9.0</a:t>
            </a:r>
          </a:p>
          <a:p>
            <a:pPr>
              <a:buFont typeface="Wingdings" pitchFamily="2" charset="2"/>
              <a:buChar char="l"/>
              <a:defRPr/>
            </a:pPr>
            <a:r>
              <a:rPr lang="zh-CN" altLang="en-US" b="0" dirty="0"/>
              <a:t>服务器</a:t>
            </a:r>
            <a:r>
              <a:rPr lang="en-US" altLang="zh-CN" b="0" dirty="0"/>
              <a:t>4: 64</a:t>
            </a:r>
            <a:r>
              <a:rPr lang="zh-CN" altLang="en-US" b="0" dirty="0"/>
              <a:t>位机 </a:t>
            </a:r>
            <a:r>
              <a:rPr lang="en-US" altLang="zh-CN" b="0" dirty="0"/>
              <a:t>1</a:t>
            </a:r>
            <a:r>
              <a:rPr lang="zh-CN" altLang="en-US" b="0" dirty="0"/>
              <a:t>核</a:t>
            </a:r>
            <a:r>
              <a:rPr lang="en-US" altLang="zh-CN" b="0" dirty="0"/>
              <a:t>(</a:t>
            </a:r>
            <a:r>
              <a:rPr lang="en-US" altLang="zh-CN" b="0" dirty="0" err="1"/>
              <a:t>Xeon®Platinum</a:t>
            </a:r>
            <a:r>
              <a:rPr lang="en-US" altLang="zh-CN" b="0" dirty="0"/>
              <a:t> 8163) 2G ubuntu 16.04.3</a:t>
            </a:r>
          </a:p>
          <a:p>
            <a:pPr>
              <a:buFont typeface="Wingdings" pitchFamily="2" charset="2"/>
              <a:buChar char="l"/>
              <a:defRPr/>
            </a:pPr>
            <a:r>
              <a:rPr lang="zh-CN" altLang="en-US" b="0" dirty="0"/>
              <a:t>服务器</a:t>
            </a:r>
            <a:r>
              <a:rPr lang="en-US" altLang="zh-CN" b="0" dirty="0"/>
              <a:t>5: 64</a:t>
            </a:r>
            <a:r>
              <a:rPr lang="zh-CN" altLang="en-US" b="0" dirty="0"/>
              <a:t>位机 </a:t>
            </a:r>
            <a:r>
              <a:rPr lang="en-US" altLang="zh-CN" b="0" dirty="0"/>
              <a:t>1</a:t>
            </a:r>
            <a:r>
              <a:rPr lang="zh-CN" altLang="en-US" b="0" dirty="0"/>
              <a:t>核</a:t>
            </a:r>
            <a:r>
              <a:rPr lang="en-US" altLang="zh-CN" b="0" dirty="0"/>
              <a:t>(Xeon®E5-2682 V4) 2G ubuntu 16.04.6</a:t>
            </a:r>
          </a:p>
          <a:p>
            <a:pPr>
              <a:buFont typeface="Wingdings" pitchFamily="2" charset="2"/>
              <a:buChar char="l"/>
              <a:defRPr/>
            </a:pPr>
            <a:r>
              <a:rPr lang="zh-CN" altLang="en-US" b="0" dirty="0"/>
              <a:t>服务器</a:t>
            </a:r>
            <a:r>
              <a:rPr lang="en-US" altLang="zh-CN" b="0" dirty="0"/>
              <a:t>6: 64</a:t>
            </a:r>
            <a:r>
              <a:rPr lang="zh-CN" altLang="en-US" b="0" dirty="0"/>
              <a:t>位机 </a:t>
            </a:r>
            <a:r>
              <a:rPr lang="en-US" altLang="zh-CN" b="0" dirty="0"/>
              <a:t>1</a:t>
            </a:r>
            <a:r>
              <a:rPr lang="zh-CN" altLang="en-US" b="0" dirty="0"/>
              <a:t>核</a:t>
            </a:r>
            <a:r>
              <a:rPr lang="en-US" altLang="zh-CN" b="0" dirty="0"/>
              <a:t>(</a:t>
            </a:r>
            <a:r>
              <a:rPr lang="en-US" altLang="zh-CN" b="0" dirty="0" err="1"/>
              <a:t>intel®Xeon</a:t>
            </a:r>
            <a:r>
              <a:rPr lang="en-US" altLang="zh-CN" b="0" dirty="0"/>
              <a:t>® CPU) 2.6G Debian 9.0</a:t>
            </a:r>
          </a:p>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eaLnBrk="1" hangingPunct="1">
              <a:defRPr/>
            </a:pPr>
            <a:endParaRPr altLang="zh-CN"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23</a:t>
            </a:fld>
            <a:endParaRPr lang="zh-CN" altLang="en-US" dirty="0"/>
          </a:p>
        </p:txBody>
      </p:sp>
      <p:sp>
        <p:nvSpPr>
          <p:cNvPr id="5" name="内容占位符 4"/>
          <p:cNvSpPr>
            <a:spLocks noGrp="1"/>
          </p:cNvSpPr>
          <p:nvPr>
            <p:ph idx="4294967295"/>
          </p:nvPr>
        </p:nvSpPr>
        <p:spPr>
          <a:xfrm>
            <a:off x="-13253" y="3443163"/>
            <a:ext cx="7992888" cy="3168775"/>
          </a:xfrm>
        </p:spPr>
        <p:txBody>
          <a:bodyPr/>
          <a:lstStyle/>
          <a:p>
            <a:pPr>
              <a:defRPr/>
            </a:pPr>
            <a:endParaRPr lang="en-US" altLang="zh-CN" dirty="0"/>
          </a:p>
          <a:p>
            <a:pPr>
              <a:defRPr/>
            </a:pPr>
            <a:r>
              <a:rPr lang="zh-CN" altLang="en-US" dirty="0"/>
              <a:t>实验对象：</a:t>
            </a:r>
            <a:r>
              <a:rPr lang="zh-CN" altLang="en-US" b="0" dirty="0"/>
              <a:t>初始种子集为空</a:t>
            </a:r>
            <a:endParaRPr kumimoji="1" lang="en-US" altLang="zh-CN" b="0" dirty="0"/>
          </a:p>
          <a:p>
            <a:pPr>
              <a:buFont typeface="Wingdings" pitchFamily="2" charset="2"/>
              <a:buChar char="l"/>
            </a:pPr>
            <a:r>
              <a:rPr kumimoji="1" lang="en-US" altLang="zh-CN" b="0" dirty="0" err="1"/>
              <a:t>objdump</a:t>
            </a:r>
            <a:r>
              <a:rPr kumimoji="1" lang="zh-CN" altLang="en-US" b="0" dirty="0"/>
              <a:t> </a:t>
            </a:r>
            <a:r>
              <a:rPr kumimoji="1" lang="en-US" altLang="zh-CN" b="0" dirty="0"/>
              <a:t>–x</a:t>
            </a:r>
            <a:r>
              <a:rPr kumimoji="1" lang="zh-CN" altLang="en-US" b="0" dirty="0"/>
              <a:t> </a:t>
            </a:r>
            <a:r>
              <a:rPr kumimoji="1" lang="en-US" altLang="zh-CN" b="0" dirty="0"/>
              <a:t>–D</a:t>
            </a:r>
            <a:r>
              <a:rPr kumimoji="1" lang="zh-CN" altLang="en-US" b="0" dirty="0"/>
              <a:t> </a:t>
            </a:r>
            <a:r>
              <a:rPr kumimoji="1" lang="en-US" altLang="zh-CN" b="0" dirty="0"/>
              <a:t>–R</a:t>
            </a:r>
            <a:r>
              <a:rPr kumimoji="1" lang="zh-CN" altLang="en-US" b="0" dirty="0"/>
              <a:t> </a:t>
            </a:r>
            <a:r>
              <a:rPr kumimoji="1" lang="en-US" altLang="zh-CN" b="0" dirty="0"/>
              <a:t>-S</a:t>
            </a:r>
            <a:endParaRPr kumimoji="1" lang="zh-CN" altLang="en-US" b="0" dirty="0"/>
          </a:p>
          <a:p>
            <a:pPr>
              <a:buFont typeface="Wingdings" pitchFamily="2" charset="2"/>
              <a:buChar char="l"/>
              <a:defRPr/>
            </a:pPr>
            <a:r>
              <a:rPr lang="en-US" altLang="zh-CN" b="0" dirty="0"/>
              <a:t>nm-new</a:t>
            </a:r>
            <a:r>
              <a:rPr lang="zh-CN" altLang="en-US" b="0" dirty="0"/>
              <a:t> </a:t>
            </a:r>
            <a:r>
              <a:rPr lang="en-US" altLang="zh-CN" b="0" dirty="0"/>
              <a:t>-C</a:t>
            </a:r>
          </a:p>
          <a:p>
            <a:pPr>
              <a:buFont typeface="Wingdings" pitchFamily="2" charset="2"/>
              <a:buChar char="l"/>
              <a:defRPr/>
            </a:pPr>
            <a:r>
              <a:rPr lang="en-US" altLang="zh-CN" b="0" dirty="0" err="1"/>
              <a:t>readelf</a:t>
            </a:r>
            <a:endParaRPr lang="en-US" altLang="zh-CN" b="0" dirty="0"/>
          </a:p>
          <a:p>
            <a:pPr>
              <a:buFont typeface="Wingdings" pitchFamily="2" charset="2"/>
              <a:buChar char="l"/>
              <a:defRPr/>
            </a:pPr>
            <a:r>
              <a:rPr lang="en-US" altLang="zh-CN" b="0" dirty="0"/>
              <a:t>size</a:t>
            </a:r>
          </a:p>
          <a:p>
            <a:pPr>
              <a:buFont typeface="Wingdings" pitchFamily="2" charset="2"/>
              <a:buChar char="l"/>
              <a:defRPr/>
            </a:pPr>
            <a:r>
              <a:rPr lang="en-US" altLang="zh-CN" b="0" dirty="0" smtClean="0"/>
              <a:t>strings</a:t>
            </a:r>
            <a:endParaRPr lang="en-US" altLang="zh-CN" b="0" dirty="0"/>
          </a:p>
          <a:p>
            <a:pPr>
              <a:defRPr/>
            </a:pPr>
            <a:endParaRPr lang="en-US" altLang="zh-CN" dirty="0"/>
          </a:p>
          <a:p>
            <a:pPr>
              <a:defRPr/>
            </a:pPr>
            <a:endParaRPr lang="en-US" altLang="zh-CN" dirty="0"/>
          </a:p>
          <a:p>
            <a:pPr>
              <a:defRPr/>
            </a:pPr>
            <a:endParaRPr lang="en-US" altLang="zh-CN" dirty="0"/>
          </a:p>
          <a:p>
            <a:pPr eaLnBrk="1" hangingPunct="1">
              <a:defRPr/>
            </a:pPr>
            <a:endParaRPr altLang="zh-CN" dirty="0"/>
          </a:p>
        </p:txBody>
      </p:sp>
    </p:spTree>
    <p:extLst>
      <p:ext uri="{BB962C8B-B14F-4D97-AF65-F5344CB8AC3E}">
        <p14:creationId xmlns:p14="http://schemas.microsoft.com/office/powerpoint/2010/main" val="796271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latin typeface="隶书" panose="02010509060101010101" pitchFamily="49" charset="-122"/>
                <a:ea typeface="隶书" panose="02010509060101010101" pitchFamily="49" charset="-122"/>
              </a:rPr>
              <a:t>实验结果</a:t>
            </a:r>
            <a:endParaRPr lang="zh-CN" dirty="0">
              <a:solidFill>
                <a:srgbClr val="622820"/>
              </a:solidFill>
              <a:latin typeface="隶书" panose="02010509060101010101" pitchFamily="49" charset="-122"/>
              <a:ea typeface="隶书" panose="02010509060101010101" pitchFamily="49" charset="-122"/>
            </a:endParaRPr>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24</a:t>
            </a:fld>
            <a:endParaRPr lang="zh-CN" altLang="en-US" dirty="0"/>
          </a:p>
        </p:txBody>
      </p:sp>
      <p:graphicFrame>
        <p:nvGraphicFramePr>
          <p:cNvPr id="7" name="表格 6">
            <a:extLst>
              <a:ext uri="{FF2B5EF4-FFF2-40B4-BE49-F238E27FC236}">
                <a16:creationId xmlns="" xmlns:a16="http://schemas.microsoft.com/office/drawing/2014/main" id="{8325092D-BBA7-8E48-B4FE-1531DCDBE717}"/>
              </a:ext>
            </a:extLst>
          </p:cNvPr>
          <p:cNvGraphicFramePr>
            <a:graphicFrameLocks noGrp="1"/>
          </p:cNvGraphicFramePr>
          <p:nvPr>
            <p:extLst>
              <p:ext uri="{D42A27DB-BD31-4B8C-83A1-F6EECF244321}">
                <p14:modId xmlns:p14="http://schemas.microsoft.com/office/powerpoint/2010/main" val="1056954872"/>
              </p:ext>
            </p:extLst>
          </p:nvPr>
        </p:nvGraphicFramePr>
        <p:xfrm>
          <a:off x="611560" y="1412776"/>
          <a:ext cx="7920882" cy="2592288"/>
        </p:xfrm>
        <a:graphic>
          <a:graphicData uri="http://schemas.openxmlformats.org/drawingml/2006/table">
            <a:tbl>
              <a:tblPr firstRow="1" bandRow="1">
                <a:tableStyleId>{5C22544A-7EE6-4342-B048-85BDC9FD1C3A}</a:tableStyleId>
              </a:tblPr>
              <a:tblGrid>
                <a:gridCol w="1440160">
                  <a:extLst>
                    <a:ext uri="{9D8B030D-6E8A-4147-A177-3AD203B41FA5}">
                      <a16:colId xmlns="" xmlns:a16="http://schemas.microsoft.com/office/drawing/2014/main" val="815952219"/>
                    </a:ext>
                  </a:extLst>
                </a:gridCol>
                <a:gridCol w="1200134">
                  <a:extLst>
                    <a:ext uri="{9D8B030D-6E8A-4147-A177-3AD203B41FA5}">
                      <a16:colId xmlns="" xmlns:a16="http://schemas.microsoft.com/office/drawing/2014/main" val="1070639793"/>
                    </a:ext>
                  </a:extLst>
                </a:gridCol>
                <a:gridCol w="1320147">
                  <a:extLst>
                    <a:ext uri="{9D8B030D-6E8A-4147-A177-3AD203B41FA5}">
                      <a16:colId xmlns="" xmlns:a16="http://schemas.microsoft.com/office/drawing/2014/main" val="3470068410"/>
                    </a:ext>
                  </a:extLst>
                </a:gridCol>
                <a:gridCol w="1320147">
                  <a:extLst>
                    <a:ext uri="{9D8B030D-6E8A-4147-A177-3AD203B41FA5}">
                      <a16:colId xmlns="" xmlns:a16="http://schemas.microsoft.com/office/drawing/2014/main" val="843187213"/>
                    </a:ext>
                  </a:extLst>
                </a:gridCol>
                <a:gridCol w="1320147">
                  <a:extLst>
                    <a:ext uri="{9D8B030D-6E8A-4147-A177-3AD203B41FA5}">
                      <a16:colId xmlns="" xmlns:a16="http://schemas.microsoft.com/office/drawing/2014/main" val="1941695308"/>
                    </a:ext>
                  </a:extLst>
                </a:gridCol>
                <a:gridCol w="1320147">
                  <a:extLst>
                    <a:ext uri="{9D8B030D-6E8A-4147-A177-3AD203B41FA5}">
                      <a16:colId xmlns="" xmlns:a16="http://schemas.microsoft.com/office/drawing/2014/main" val="3940466024"/>
                    </a:ext>
                  </a:extLst>
                </a:gridCol>
              </a:tblGrid>
              <a:tr h="432048">
                <a:tc>
                  <a:txBody>
                    <a:bodyPr/>
                    <a:lstStyle/>
                    <a:p>
                      <a:pPr algn="ctr"/>
                      <a:r>
                        <a:rPr lang="en-US" altLang="zh-CN" dirty="0"/>
                        <a:t>   </a:t>
                      </a:r>
                      <a:endParaRPr lang="zh-CN"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CN" dirty="0" err="1"/>
                        <a:t>objdump</a:t>
                      </a:r>
                      <a:endParaRPr lang="zh-CN" altLang="en-US" dirty="0"/>
                    </a:p>
                  </a:txBody>
                  <a:tcPr/>
                </a:tc>
                <a:tc>
                  <a:txBody>
                    <a:bodyPr/>
                    <a:lstStyle/>
                    <a:p>
                      <a:pPr algn="ctr"/>
                      <a:r>
                        <a:rPr lang="en-US" altLang="zh-CN" dirty="0"/>
                        <a:t>nm-new</a:t>
                      </a:r>
                      <a:endParaRPr lang="zh-CN" altLang="en-US" dirty="0"/>
                    </a:p>
                  </a:txBody>
                  <a:tcPr/>
                </a:tc>
                <a:tc>
                  <a:txBody>
                    <a:bodyPr/>
                    <a:lstStyle/>
                    <a:p>
                      <a:pPr algn="ctr"/>
                      <a:r>
                        <a:rPr lang="en-US" altLang="zh-CN" dirty="0" err="1"/>
                        <a:t>readelf</a:t>
                      </a:r>
                      <a:endParaRPr lang="zh-CN" altLang="en-US" dirty="0"/>
                    </a:p>
                  </a:txBody>
                  <a:tcPr/>
                </a:tc>
                <a:tc>
                  <a:txBody>
                    <a:bodyPr/>
                    <a:lstStyle/>
                    <a:p>
                      <a:pPr algn="ctr"/>
                      <a:r>
                        <a:rPr lang="en-US" altLang="zh-CN" dirty="0"/>
                        <a:t>size</a:t>
                      </a:r>
                      <a:endParaRPr lang="zh-CN" altLang="en-US" dirty="0"/>
                    </a:p>
                  </a:txBody>
                  <a:tcPr/>
                </a:tc>
                <a:tc>
                  <a:txBody>
                    <a:bodyPr/>
                    <a:lstStyle/>
                    <a:p>
                      <a:pPr algn="ctr"/>
                      <a:r>
                        <a:rPr lang="en-US" altLang="zh-CN" dirty="0" smtClean="0"/>
                        <a:t>strings</a:t>
                      </a:r>
                      <a:endParaRPr lang="zh-CN" altLang="en-US" dirty="0"/>
                    </a:p>
                  </a:txBody>
                  <a:tcPr/>
                </a:tc>
                <a:extLst>
                  <a:ext uri="{0D108BD9-81ED-4DB2-BD59-A6C34878D82A}">
                    <a16:rowId xmlns="" xmlns:a16="http://schemas.microsoft.com/office/drawing/2014/main" val="2664217935"/>
                  </a:ext>
                </a:extLst>
              </a:tr>
              <a:tr h="432048">
                <a:tc>
                  <a:txBody>
                    <a:bodyPr/>
                    <a:lstStyle/>
                    <a:p>
                      <a:pPr algn="ctr"/>
                      <a:r>
                        <a:rPr lang="en-US" altLang="zh-CN" dirty="0"/>
                        <a:t>AFL</a:t>
                      </a:r>
                      <a:endParaRPr lang="zh-CN" altLang="en-US" dirty="0"/>
                    </a:p>
                  </a:txBody>
                  <a:tcPr/>
                </a:tc>
                <a:tc>
                  <a:txBody>
                    <a:bodyPr/>
                    <a:lstStyle/>
                    <a:p>
                      <a:pPr algn="ctr"/>
                      <a:r>
                        <a:rPr lang="en-US" altLang="zh-CN" dirty="0"/>
                        <a:t>1/0</a:t>
                      </a:r>
                      <a:endParaRPr lang="zh-CN" altLang="en-US" dirty="0"/>
                    </a:p>
                  </a:txBody>
                  <a:tcPr/>
                </a:tc>
                <a:tc>
                  <a:txBody>
                    <a:bodyPr/>
                    <a:lstStyle/>
                    <a:p>
                      <a:pPr algn="ctr"/>
                      <a:r>
                        <a:rPr lang="en-US" altLang="zh-CN" dirty="0"/>
                        <a:t>448/14</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0/0</a:t>
                      </a:r>
                      <a:endParaRPr lang="zh-CN" altLang="en-US" dirty="0"/>
                    </a:p>
                  </a:txBody>
                  <a:tcPr/>
                </a:tc>
                <a:extLst>
                  <a:ext uri="{0D108BD9-81ED-4DB2-BD59-A6C34878D82A}">
                    <a16:rowId xmlns="" xmlns:a16="http://schemas.microsoft.com/office/drawing/2014/main" val="2603317684"/>
                  </a:ext>
                </a:extLst>
              </a:tr>
              <a:tr h="432048">
                <a:tc>
                  <a:txBody>
                    <a:bodyPr/>
                    <a:lstStyle/>
                    <a:p>
                      <a:pPr algn="ctr"/>
                      <a:r>
                        <a:rPr lang="en-US" altLang="zh-CN" dirty="0" err="1"/>
                        <a:t>AFLfast</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985/216</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0/0</a:t>
                      </a:r>
                      <a:endParaRPr lang="zh-CN" altLang="en-US" dirty="0"/>
                    </a:p>
                  </a:txBody>
                  <a:tcPr/>
                </a:tc>
                <a:extLst>
                  <a:ext uri="{0D108BD9-81ED-4DB2-BD59-A6C34878D82A}">
                    <a16:rowId xmlns="" xmlns:a16="http://schemas.microsoft.com/office/drawing/2014/main" val="1365053796"/>
                  </a:ext>
                </a:extLst>
              </a:tr>
              <a:tr h="432048">
                <a:tc>
                  <a:txBody>
                    <a:bodyPr/>
                    <a:lstStyle/>
                    <a:p>
                      <a:pPr algn="ctr"/>
                      <a:r>
                        <a:rPr lang="en-US" altLang="zh-CN" dirty="0"/>
                        <a:t>AFLslow1.2</a:t>
                      </a:r>
                      <a:endParaRPr lang="zh-CN" altLang="en-US" dirty="0"/>
                    </a:p>
                  </a:txBody>
                  <a:tcPr/>
                </a:tc>
                <a:tc>
                  <a:txBody>
                    <a:bodyPr/>
                    <a:lstStyle/>
                    <a:p>
                      <a:pPr algn="ctr"/>
                      <a:r>
                        <a:rPr lang="en-US" altLang="zh-CN" dirty="0"/>
                        <a:t>12/0</a:t>
                      </a:r>
                      <a:endParaRPr lang="zh-CN" altLang="en-US" dirty="0"/>
                    </a:p>
                  </a:txBody>
                  <a:tcPr/>
                </a:tc>
                <a:tc>
                  <a:txBody>
                    <a:bodyPr/>
                    <a:lstStyle/>
                    <a:p>
                      <a:pPr algn="ctr"/>
                      <a:r>
                        <a:rPr lang="en-US" altLang="zh-CN" dirty="0"/>
                        <a:t>1218/39</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14/0</a:t>
                      </a:r>
                      <a:endParaRPr lang="zh-CN" altLang="en-US" dirty="0"/>
                    </a:p>
                  </a:txBody>
                  <a:tcPr/>
                </a:tc>
                <a:tc>
                  <a:txBody>
                    <a:bodyPr/>
                    <a:lstStyle/>
                    <a:p>
                      <a:pPr algn="ctr"/>
                      <a:r>
                        <a:rPr lang="en-US" altLang="zh-CN" dirty="0"/>
                        <a:t>0/0</a:t>
                      </a:r>
                      <a:endParaRPr lang="zh-CN" altLang="en-US" dirty="0"/>
                    </a:p>
                  </a:txBody>
                  <a:tcPr/>
                </a:tc>
                <a:extLst>
                  <a:ext uri="{0D108BD9-81ED-4DB2-BD59-A6C34878D82A}">
                    <a16:rowId xmlns="" xmlns:a16="http://schemas.microsoft.com/office/drawing/2014/main" val="907832744"/>
                  </a:ext>
                </a:extLst>
              </a:tr>
              <a:tr h="432048">
                <a:tc>
                  <a:txBody>
                    <a:bodyPr/>
                    <a:lstStyle/>
                    <a:p>
                      <a:pPr algn="ctr"/>
                      <a:r>
                        <a:rPr lang="en-US" altLang="zh-CN" dirty="0"/>
                        <a:t>AFLslow1.3</a:t>
                      </a:r>
                      <a:endParaRPr lang="zh-CN" altLang="en-US" dirty="0"/>
                    </a:p>
                  </a:txBody>
                  <a:tcPr/>
                </a:tc>
                <a:tc>
                  <a:txBody>
                    <a:bodyPr/>
                    <a:lstStyle/>
                    <a:p>
                      <a:pPr algn="ctr"/>
                      <a:r>
                        <a:rPr lang="en-US" altLang="zh-CN" dirty="0"/>
                        <a:t>11/0</a:t>
                      </a:r>
                      <a:endParaRPr lang="zh-CN" altLang="en-US" dirty="0"/>
                    </a:p>
                  </a:txBody>
                  <a:tcPr/>
                </a:tc>
                <a:tc>
                  <a:txBody>
                    <a:bodyPr/>
                    <a:lstStyle/>
                    <a:p>
                      <a:pPr algn="ctr"/>
                      <a:r>
                        <a:rPr lang="en-US" altLang="zh-CN" dirty="0"/>
                        <a:t>991/32</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13/0</a:t>
                      </a:r>
                      <a:endParaRPr lang="zh-CN" altLang="en-US" dirty="0"/>
                    </a:p>
                  </a:txBody>
                  <a:tcPr/>
                </a:tc>
                <a:tc>
                  <a:txBody>
                    <a:bodyPr/>
                    <a:lstStyle/>
                    <a:p>
                      <a:pPr algn="ctr"/>
                      <a:r>
                        <a:rPr lang="en-US" altLang="zh-CN" dirty="0"/>
                        <a:t>0/0</a:t>
                      </a:r>
                      <a:endParaRPr lang="zh-CN" altLang="en-US" dirty="0"/>
                    </a:p>
                  </a:txBody>
                  <a:tcPr/>
                </a:tc>
                <a:extLst>
                  <a:ext uri="{0D108BD9-81ED-4DB2-BD59-A6C34878D82A}">
                    <a16:rowId xmlns="" xmlns:a16="http://schemas.microsoft.com/office/drawing/2014/main" val="3382600929"/>
                  </a:ext>
                </a:extLst>
              </a:tr>
              <a:tr h="4320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AFLslow1.4</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1044/31</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0/0</a:t>
                      </a:r>
                      <a:endParaRPr lang="zh-CN" altLang="en-US" dirty="0"/>
                    </a:p>
                  </a:txBody>
                  <a:tcPr/>
                </a:tc>
                <a:tc>
                  <a:txBody>
                    <a:bodyPr/>
                    <a:lstStyle/>
                    <a:p>
                      <a:pPr algn="ctr"/>
                      <a:r>
                        <a:rPr lang="en-US" altLang="zh-CN" dirty="0"/>
                        <a:t>0/0</a:t>
                      </a:r>
                      <a:endParaRPr lang="zh-CN" altLang="en-US" dirty="0"/>
                    </a:p>
                  </a:txBody>
                  <a:tcPr/>
                </a:tc>
                <a:extLst>
                  <a:ext uri="{0D108BD9-81ED-4DB2-BD59-A6C34878D82A}">
                    <a16:rowId xmlns="" xmlns:a16="http://schemas.microsoft.com/office/drawing/2014/main" val="1470818489"/>
                  </a:ext>
                </a:extLst>
              </a:tr>
            </a:tbl>
          </a:graphicData>
        </a:graphic>
      </p:graphicFrame>
      <p:sp>
        <p:nvSpPr>
          <p:cNvPr id="8" name="文本框 7">
            <a:extLst>
              <a:ext uri="{FF2B5EF4-FFF2-40B4-BE49-F238E27FC236}">
                <a16:creationId xmlns="" xmlns:a16="http://schemas.microsoft.com/office/drawing/2014/main" id="{1C519B46-D24F-8248-B5A8-AB06D0042FB5}"/>
              </a:ext>
            </a:extLst>
          </p:cNvPr>
          <p:cNvSpPr txBox="1"/>
          <p:nvPr/>
        </p:nvSpPr>
        <p:spPr>
          <a:xfrm>
            <a:off x="1188022" y="1412775"/>
            <a:ext cx="1584176" cy="246221"/>
          </a:xfrm>
          <a:prstGeom prst="rect">
            <a:avLst/>
          </a:prstGeom>
          <a:noFill/>
        </p:spPr>
        <p:txBody>
          <a:bodyPr wrap="square" rtlCol="0">
            <a:spAutoFit/>
          </a:bodyPr>
          <a:lstStyle/>
          <a:p>
            <a:r>
              <a:rPr kumimoji="1" lang="en-US" altLang="zh-CN" sz="1000" dirty="0"/>
              <a:t>Crash/hangs</a:t>
            </a:r>
            <a:endParaRPr kumimoji="1" lang="zh-CN" altLang="en-US" sz="1000" dirty="0"/>
          </a:p>
        </p:txBody>
      </p:sp>
      <p:sp>
        <p:nvSpPr>
          <p:cNvPr id="2" name="矩形 1"/>
          <p:cNvSpPr/>
          <p:nvPr/>
        </p:nvSpPr>
        <p:spPr>
          <a:xfrm>
            <a:off x="554078" y="813821"/>
            <a:ext cx="2852063" cy="369332"/>
          </a:xfrm>
          <a:prstGeom prst="rect">
            <a:avLst/>
          </a:prstGeom>
        </p:spPr>
        <p:txBody>
          <a:bodyPr wrap="none">
            <a:spAutoFit/>
          </a:bodyPr>
          <a:lstStyle/>
          <a:p>
            <a:pPr>
              <a:defRPr/>
            </a:pPr>
            <a:r>
              <a:rPr lang="zh-CN" altLang="en-US" dirty="0"/>
              <a:t>实验运行时间：</a:t>
            </a:r>
            <a:r>
              <a:rPr lang="en-US" altLang="zh-CN" dirty="0" smtClean="0"/>
              <a:t>13-20</a:t>
            </a:r>
            <a:r>
              <a:rPr lang="zh-CN" altLang="en-US" dirty="0" smtClean="0"/>
              <a:t>小时</a:t>
            </a:r>
            <a:endParaRPr lang="en-US" altLang="zh-CN" dirty="0"/>
          </a:p>
        </p:txBody>
      </p:sp>
    </p:spTree>
    <p:extLst>
      <p:ext uri="{BB962C8B-B14F-4D97-AF65-F5344CB8AC3E}">
        <p14:creationId xmlns:p14="http://schemas.microsoft.com/office/powerpoint/2010/main" val="1896430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pitchFamily="49" charset="-122"/>
                <a:ea typeface="隶书" panose="02010509060101010101" pitchFamily="49" charset="-122"/>
              </a:rPr>
              <a:t>实验：</a:t>
            </a:r>
            <a:endParaRPr lang="zh-CN" dirty="0">
              <a:solidFill>
                <a:srgbClr val="622820"/>
              </a:solidFill>
              <a:latin typeface="隶书" panose="02010509060101010101" pitchFamily="49" charset="-122"/>
              <a:ea typeface="隶书" panose="02010509060101010101" pitchFamily="49" charset="-122"/>
            </a:endParaRPr>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25</a:t>
            </a:fld>
            <a:endParaRPr lang="zh-CN" altLang="en-US" dirty="0"/>
          </a:p>
        </p:txBody>
      </p:sp>
      <p:graphicFrame>
        <p:nvGraphicFramePr>
          <p:cNvPr id="12" name="图表 11">
            <a:extLst>
              <a:ext uri="{FF2B5EF4-FFF2-40B4-BE49-F238E27FC236}">
                <a16:creationId xmlns="" xmlns:a16="http://schemas.microsoft.com/office/drawing/2014/main" id="{C8DF7EBE-4870-7E4E-B1B6-14541B149094}"/>
              </a:ext>
            </a:extLst>
          </p:cNvPr>
          <p:cNvGraphicFramePr>
            <a:graphicFrameLocks/>
          </p:cNvGraphicFramePr>
          <p:nvPr/>
        </p:nvGraphicFramePr>
        <p:xfrm>
          <a:off x="33701" y="584200"/>
          <a:ext cx="4322275"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图表 12">
            <a:extLst>
              <a:ext uri="{FF2B5EF4-FFF2-40B4-BE49-F238E27FC236}">
                <a16:creationId xmlns="" xmlns:a16="http://schemas.microsoft.com/office/drawing/2014/main" id="{850AC74B-33E0-B54F-A7D3-2B73B0C1DD0E}"/>
              </a:ext>
            </a:extLst>
          </p:cNvPr>
          <p:cNvGraphicFramePr>
            <a:graphicFrameLocks/>
          </p:cNvGraphicFramePr>
          <p:nvPr/>
        </p:nvGraphicFramePr>
        <p:xfrm>
          <a:off x="4354076" y="493698"/>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图表 6">
            <a:extLst>
              <a:ext uri="{FF2B5EF4-FFF2-40B4-BE49-F238E27FC236}">
                <a16:creationId xmlns="" xmlns:a16="http://schemas.microsoft.com/office/drawing/2014/main" id="{80458F76-EA9C-4F4C-862F-73BC2CD84E7C}"/>
              </a:ext>
            </a:extLst>
          </p:cNvPr>
          <p:cNvGraphicFramePr>
            <a:graphicFrameLocks/>
          </p:cNvGraphicFramePr>
          <p:nvPr>
            <p:extLst>
              <p:ext uri="{D42A27DB-BD31-4B8C-83A1-F6EECF244321}">
                <p14:modId xmlns:p14="http://schemas.microsoft.com/office/powerpoint/2010/main" val="1912179331"/>
              </p:ext>
            </p:extLst>
          </p:nvPr>
        </p:nvGraphicFramePr>
        <p:xfrm>
          <a:off x="179512" y="3494937"/>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52077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pitchFamily="49" charset="-122"/>
                <a:ea typeface="隶书" panose="02010509060101010101" pitchFamily="49" charset="-122"/>
              </a:rPr>
              <a:t>实验结果分析</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49994" y="1012911"/>
            <a:ext cx="9122518" cy="5832648"/>
          </a:xfrm>
        </p:spPr>
        <p:txBody>
          <a:bodyPr/>
          <a:lstStyle/>
          <a:p>
            <a:pPr>
              <a:defRPr/>
            </a:pPr>
            <a:r>
              <a:rPr lang="zh-CN" altLang="en-US" dirty="0"/>
              <a:t>低频路径：</a:t>
            </a:r>
            <a:endParaRPr lang="en-US" altLang="zh-CN" dirty="0"/>
          </a:p>
          <a:p>
            <a:pPr>
              <a:defRPr/>
            </a:pPr>
            <a:endParaRPr lang="en-US" altLang="zh-CN" dirty="0"/>
          </a:p>
          <a:p>
            <a:pPr>
              <a:buFont typeface="Wingdings" pitchFamily="2" charset="2"/>
              <a:buChar char="l"/>
              <a:defRPr/>
            </a:pPr>
            <a:r>
              <a:rPr lang="zh-CN" altLang="en-US" b="0" dirty="0"/>
              <a:t>选择低频路径能够有效地提高</a:t>
            </a:r>
            <a:r>
              <a:rPr lang="en-US" altLang="zh-CN" b="0" dirty="0"/>
              <a:t>fuzz</a:t>
            </a:r>
            <a:r>
              <a:rPr lang="zh-CN" altLang="en-US" b="0" dirty="0"/>
              <a:t>效率：</a:t>
            </a:r>
            <a:endParaRPr lang="en-US" altLang="zh-CN" b="0" dirty="0"/>
          </a:p>
          <a:p>
            <a:pPr>
              <a:buFont typeface="Wingdings" pitchFamily="2" charset="2"/>
              <a:buChar char="l"/>
              <a:defRPr/>
            </a:pPr>
            <a:endParaRPr lang="en-US" altLang="zh-CN" b="0" dirty="0"/>
          </a:p>
          <a:p>
            <a:pPr marL="457200" indent="-457200">
              <a:buFont typeface="+mj-lt"/>
              <a:buAutoNum type="arabicPeriod"/>
              <a:defRPr/>
            </a:pPr>
            <a:endParaRPr lang="en-US" altLang="zh-CN" b="0" dirty="0"/>
          </a:p>
          <a:p>
            <a:pPr marL="457200" indent="-457200">
              <a:buFont typeface="+mj-lt"/>
              <a:buAutoNum type="arabicPeriod"/>
              <a:defRPr/>
            </a:pPr>
            <a:endParaRPr lang="en-US" altLang="zh-CN" b="0" dirty="0"/>
          </a:p>
          <a:p>
            <a:pPr marL="457200" indent="-457200">
              <a:buFont typeface="+mj-lt"/>
              <a:buAutoNum type="arabicPeriod"/>
              <a:defRPr/>
            </a:pPr>
            <a:endParaRPr lang="en-US" altLang="zh-CN" b="0" dirty="0"/>
          </a:p>
          <a:p>
            <a:pPr marL="0" indent="0">
              <a:buNone/>
              <a:defRPr/>
            </a:pPr>
            <a:endParaRPr lang="en-US" altLang="zh-CN" b="0" dirty="0"/>
          </a:p>
          <a:p>
            <a:pPr>
              <a:buFont typeface="Arial" panose="020B0604020202020204" pitchFamily="34" charset="0"/>
              <a:buChar char="•"/>
              <a:defRPr/>
            </a:pPr>
            <a:endParaRPr lang="en-US" altLang="zh-CN" b="0"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26</a:t>
            </a:fld>
            <a:endParaRPr lang="zh-CN" altLang="en-US" dirty="0"/>
          </a:p>
        </p:txBody>
      </p:sp>
      <p:graphicFrame>
        <p:nvGraphicFramePr>
          <p:cNvPr id="2" name="表格 1">
            <a:extLst>
              <a:ext uri="{FF2B5EF4-FFF2-40B4-BE49-F238E27FC236}">
                <a16:creationId xmlns="" xmlns:a16="http://schemas.microsoft.com/office/drawing/2014/main" id="{41F2FC09-07A6-1347-B7BB-98BD15743CB1}"/>
              </a:ext>
            </a:extLst>
          </p:cNvPr>
          <p:cNvGraphicFramePr>
            <a:graphicFrameLocks noGrp="1"/>
          </p:cNvGraphicFramePr>
          <p:nvPr>
            <p:extLst>
              <p:ext uri="{D42A27DB-BD31-4B8C-83A1-F6EECF244321}">
                <p14:modId xmlns:p14="http://schemas.microsoft.com/office/powerpoint/2010/main" val="57147415"/>
              </p:ext>
            </p:extLst>
          </p:nvPr>
        </p:nvGraphicFramePr>
        <p:xfrm>
          <a:off x="30021" y="2636912"/>
          <a:ext cx="9077328" cy="2035594"/>
        </p:xfrm>
        <a:graphic>
          <a:graphicData uri="http://schemas.openxmlformats.org/drawingml/2006/table">
            <a:tbl>
              <a:tblPr firstRow="1" bandRow="1">
                <a:tableStyleId>{69012ECD-51FC-41F1-AA8D-1B2483CD663E}</a:tableStyleId>
              </a:tblPr>
              <a:tblGrid>
                <a:gridCol w="1979713">
                  <a:extLst>
                    <a:ext uri="{9D8B030D-6E8A-4147-A177-3AD203B41FA5}">
                      <a16:colId xmlns="" xmlns:a16="http://schemas.microsoft.com/office/drawing/2014/main" val="1299245193"/>
                    </a:ext>
                  </a:extLst>
                </a:gridCol>
                <a:gridCol w="1512168">
                  <a:extLst>
                    <a:ext uri="{9D8B030D-6E8A-4147-A177-3AD203B41FA5}">
                      <a16:colId xmlns="" xmlns:a16="http://schemas.microsoft.com/office/drawing/2014/main" val="3202811470"/>
                    </a:ext>
                  </a:extLst>
                </a:gridCol>
                <a:gridCol w="1440160">
                  <a:extLst>
                    <a:ext uri="{9D8B030D-6E8A-4147-A177-3AD203B41FA5}">
                      <a16:colId xmlns="" xmlns:a16="http://schemas.microsoft.com/office/drawing/2014/main" val="3903218658"/>
                    </a:ext>
                  </a:extLst>
                </a:gridCol>
                <a:gridCol w="1512168">
                  <a:extLst>
                    <a:ext uri="{9D8B030D-6E8A-4147-A177-3AD203B41FA5}">
                      <a16:colId xmlns="" xmlns:a16="http://schemas.microsoft.com/office/drawing/2014/main" val="1007073960"/>
                    </a:ext>
                  </a:extLst>
                </a:gridCol>
                <a:gridCol w="1368152">
                  <a:extLst>
                    <a:ext uri="{9D8B030D-6E8A-4147-A177-3AD203B41FA5}">
                      <a16:colId xmlns="" xmlns:a16="http://schemas.microsoft.com/office/drawing/2014/main" val="3034989004"/>
                    </a:ext>
                  </a:extLst>
                </a:gridCol>
                <a:gridCol w="1264967">
                  <a:extLst>
                    <a:ext uri="{9D8B030D-6E8A-4147-A177-3AD203B41FA5}">
                      <a16:colId xmlns="" xmlns:a16="http://schemas.microsoft.com/office/drawing/2014/main" val="3176752392"/>
                    </a:ext>
                  </a:extLst>
                </a:gridCol>
              </a:tblGrid>
              <a:tr h="432048">
                <a:tc gridSpan="6">
                  <a:txBody>
                    <a:bodyPr/>
                    <a:lstStyle/>
                    <a:p>
                      <a:pPr algn="ctr"/>
                      <a:r>
                        <a:rPr lang="zh-CN" altLang="en-US" sz="1800" b="1" dirty="0">
                          <a:latin typeface="+mn-lt"/>
                        </a:rPr>
                        <a:t>表</a:t>
                      </a:r>
                      <a:r>
                        <a:rPr lang="en-US" altLang="zh-CN" sz="1800" b="1" dirty="0">
                          <a:latin typeface="+mn-lt"/>
                        </a:rPr>
                        <a:t>1</a:t>
                      </a:r>
                      <a:r>
                        <a:rPr lang="zh-CN" altLang="en-US" sz="1800" b="1" dirty="0">
                          <a:latin typeface="+mn-lt"/>
                        </a:rPr>
                        <a:t> ：</a:t>
                      </a:r>
                      <a:r>
                        <a:rPr lang="en-US" altLang="zh-CN" sz="1800" b="1" dirty="0">
                          <a:latin typeface="+mn-lt"/>
                        </a:rPr>
                        <a:t>paths</a:t>
                      </a:r>
                      <a:r>
                        <a:rPr lang="zh-CN" altLang="en-US" sz="1800" b="1" dirty="0">
                          <a:latin typeface="+mn-lt"/>
                        </a:rPr>
                        <a:t>与</a:t>
                      </a:r>
                      <a:r>
                        <a:rPr lang="en-US" altLang="zh-CN" sz="1800" b="1" dirty="0">
                          <a:latin typeface="+mn-lt"/>
                        </a:rPr>
                        <a:t>unique</a:t>
                      </a:r>
                      <a:r>
                        <a:rPr lang="zh-CN" altLang="en-US" sz="1800" b="1" dirty="0">
                          <a:latin typeface="+mn-lt"/>
                        </a:rPr>
                        <a:t> </a:t>
                      </a:r>
                      <a:r>
                        <a:rPr lang="en-US" altLang="zh-CN" sz="1800" b="1" dirty="0">
                          <a:latin typeface="+mn-lt"/>
                        </a:rPr>
                        <a:t>crashes</a:t>
                      </a:r>
                      <a:r>
                        <a:rPr lang="zh-CN" altLang="en-US" sz="1800" b="1" dirty="0">
                          <a:latin typeface="+mn-lt"/>
                        </a:rPr>
                        <a:t>在</a:t>
                      </a:r>
                      <a:r>
                        <a:rPr lang="en-US" altLang="zh-CN" sz="1800" b="1" dirty="0">
                          <a:latin typeface="+mn-lt"/>
                        </a:rPr>
                        <a:t>AFL</a:t>
                      </a:r>
                      <a:r>
                        <a:rPr lang="zh-CN" altLang="en-US" sz="1800" b="1" dirty="0">
                          <a:latin typeface="+mn-lt"/>
                        </a:rPr>
                        <a:t>与</a:t>
                      </a:r>
                      <a:r>
                        <a:rPr lang="en-US" altLang="zh-CN" sz="1800" b="1" dirty="0" err="1">
                          <a:latin typeface="+mn-lt"/>
                        </a:rPr>
                        <a:t>AFLfast</a:t>
                      </a:r>
                      <a:r>
                        <a:rPr lang="zh-CN" altLang="en-US" sz="1800" b="1" dirty="0">
                          <a:latin typeface="+mn-lt"/>
                        </a:rPr>
                        <a:t>比较表</a:t>
                      </a:r>
                    </a:p>
                  </a:txBody>
                  <a:tcPr/>
                </a:tc>
                <a:tc hMerge="1">
                  <a:txBody>
                    <a:bodyPr/>
                    <a:lstStyle/>
                    <a:p>
                      <a:pPr algn="ctr"/>
                      <a:endParaRPr lang="zh-CN" altLang="en-US" sz="2400" dirty="0"/>
                    </a:p>
                  </a:txBody>
                  <a:tcPr/>
                </a:tc>
                <a:tc hMerge="1">
                  <a:txBody>
                    <a:bodyPr/>
                    <a:lstStyle/>
                    <a:p>
                      <a:pPr algn="ctr"/>
                      <a:endParaRPr lang="zh-CN" altLang="en-US" sz="2400" dirty="0"/>
                    </a:p>
                  </a:txBody>
                  <a:tcPr/>
                </a:tc>
                <a:tc hMerge="1">
                  <a:txBody>
                    <a:bodyPr/>
                    <a:lstStyle/>
                    <a:p>
                      <a:pPr algn="ctr"/>
                      <a:endParaRPr lang="zh-CN" altLang="en-US" sz="2400" dirty="0"/>
                    </a:p>
                  </a:txBody>
                  <a:tcPr/>
                </a:tc>
                <a:tc hMerge="1">
                  <a:txBody>
                    <a:bodyPr/>
                    <a:lstStyle/>
                    <a:p>
                      <a:pPr algn="ctr"/>
                      <a:endParaRPr lang="zh-CN" altLang="en-US" sz="2400" dirty="0"/>
                    </a:p>
                  </a:txBody>
                  <a:tcPr/>
                </a:tc>
                <a:tc hMerge="1">
                  <a:txBody>
                    <a:bodyPr/>
                    <a:lstStyle/>
                    <a:p>
                      <a:pPr algn="ctr"/>
                      <a:endParaRPr lang="zh-CN" altLang="en-US" sz="2400" dirty="0"/>
                    </a:p>
                  </a:txBody>
                  <a:tcPr/>
                </a:tc>
                <a:extLst>
                  <a:ext uri="{0D108BD9-81ED-4DB2-BD59-A6C34878D82A}">
                    <a16:rowId xmlns="" xmlns:a16="http://schemas.microsoft.com/office/drawing/2014/main" val="2989269913"/>
                  </a:ext>
                </a:extLst>
              </a:tr>
              <a:tr h="598242">
                <a:tc>
                  <a:txBody>
                    <a:bodyPr/>
                    <a:lstStyle/>
                    <a:p>
                      <a:pPr algn="ctr"/>
                      <a:r>
                        <a:rPr lang="en-US" altLang="zh-CN" sz="1800" b="0" dirty="0">
                          <a:latin typeface="+mn-lt"/>
                        </a:rPr>
                        <a:t>Paths/crashes</a:t>
                      </a:r>
                      <a:endParaRPr lang="zh-CN" altLang="en-US" sz="1800" b="0" dirty="0">
                        <a:latin typeface="+mn-lt"/>
                      </a:endParaRPr>
                    </a:p>
                  </a:txBody>
                  <a:tcPr/>
                </a:tc>
                <a:tc>
                  <a:txBody>
                    <a:bodyPr/>
                    <a:lstStyle/>
                    <a:p>
                      <a:pPr algn="ctr"/>
                      <a:r>
                        <a:rPr lang="en-US" altLang="zh-CN" sz="1800" b="0" dirty="0" err="1">
                          <a:latin typeface="+mn-lt"/>
                        </a:rPr>
                        <a:t>objdump</a:t>
                      </a:r>
                      <a:endParaRPr lang="zh-CN" altLang="en-US" sz="1800" b="0" dirty="0">
                        <a:latin typeface="+mn-lt"/>
                      </a:endParaRPr>
                    </a:p>
                  </a:txBody>
                  <a:tcPr/>
                </a:tc>
                <a:tc>
                  <a:txBody>
                    <a:bodyPr/>
                    <a:lstStyle/>
                    <a:p>
                      <a:pPr algn="ctr"/>
                      <a:r>
                        <a:rPr lang="en-US" altLang="zh-CN" sz="1800" b="0" dirty="0">
                          <a:latin typeface="+mn-lt"/>
                        </a:rPr>
                        <a:t>nm-new</a:t>
                      </a:r>
                      <a:endParaRPr lang="zh-CN" altLang="en-US" sz="1800" b="0" dirty="0">
                        <a:latin typeface="+mn-lt"/>
                      </a:endParaRPr>
                    </a:p>
                  </a:txBody>
                  <a:tcPr/>
                </a:tc>
                <a:tc>
                  <a:txBody>
                    <a:bodyPr/>
                    <a:lstStyle/>
                    <a:p>
                      <a:pPr algn="ctr"/>
                      <a:r>
                        <a:rPr lang="en-US" altLang="zh-CN" sz="1800" b="0" dirty="0" err="1">
                          <a:latin typeface="+mn-lt"/>
                        </a:rPr>
                        <a:t>readelf</a:t>
                      </a:r>
                      <a:endParaRPr lang="zh-CN" altLang="en-US" sz="1800" b="0" dirty="0">
                        <a:latin typeface="+mn-lt"/>
                      </a:endParaRPr>
                    </a:p>
                  </a:txBody>
                  <a:tcPr/>
                </a:tc>
                <a:tc>
                  <a:txBody>
                    <a:bodyPr/>
                    <a:lstStyle/>
                    <a:p>
                      <a:pPr algn="ctr"/>
                      <a:r>
                        <a:rPr lang="en-US" altLang="zh-CN" sz="1800" b="0" dirty="0">
                          <a:latin typeface="+mn-lt"/>
                        </a:rPr>
                        <a:t>size</a:t>
                      </a:r>
                      <a:endParaRPr lang="zh-CN" altLang="en-US" sz="1800" b="0" dirty="0">
                        <a:latin typeface="+mn-lt"/>
                      </a:endParaRPr>
                    </a:p>
                  </a:txBody>
                  <a:tcPr/>
                </a:tc>
                <a:tc>
                  <a:txBody>
                    <a:bodyPr/>
                    <a:lstStyle/>
                    <a:p>
                      <a:pPr algn="ctr"/>
                      <a:r>
                        <a:rPr lang="en-US" altLang="zh-CN" sz="1800" b="0" dirty="0" smtClean="0">
                          <a:latin typeface="+mn-lt"/>
                        </a:rPr>
                        <a:t>strings</a:t>
                      </a:r>
                      <a:endParaRPr lang="zh-CN" altLang="en-US" sz="1800" b="0" dirty="0">
                        <a:latin typeface="+mn-lt"/>
                      </a:endParaRPr>
                    </a:p>
                  </a:txBody>
                  <a:tcPr/>
                </a:tc>
                <a:extLst>
                  <a:ext uri="{0D108BD9-81ED-4DB2-BD59-A6C34878D82A}">
                    <a16:rowId xmlns="" xmlns:a16="http://schemas.microsoft.com/office/drawing/2014/main" val="2610819303"/>
                  </a:ext>
                </a:extLst>
              </a:tr>
              <a:tr h="502652">
                <a:tc>
                  <a:txBody>
                    <a:bodyPr/>
                    <a:lstStyle/>
                    <a:p>
                      <a:pPr algn="ctr"/>
                      <a:r>
                        <a:rPr lang="en-US" altLang="zh-CN" sz="1800" b="0" dirty="0">
                          <a:latin typeface="+mn-lt"/>
                        </a:rPr>
                        <a:t>AFL</a:t>
                      </a:r>
                      <a:endParaRPr lang="zh-CN" altLang="en-US" sz="1800" b="0" dirty="0">
                        <a:latin typeface="+mn-lt"/>
                      </a:endParaRPr>
                    </a:p>
                  </a:txBody>
                  <a:tcPr/>
                </a:tc>
                <a:tc>
                  <a:txBody>
                    <a:bodyPr/>
                    <a:lstStyle/>
                    <a:p>
                      <a:pPr algn="ctr"/>
                      <a:r>
                        <a:rPr lang="en-US" altLang="zh-CN" sz="1800" b="0" dirty="0">
                          <a:latin typeface="+mn-lt"/>
                        </a:rPr>
                        <a:t>1760/1</a:t>
                      </a:r>
                      <a:endParaRPr lang="zh-CN" altLang="en-US" sz="1800" b="0" dirty="0">
                        <a:latin typeface="+mn-lt"/>
                      </a:endParaRPr>
                    </a:p>
                  </a:txBody>
                  <a:tcPr/>
                </a:tc>
                <a:tc>
                  <a:txBody>
                    <a:bodyPr/>
                    <a:lstStyle/>
                    <a:p>
                      <a:r>
                        <a:rPr lang="zh-CN" altLang="en-US" sz="1800" b="0" dirty="0">
                          <a:latin typeface="+mn-lt"/>
                        </a:rPr>
                        <a:t> </a:t>
                      </a:r>
                      <a:r>
                        <a:rPr lang="en-US" altLang="zh-CN" sz="1800" b="0" dirty="0">
                          <a:latin typeface="+mn-lt"/>
                        </a:rPr>
                        <a:t>6706/448</a:t>
                      </a:r>
                      <a:endParaRPr lang="zh-CN" altLang="en-US" sz="1800" b="0" dirty="0">
                        <a:latin typeface="+mn-lt"/>
                      </a:endParaRPr>
                    </a:p>
                  </a:txBody>
                  <a:tcPr/>
                </a:tc>
                <a:tc>
                  <a:txBody>
                    <a:bodyPr/>
                    <a:lstStyle/>
                    <a:p>
                      <a:pPr algn="ctr"/>
                      <a:r>
                        <a:rPr lang="en-US" altLang="zh-CN" sz="1800" b="0" dirty="0">
                          <a:latin typeface="+mn-lt"/>
                        </a:rPr>
                        <a:t>18/0</a:t>
                      </a:r>
                      <a:endParaRPr lang="zh-CN" altLang="en-US" sz="1800" b="0" dirty="0">
                        <a:latin typeface="+mn-lt"/>
                      </a:endParaRPr>
                    </a:p>
                  </a:txBody>
                  <a:tcPr/>
                </a:tc>
                <a:tc>
                  <a:txBody>
                    <a:bodyPr/>
                    <a:lstStyle/>
                    <a:p>
                      <a:pPr algn="ctr"/>
                      <a:r>
                        <a:rPr lang="en-US" altLang="zh-CN" sz="1800" b="0" dirty="0">
                          <a:latin typeface="+mn-lt"/>
                        </a:rPr>
                        <a:t>904/0</a:t>
                      </a:r>
                      <a:endParaRPr lang="zh-CN" altLang="en-US" sz="1800" b="0" dirty="0">
                        <a:latin typeface="+mn-lt"/>
                      </a:endParaRPr>
                    </a:p>
                  </a:txBody>
                  <a:tcPr/>
                </a:tc>
                <a:tc>
                  <a:txBody>
                    <a:bodyPr/>
                    <a:lstStyle/>
                    <a:p>
                      <a:pPr algn="ctr"/>
                      <a:r>
                        <a:rPr lang="en-US" altLang="zh-CN" sz="1800" b="0" dirty="0">
                          <a:latin typeface="+mn-lt"/>
                        </a:rPr>
                        <a:t>79/0</a:t>
                      </a:r>
                      <a:endParaRPr lang="zh-CN" altLang="en-US" sz="1800" b="0" dirty="0">
                        <a:latin typeface="+mn-lt"/>
                      </a:endParaRPr>
                    </a:p>
                  </a:txBody>
                  <a:tcPr/>
                </a:tc>
                <a:extLst>
                  <a:ext uri="{0D108BD9-81ED-4DB2-BD59-A6C34878D82A}">
                    <a16:rowId xmlns="" xmlns:a16="http://schemas.microsoft.com/office/drawing/2014/main" val="1153330263"/>
                  </a:ext>
                </a:extLst>
              </a:tr>
              <a:tr h="502652">
                <a:tc>
                  <a:txBody>
                    <a:bodyPr/>
                    <a:lstStyle/>
                    <a:p>
                      <a:pPr algn="ctr"/>
                      <a:r>
                        <a:rPr lang="en-US" altLang="zh-CN" sz="1800" b="0" dirty="0" err="1">
                          <a:latin typeface="+mn-lt"/>
                        </a:rPr>
                        <a:t>AFLfast</a:t>
                      </a:r>
                      <a:endParaRPr lang="zh-CN" altLang="en-US" sz="1800" b="0" dirty="0">
                        <a:latin typeface="+mn-lt"/>
                      </a:endParaRPr>
                    </a:p>
                  </a:txBody>
                  <a:tcPr/>
                </a:tc>
                <a:tc>
                  <a:txBody>
                    <a:bodyPr/>
                    <a:lstStyle/>
                    <a:p>
                      <a:pPr algn="ctr"/>
                      <a:r>
                        <a:rPr lang="en-US" altLang="zh-CN" sz="1800" b="0" dirty="0">
                          <a:latin typeface="+mn-lt"/>
                        </a:rPr>
                        <a:t>1161/0</a:t>
                      </a:r>
                      <a:endParaRPr lang="zh-CN" altLang="en-US" sz="1800" b="0" dirty="0">
                        <a:latin typeface="+mn-lt"/>
                      </a:endParaRPr>
                    </a:p>
                  </a:txBody>
                  <a:tcPr/>
                </a:tc>
                <a:tc>
                  <a:txBody>
                    <a:bodyPr/>
                    <a:lstStyle/>
                    <a:p>
                      <a:r>
                        <a:rPr lang="en-US" altLang="zh-CN" sz="1800" b="0" dirty="0">
                          <a:latin typeface="+mn-lt"/>
                        </a:rPr>
                        <a:t>10.4k/985</a:t>
                      </a:r>
                      <a:endParaRPr lang="zh-CN" altLang="en-US" sz="1800" b="0" dirty="0">
                        <a:latin typeface="+mn-lt"/>
                      </a:endParaRPr>
                    </a:p>
                  </a:txBody>
                  <a:tcPr/>
                </a:tc>
                <a:tc>
                  <a:txBody>
                    <a:bodyPr/>
                    <a:lstStyle/>
                    <a:p>
                      <a:pPr algn="ctr"/>
                      <a:r>
                        <a:rPr lang="en-US" altLang="zh-CN" sz="1800" b="0" dirty="0">
                          <a:latin typeface="+mn-lt"/>
                        </a:rPr>
                        <a:t>15/0</a:t>
                      </a:r>
                      <a:endParaRPr lang="zh-CN" altLang="en-US" sz="1800" b="0" dirty="0">
                        <a:latin typeface="+mn-lt"/>
                      </a:endParaRPr>
                    </a:p>
                  </a:txBody>
                  <a:tcPr/>
                </a:tc>
                <a:tc>
                  <a:txBody>
                    <a:bodyPr/>
                    <a:lstStyle/>
                    <a:p>
                      <a:pPr algn="ctr"/>
                      <a:r>
                        <a:rPr lang="en-US" altLang="zh-CN" sz="1800" b="0" dirty="0">
                          <a:latin typeface="+mn-lt"/>
                        </a:rPr>
                        <a:t>1795/0</a:t>
                      </a:r>
                      <a:endParaRPr lang="zh-CN" altLang="en-US" sz="1800" b="0" dirty="0">
                        <a:latin typeface="+mn-lt"/>
                      </a:endParaRPr>
                    </a:p>
                  </a:txBody>
                  <a:tcPr/>
                </a:tc>
                <a:tc>
                  <a:txBody>
                    <a:bodyPr/>
                    <a:lstStyle/>
                    <a:p>
                      <a:pPr algn="ctr"/>
                      <a:r>
                        <a:rPr lang="en-US" altLang="zh-CN" sz="1800" b="0" dirty="0">
                          <a:latin typeface="+mn-lt"/>
                        </a:rPr>
                        <a:t>55/0</a:t>
                      </a:r>
                      <a:endParaRPr lang="zh-CN" altLang="en-US" sz="1800" b="0" dirty="0">
                        <a:latin typeface="+mn-lt"/>
                      </a:endParaRPr>
                    </a:p>
                  </a:txBody>
                  <a:tcPr/>
                </a:tc>
                <a:extLst>
                  <a:ext uri="{0D108BD9-81ED-4DB2-BD59-A6C34878D82A}">
                    <a16:rowId xmlns="" xmlns:a16="http://schemas.microsoft.com/office/drawing/2014/main" val="3239893760"/>
                  </a:ext>
                </a:extLst>
              </a:tr>
            </a:tbl>
          </a:graphicData>
        </a:graphic>
      </p:graphicFrame>
    </p:spTree>
    <p:extLst>
      <p:ext uri="{BB962C8B-B14F-4D97-AF65-F5344CB8AC3E}">
        <p14:creationId xmlns:p14="http://schemas.microsoft.com/office/powerpoint/2010/main" val="194677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pitchFamily="49" charset="-122"/>
                <a:ea typeface="隶书" panose="02010509060101010101" pitchFamily="49" charset="-122"/>
              </a:rPr>
              <a:t>实验结果分析</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1" y="692696"/>
            <a:ext cx="9077325" cy="5832648"/>
          </a:xfrm>
        </p:spPr>
        <p:txBody>
          <a:bodyPr/>
          <a:lstStyle/>
          <a:p>
            <a:pPr>
              <a:defRPr/>
            </a:pPr>
            <a:r>
              <a:rPr lang="zh-CN" altLang="en-US" dirty="0"/>
              <a:t>更多新路径：</a:t>
            </a:r>
            <a:endParaRPr lang="en-US" altLang="zh-CN" dirty="0"/>
          </a:p>
          <a:p>
            <a:pPr>
              <a:buFont typeface="Wingdings" pitchFamily="2" charset="2"/>
              <a:buChar char="l"/>
              <a:defRPr/>
            </a:pPr>
            <a:r>
              <a:rPr lang="zh-CN" altLang="en-US" b="0" dirty="0"/>
              <a:t>已经产生过新路径的种子对</a:t>
            </a:r>
            <a:r>
              <a:rPr lang="en-US" altLang="zh-CN" b="0" dirty="0"/>
              <a:t>fuzz</a:t>
            </a:r>
            <a:r>
              <a:rPr lang="zh-CN" altLang="en-US" b="0" dirty="0"/>
              <a:t>的结果有着积极的影响：</a:t>
            </a:r>
            <a:endParaRPr lang="en-US" altLang="zh-CN" b="0" dirty="0"/>
          </a:p>
          <a:p>
            <a:pPr marL="0" indent="0">
              <a:buNone/>
              <a:defRPr/>
            </a:pPr>
            <a:endParaRPr lang="en-US" altLang="zh-CN" b="0" dirty="0"/>
          </a:p>
          <a:p>
            <a:pPr>
              <a:buFont typeface="Wingdings" pitchFamily="2" charset="2"/>
              <a:buChar char="l"/>
              <a:defRPr/>
            </a:pPr>
            <a:endParaRPr lang="en-US" altLang="zh-CN" b="0" dirty="0"/>
          </a:p>
          <a:p>
            <a:pPr>
              <a:buFont typeface="Wingdings" pitchFamily="2" charset="2"/>
              <a:buChar char="l"/>
              <a:defRPr/>
            </a:pPr>
            <a:endParaRPr lang="en-US" altLang="zh-CN" b="0" dirty="0"/>
          </a:p>
          <a:p>
            <a:pPr>
              <a:buFont typeface="Wingdings" pitchFamily="2" charset="2"/>
              <a:buChar char="l"/>
              <a:defRPr/>
            </a:pPr>
            <a:endParaRPr lang="en-US" altLang="zh-CN" b="0" dirty="0"/>
          </a:p>
          <a:p>
            <a:pPr>
              <a:buFont typeface="Wingdings" pitchFamily="2" charset="2"/>
              <a:buChar char="l"/>
              <a:defRPr/>
            </a:pPr>
            <a:endParaRPr lang="en-US" altLang="zh-CN" b="0" dirty="0"/>
          </a:p>
          <a:p>
            <a:pPr>
              <a:buFont typeface="Wingdings" charset="2"/>
              <a:buChar char="l"/>
              <a:defRPr/>
            </a:pPr>
            <a:r>
              <a:rPr lang="zh-CN" altLang="en-US" b="0" dirty="0"/>
              <a:t>如图</a:t>
            </a:r>
            <a:r>
              <a:rPr lang="en-US" altLang="zh-CN" b="0" dirty="0"/>
              <a:t>1</a:t>
            </a:r>
            <a:r>
              <a:rPr lang="zh-CN" altLang="en-US" b="0" dirty="0"/>
              <a:t>，图</a:t>
            </a:r>
            <a:r>
              <a:rPr lang="en-US" altLang="zh-CN" b="0" dirty="0"/>
              <a:t>2</a:t>
            </a:r>
            <a:r>
              <a:rPr lang="zh-CN" altLang="en-US" b="0" dirty="0"/>
              <a:t>所示，</a:t>
            </a:r>
            <a:r>
              <a:rPr lang="en-US" altLang="zh-CN" b="0" dirty="0"/>
              <a:t>AFLslow1.2(</a:t>
            </a:r>
            <a:r>
              <a:rPr lang="zh-CN" altLang="en-US" b="0" dirty="0"/>
              <a:t>能量分配</a:t>
            </a:r>
            <a:r>
              <a:rPr lang="en-US" altLang="zh-CN" b="0" dirty="0"/>
              <a:t>),1.3(</a:t>
            </a:r>
            <a:r>
              <a:rPr lang="zh-CN" altLang="en-US" b="0" dirty="0"/>
              <a:t>搜索策略</a:t>
            </a:r>
            <a:r>
              <a:rPr lang="en-US" altLang="zh-CN" b="0" dirty="0"/>
              <a:t>)</a:t>
            </a:r>
            <a:r>
              <a:rPr lang="zh-CN" altLang="en-US" b="0" dirty="0"/>
              <a:t>在</a:t>
            </a:r>
            <a:r>
              <a:rPr lang="en-US" altLang="zh-CN" b="0" dirty="0" err="1"/>
              <a:t>objdump</a:t>
            </a:r>
            <a:r>
              <a:rPr lang="zh-CN" altLang="en-US" b="0" dirty="0"/>
              <a:t>、</a:t>
            </a:r>
            <a:r>
              <a:rPr lang="en-US" altLang="zh-CN" b="0" dirty="0"/>
              <a:t>size</a:t>
            </a:r>
            <a:r>
              <a:rPr lang="zh-CN" altLang="en-US" b="0" dirty="0"/>
              <a:t>和</a:t>
            </a:r>
            <a:r>
              <a:rPr lang="en-US" altLang="zh-CN" b="0" dirty="0"/>
              <a:t>nm-new</a:t>
            </a:r>
            <a:r>
              <a:rPr lang="zh-CN" altLang="en-US" b="0" dirty="0"/>
              <a:t>中展现了较好的性能，说明种子产生新路径的数量对挖掘</a:t>
            </a:r>
            <a:r>
              <a:rPr lang="en-US" altLang="zh-CN" b="0" dirty="0"/>
              <a:t>crash</a:t>
            </a:r>
            <a:r>
              <a:rPr lang="zh-CN" altLang="en-US" b="0" dirty="0"/>
              <a:t>的有效性。</a:t>
            </a:r>
            <a:endParaRPr lang="en-US" altLang="zh-CN" b="0" dirty="0"/>
          </a:p>
          <a:p>
            <a:pPr>
              <a:buFont typeface="Wingdings" charset="2"/>
              <a:buChar char="l"/>
              <a:defRPr/>
            </a:pPr>
            <a:r>
              <a:rPr lang="zh-CN" altLang="en-US" b="0" dirty="0"/>
              <a:t>但是</a:t>
            </a:r>
            <a:r>
              <a:rPr lang="en-US" altLang="zh-CN" b="0" dirty="0"/>
              <a:t>AFLslow1.4</a:t>
            </a:r>
            <a:r>
              <a:rPr lang="zh-CN" altLang="en-US" b="0" dirty="0"/>
              <a:t>却并没有挖掘出任何漏洞。</a:t>
            </a:r>
            <a:endParaRPr lang="en-US" altLang="zh-CN" b="0" dirty="0"/>
          </a:p>
          <a:p>
            <a:pPr>
              <a:buFont typeface="Wingdings" charset="2"/>
              <a:buChar char="l"/>
              <a:defRPr/>
            </a:pPr>
            <a:r>
              <a:rPr lang="zh-CN" altLang="en-US" b="0" dirty="0"/>
              <a:t>猜测：由于参数设置不够合理，导致已经产生了较多路径但确很难继续产生新路径的种子没有被及时淘汰，因此浪费过多时间。</a:t>
            </a:r>
            <a:endParaRPr lang="en-US" altLang="zh-CN" b="0" dirty="0"/>
          </a:p>
          <a:p>
            <a:pPr marL="0" indent="0">
              <a:buNone/>
              <a:defRPr/>
            </a:pPr>
            <a:endParaRPr lang="en-US" altLang="zh-CN" b="0"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27</a:t>
            </a:fld>
            <a:endParaRPr lang="zh-CN" altLang="en-US" dirty="0"/>
          </a:p>
        </p:txBody>
      </p:sp>
      <p:graphicFrame>
        <p:nvGraphicFramePr>
          <p:cNvPr id="5" name="图表 4">
            <a:extLst>
              <a:ext uri="{FF2B5EF4-FFF2-40B4-BE49-F238E27FC236}">
                <a16:creationId xmlns="" xmlns:a16="http://schemas.microsoft.com/office/drawing/2014/main" id="{3573218F-FC76-B245-A217-585EB2854F0C}"/>
              </a:ext>
            </a:extLst>
          </p:cNvPr>
          <p:cNvGraphicFramePr>
            <a:graphicFrameLocks/>
          </p:cNvGraphicFramePr>
          <p:nvPr/>
        </p:nvGraphicFramePr>
        <p:xfrm>
          <a:off x="0" y="1541376"/>
          <a:ext cx="4499992" cy="231967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图表 6">
            <a:extLst>
              <a:ext uri="{FF2B5EF4-FFF2-40B4-BE49-F238E27FC236}">
                <a16:creationId xmlns="" xmlns:a16="http://schemas.microsoft.com/office/drawing/2014/main" id="{DFBB4946-98C0-8043-813E-256272E53744}"/>
              </a:ext>
            </a:extLst>
          </p:cNvPr>
          <p:cNvGraphicFramePr>
            <a:graphicFrameLocks/>
          </p:cNvGraphicFramePr>
          <p:nvPr/>
        </p:nvGraphicFramePr>
        <p:xfrm>
          <a:off x="4644008" y="1541376"/>
          <a:ext cx="4104456" cy="23196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08642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pitchFamily="49" charset="-122"/>
                <a:ea typeface="隶书" panose="02010509060101010101" pitchFamily="49" charset="-122"/>
              </a:rPr>
              <a:t>实验结果分析</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692696"/>
            <a:ext cx="9144000" cy="5832648"/>
          </a:xfrm>
        </p:spPr>
        <p:txBody>
          <a:bodyPr/>
          <a:lstStyle/>
          <a:p>
            <a:pPr>
              <a:defRPr/>
            </a:pPr>
            <a:r>
              <a:rPr lang="zh-CN" altLang="en-US" dirty="0"/>
              <a:t>重复</a:t>
            </a:r>
            <a:r>
              <a:rPr lang="en-US" altLang="zh-CN" dirty="0"/>
              <a:t>crash</a:t>
            </a:r>
            <a:r>
              <a:rPr lang="zh-CN" altLang="en-US" dirty="0"/>
              <a:t>：</a:t>
            </a:r>
            <a:endParaRPr lang="en-US" altLang="zh-CN" dirty="0"/>
          </a:p>
          <a:p>
            <a:pPr>
              <a:buFont typeface="Wingdings" pitchFamily="2" charset="2"/>
              <a:buChar char="l"/>
              <a:defRPr/>
            </a:pPr>
            <a:r>
              <a:rPr lang="zh-CN" altLang="en-US" b="0" dirty="0"/>
              <a:t>搜索策略对偏向能产生更多新路径的种子可能会导致更多重复的</a:t>
            </a:r>
            <a:r>
              <a:rPr lang="en-US" altLang="zh-CN" b="0" dirty="0"/>
              <a:t>crash</a:t>
            </a:r>
          </a:p>
          <a:p>
            <a:pPr>
              <a:buFont typeface="Wingdings" pitchFamily="2" charset="2"/>
              <a:buChar char="l"/>
              <a:defRPr/>
            </a:pPr>
            <a:endParaRPr lang="en-US" altLang="zh-CN" b="0" dirty="0"/>
          </a:p>
          <a:p>
            <a:pPr marL="0" indent="0">
              <a:buNone/>
              <a:defRPr/>
            </a:pPr>
            <a:endParaRPr lang="en-US" altLang="zh-CN" b="0" dirty="0"/>
          </a:p>
          <a:p>
            <a:pPr marL="0" indent="0">
              <a:buNone/>
              <a:defRPr/>
            </a:pPr>
            <a:endParaRPr lang="en-US" altLang="zh-CN" b="0" dirty="0"/>
          </a:p>
          <a:p>
            <a:pPr marL="0" indent="0">
              <a:buNone/>
              <a:defRPr/>
            </a:pPr>
            <a:endParaRPr lang="en-US" altLang="zh-CN" b="0" dirty="0"/>
          </a:p>
          <a:p>
            <a:pPr marL="0" indent="0">
              <a:buNone/>
              <a:defRPr/>
            </a:pPr>
            <a:endParaRPr lang="en-US" altLang="zh-CN" b="0" dirty="0"/>
          </a:p>
          <a:p>
            <a:pPr>
              <a:buFont typeface="Wingdings" charset="2"/>
              <a:buChar char="l"/>
              <a:defRPr/>
            </a:pPr>
            <a:r>
              <a:rPr lang="zh-CN" altLang="en-US" b="0" dirty="0"/>
              <a:t>由表</a:t>
            </a:r>
            <a:r>
              <a:rPr lang="en-US" altLang="zh-CN" b="0" dirty="0"/>
              <a:t>2</a:t>
            </a:r>
            <a:r>
              <a:rPr lang="zh-CN" altLang="en-US" b="0" dirty="0"/>
              <a:t>可得</a:t>
            </a:r>
            <a:r>
              <a:rPr lang="en-US" altLang="zh-CN" b="0" dirty="0"/>
              <a:t>AFLslow1.3,1.4</a:t>
            </a:r>
            <a:r>
              <a:rPr lang="zh-CN" altLang="en-US" b="0" dirty="0"/>
              <a:t>版本使用了偏向能产生更多新路径的种子搜索策略，这两个版本的总</a:t>
            </a:r>
            <a:r>
              <a:rPr lang="en-US" altLang="zh-CN" b="0" dirty="0"/>
              <a:t>crash</a:t>
            </a:r>
            <a:r>
              <a:rPr lang="zh-CN" altLang="en-US" b="0" dirty="0"/>
              <a:t>数量非常可观，但并没有产生更多的</a:t>
            </a:r>
            <a:r>
              <a:rPr lang="en-US" altLang="zh-CN" b="0" dirty="0"/>
              <a:t>unique</a:t>
            </a:r>
            <a:r>
              <a:rPr lang="zh-CN" altLang="en-US" b="0" dirty="0"/>
              <a:t> </a:t>
            </a:r>
            <a:r>
              <a:rPr lang="en-US" altLang="zh-CN" b="0" dirty="0"/>
              <a:t>crashes</a:t>
            </a:r>
            <a:r>
              <a:rPr lang="zh-CN" altLang="en-US" b="0" dirty="0"/>
              <a:t>。</a:t>
            </a:r>
            <a:endParaRPr lang="en-US" altLang="zh-CN" b="0" dirty="0"/>
          </a:p>
          <a:p>
            <a:pPr>
              <a:buFont typeface="Arial" panose="020B0604020202020204" pitchFamily="34" charset="0"/>
              <a:buChar char="•"/>
              <a:defRPr/>
            </a:pPr>
            <a:endParaRPr lang="en-US" altLang="zh-CN" b="0" dirty="0"/>
          </a:p>
          <a:p>
            <a:pPr>
              <a:buFont typeface="Arial" panose="020B0604020202020204" pitchFamily="34" charset="0"/>
              <a:buChar char="•"/>
              <a:defRPr/>
            </a:pPr>
            <a:endParaRPr lang="zh-CN" altLang="en-US" b="0" dirty="0"/>
          </a:p>
          <a:p>
            <a:pPr>
              <a:buFont typeface="Arial" panose="020B0604020202020204" pitchFamily="34" charset="0"/>
              <a:buChar char="•"/>
              <a:defRPr/>
            </a:pPr>
            <a:endParaRPr lang="en-US" altLang="zh-CN" b="0" dirty="0"/>
          </a:p>
          <a:p>
            <a:pPr marL="0" indent="0">
              <a:buNone/>
              <a:defRPr/>
            </a:pPr>
            <a:endParaRPr lang="en-US" altLang="zh-CN" b="0"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28</a:t>
            </a:fld>
            <a:endParaRPr lang="zh-CN" altLang="en-US" dirty="0"/>
          </a:p>
        </p:txBody>
      </p:sp>
      <p:graphicFrame>
        <p:nvGraphicFramePr>
          <p:cNvPr id="5" name="表格 4">
            <a:extLst>
              <a:ext uri="{FF2B5EF4-FFF2-40B4-BE49-F238E27FC236}">
                <a16:creationId xmlns="" xmlns:a16="http://schemas.microsoft.com/office/drawing/2014/main" id="{7898BC46-05D1-184B-9241-7E8FAB1AC792}"/>
              </a:ext>
            </a:extLst>
          </p:cNvPr>
          <p:cNvGraphicFramePr>
            <a:graphicFrameLocks noGrp="1"/>
          </p:cNvGraphicFramePr>
          <p:nvPr/>
        </p:nvGraphicFramePr>
        <p:xfrm>
          <a:off x="251520" y="1897317"/>
          <a:ext cx="8825805" cy="2237942"/>
        </p:xfrm>
        <a:graphic>
          <a:graphicData uri="http://schemas.openxmlformats.org/drawingml/2006/table">
            <a:tbl>
              <a:tblPr firstRow="1" bandRow="1">
                <a:tableStyleId>{5C22544A-7EE6-4342-B048-85BDC9FD1C3A}</a:tableStyleId>
              </a:tblPr>
              <a:tblGrid>
                <a:gridCol w="1765161">
                  <a:extLst>
                    <a:ext uri="{9D8B030D-6E8A-4147-A177-3AD203B41FA5}">
                      <a16:colId xmlns="" xmlns:a16="http://schemas.microsoft.com/office/drawing/2014/main" val="1134813930"/>
                    </a:ext>
                  </a:extLst>
                </a:gridCol>
                <a:gridCol w="1765161">
                  <a:extLst>
                    <a:ext uri="{9D8B030D-6E8A-4147-A177-3AD203B41FA5}">
                      <a16:colId xmlns="" xmlns:a16="http://schemas.microsoft.com/office/drawing/2014/main" val="1145315109"/>
                    </a:ext>
                  </a:extLst>
                </a:gridCol>
                <a:gridCol w="1765161">
                  <a:extLst>
                    <a:ext uri="{9D8B030D-6E8A-4147-A177-3AD203B41FA5}">
                      <a16:colId xmlns="" xmlns:a16="http://schemas.microsoft.com/office/drawing/2014/main" val="47394039"/>
                    </a:ext>
                  </a:extLst>
                </a:gridCol>
                <a:gridCol w="1765161">
                  <a:extLst>
                    <a:ext uri="{9D8B030D-6E8A-4147-A177-3AD203B41FA5}">
                      <a16:colId xmlns="" xmlns:a16="http://schemas.microsoft.com/office/drawing/2014/main" val="834046978"/>
                    </a:ext>
                  </a:extLst>
                </a:gridCol>
                <a:gridCol w="1765161">
                  <a:extLst>
                    <a:ext uri="{9D8B030D-6E8A-4147-A177-3AD203B41FA5}">
                      <a16:colId xmlns="" xmlns:a16="http://schemas.microsoft.com/office/drawing/2014/main" val="3553752402"/>
                    </a:ext>
                  </a:extLst>
                </a:gridCol>
              </a:tblGrid>
              <a:tr h="418972">
                <a:tc gridSpan="5">
                  <a:txBody>
                    <a:bodyPr/>
                    <a:lstStyle/>
                    <a:p>
                      <a:pPr algn="ctr">
                        <a:lnSpc>
                          <a:spcPct val="150000"/>
                        </a:lnSpc>
                      </a:pPr>
                      <a:r>
                        <a:rPr lang="zh-CN" altLang="en-US" dirty="0"/>
                        <a:t>表</a:t>
                      </a:r>
                      <a:r>
                        <a:rPr lang="en-US" altLang="zh-CN" dirty="0"/>
                        <a:t>2</a:t>
                      </a:r>
                      <a:r>
                        <a:rPr lang="zh-CN" altLang="en-US" dirty="0"/>
                        <a:t> ： </a:t>
                      </a:r>
                      <a:r>
                        <a:rPr lang="en-US" altLang="zh-CN" dirty="0"/>
                        <a:t>nm</a:t>
                      </a:r>
                      <a:r>
                        <a:rPr lang="zh-CN" altLang="en-US" dirty="0"/>
                        <a:t>结果</a:t>
                      </a:r>
                      <a:r>
                        <a:rPr lang="en-US" altLang="zh-CN" dirty="0" err="1"/>
                        <a:t>uni</a:t>
                      </a:r>
                      <a:r>
                        <a:rPr lang="zh-CN" altLang="en-US" dirty="0"/>
                        <a:t> </a:t>
                      </a:r>
                      <a:r>
                        <a:rPr lang="en-US" altLang="zh-CN" dirty="0"/>
                        <a:t>crashes</a:t>
                      </a:r>
                      <a:r>
                        <a:rPr lang="zh-CN" altLang="en-US" dirty="0"/>
                        <a:t> 与</a:t>
                      </a:r>
                      <a:r>
                        <a:rPr lang="en-US" altLang="zh-CN" dirty="0"/>
                        <a:t>crashes</a:t>
                      </a:r>
                      <a:r>
                        <a:rPr lang="zh-CN" altLang="en-US" dirty="0"/>
                        <a:t>比较</a:t>
                      </a:r>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 xmlns:a16="http://schemas.microsoft.com/office/drawing/2014/main" val="2795585481"/>
                  </a:ext>
                </a:extLst>
              </a:tr>
              <a:tr h="503476">
                <a:tc>
                  <a:txBody>
                    <a:bodyPr/>
                    <a:lstStyle/>
                    <a:p>
                      <a:pPr algn="ctr">
                        <a:lnSpc>
                          <a:spcPct val="150000"/>
                        </a:lnSpc>
                      </a:pPr>
                      <a:endParaRPr lang="zh-CN" altLang="en-US" dirty="0"/>
                    </a:p>
                  </a:txBody>
                  <a:tcPr/>
                </a:tc>
                <a:tc>
                  <a:txBody>
                    <a:bodyPr/>
                    <a:lstStyle/>
                    <a:p>
                      <a:pPr algn="ctr">
                        <a:lnSpc>
                          <a:spcPct val="150000"/>
                        </a:lnSpc>
                      </a:pPr>
                      <a:r>
                        <a:rPr lang="en-US" altLang="zh-CN" dirty="0" err="1"/>
                        <a:t>AFLfast</a:t>
                      </a:r>
                      <a:endParaRPr lang="zh-CN" altLang="en-US" dirty="0"/>
                    </a:p>
                  </a:txBody>
                  <a:tcPr/>
                </a:tc>
                <a:tc>
                  <a:txBody>
                    <a:bodyPr/>
                    <a:lstStyle/>
                    <a:p>
                      <a:pPr algn="ctr">
                        <a:lnSpc>
                          <a:spcPct val="150000"/>
                        </a:lnSpc>
                      </a:pPr>
                      <a:r>
                        <a:rPr lang="en-US" altLang="zh-CN" dirty="0"/>
                        <a:t>AFLslow1.2</a:t>
                      </a:r>
                      <a:endParaRPr lang="zh-CN" altLang="en-US" dirty="0"/>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CN" dirty="0"/>
                        <a:t>AFLslow1.3</a:t>
                      </a:r>
                      <a:endParaRPr lang="zh-CN" altLang="en-US" dirty="0"/>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CN" dirty="0"/>
                        <a:t>AFLslow1.4</a:t>
                      </a:r>
                      <a:endParaRPr lang="zh-CN" altLang="en-US" dirty="0"/>
                    </a:p>
                  </a:txBody>
                  <a:tcPr/>
                </a:tc>
                <a:extLst>
                  <a:ext uri="{0D108BD9-81ED-4DB2-BD59-A6C34878D82A}">
                    <a16:rowId xmlns="" xmlns:a16="http://schemas.microsoft.com/office/drawing/2014/main" val="1121599673"/>
                  </a:ext>
                </a:extLst>
              </a:tr>
              <a:tr h="609235">
                <a:tc>
                  <a:txBody>
                    <a:bodyPr/>
                    <a:lstStyle/>
                    <a:p>
                      <a:pPr algn="ctr">
                        <a:lnSpc>
                          <a:spcPct val="150000"/>
                        </a:lnSpc>
                      </a:pPr>
                      <a:r>
                        <a:rPr lang="en-US" altLang="zh-CN" dirty="0"/>
                        <a:t>total</a:t>
                      </a:r>
                      <a:r>
                        <a:rPr lang="zh-CN" altLang="en-US" dirty="0"/>
                        <a:t> </a:t>
                      </a:r>
                      <a:r>
                        <a:rPr lang="en-US" altLang="zh-CN" dirty="0"/>
                        <a:t>crashes</a:t>
                      </a:r>
                      <a:endParaRPr lang="zh-CN" altLang="en-US" dirty="0"/>
                    </a:p>
                  </a:txBody>
                  <a:tcPr/>
                </a:tc>
                <a:tc>
                  <a:txBody>
                    <a:bodyPr/>
                    <a:lstStyle/>
                    <a:p>
                      <a:pPr algn="ctr">
                        <a:lnSpc>
                          <a:spcPct val="150000"/>
                        </a:lnSpc>
                      </a:pPr>
                      <a:r>
                        <a:rPr lang="en-US" altLang="zh-CN" dirty="0"/>
                        <a:t>157k</a:t>
                      </a:r>
                      <a:endParaRPr lang="zh-CN" altLang="en-US" dirty="0"/>
                    </a:p>
                  </a:txBody>
                  <a:tcPr/>
                </a:tc>
                <a:tc>
                  <a:txBody>
                    <a:bodyPr/>
                    <a:lstStyle/>
                    <a:p>
                      <a:pPr algn="ctr">
                        <a:lnSpc>
                          <a:spcPct val="150000"/>
                        </a:lnSpc>
                      </a:pPr>
                      <a:r>
                        <a:rPr lang="en-US" altLang="zh-CN" dirty="0"/>
                        <a:t>79.4k</a:t>
                      </a:r>
                      <a:endParaRPr lang="zh-CN" altLang="en-US" dirty="0"/>
                    </a:p>
                  </a:txBody>
                  <a:tcPr/>
                </a:tc>
                <a:tc>
                  <a:txBody>
                    <a:bodyPr/>
                    <a:lstStyle/>
                    <a:p>
                      <a:pPr algn="ctr">
                        <a:lnSpc>
                          <a:spcPct val="150000"/>
                        </a:lnSpc>
                      </a:pPr>
                      <a:r>
                        <a:rPr lang="en-US" altLang="zh-CN" dirty="0"/>
                        <a:t>649k</a:t>
                      </a:r>
                      <a:endParaRPr lang="zh-CN" altLang="en-US" dirty="0"/>
                    </a:p>
                  </a:txBody>
                  <a:tcPr/>
                </a:tc>
                <a:tc>
                  <a:txBody>
                    <a:bodyPr/>
                    <a:lstStyle/>
                    <a:p>
                      <a:pPr algn="ctr">
                        <a:lnSpc>
                          <a:spcPct val="150000"/>
                        </a:lnSpc>
                      </a:pPr>
                      <a:r>
                        <a:rPr lang="en-US" altLang="zh-CN" b="0" dirty="0"/>
                        <a:t>242k</a:t>
                      </a:r>
                      <a:endParaRPr lang="zh-CN" altLang="en-US" dirty="0"/>
                    </a:p>
                  </a:txBody>
                  <a:tcPr/>
                </a:tc>
                <a:extLst>
                  <a:ext uri="{0D108BD9-81ED-4DB2-BD59-A6C34878D82A}">
                    <a16:rowId xmlns="" xmlns:a16="http://schemas.microsoft.com/office/drawing/2014/main" val="3854483003"/>
                  </a:ext>
                </a:extLst>
              </a:tr>
              <a:tr h="622311">
                <a:tc>
                  <a:txBody>
                    <a:bodyPr/>
                    <a:lstStyle/>
                    <a:p>
                      <a:pPr algn="ctr">
                        <a:lnSpc>
                          <a:spcPct val="150000"/>
                        </a:lnSpc>
                      </a:pPr>
                      <a:r>
                        <a:rPr lang="en-US" altLang="zh-CN" dirty="0"/>
                        <a:t>unique</a:t>
                      </a:r>
                      <a:r>
                        <a:rPr lang="zh-CN" altLang="en-US" dirty="0"/>
                        <a:t> </a:t>
                      </a:r>
                      <a:r>
                        <a:rPr lang="en-US" altLang="zh-CN" dirty="0"/>
                        <a:t>crashes</a:t>
                      </a:r>
                      <a:endParaRPr lang="zh-CN" altLang="en-US" dirty="0"/>
                    </a:p>
                  </a:txBody>
                  <a:tcPr/>
                </a:tc>
                <a:tc>
                  <a:txBody>
                    <a:bodyPr/>
                    <a:lstStyle/>
                    <a:p>
                      <a:pPr algn="ctr">
                        <a:lnSpc>
                          <a:spcPct val="150000"/>
                        </a:lnSpc>
                      </a:pPr>
                      <a:r>
                        <a:rPr lang="en-US" altLang="zh-CN" dirty="0"/>
                        <a:t>985</a:t>
                      </a:r>
                      <a:endParaRPr lang="zh-CN" altLang="en-US" dirty="0"/>
                    </a:p>
                  </a:txBody>
                  <a:tcPr/>
                </a:tc>
                <a:tc>
                  <a:txBody>
                    <a:bodyPr/>
                    <a:lstStyle/>
                    <a:p>
                      <a:pPr algn="ctr">
                        <a:lnSpc>
                          <a:spcPct val="150000"/>
                        </a:lnSpc>
                      </a:pPr>
                      <a:r>
                        <a:rPr lang="en-US" altLang="zh-CN" dirty="0"/>
                        <a:t>1218</a:t>
                      </a:r>
                      <a:endParaRPr lang="zh-CN" altLang="en-US" dirty="0"/>
                    </a:p>
                  </a:txBody>
                  <a:tcPr/>
                </a:tc>
                <a:tc>
                  <a:txBody>
                    <a:bodyPr/>
                    <a:lstStyle/>
                    <a:p>
                      <a:pPr algn="ctr">
                        <a:lnSpc>
                          <a:spcPct val="150000"/>
                        </a:lnSpc>
                      </a:pPr>
                      <a:r>
                        <a:rPr lang="en-US" altLang="zh-CN" dirty="0"/>
                        <a:t>991</a:t>
                      </a:r>
                      <a:endParaRPr lang="zh-CN" altLang="en-US" dirty="0"/>
                    </a:p>
                  </a:txBody>
                  <a:tcPr/>
                </a:tc>
                <a:tc>
                  <a:txBody>
                    <a:bodyPr/>
                    <a:lstStyle/>
                    <a:p>
                      <a:pPr algn="ctr">
                        <a:lnSpc>
                          <a:spcPct val="150000"/>
                        </a:lnSpc>
                      </a:pPr>
                      <a:r>
                        <a:rPr lang="en-US" altLang="zh-CN" dirty="0"/>
                        <a:t>1044</a:t>
                      </a:r>
                      <a:endParaRPr lang="zh-CN" altLang="en-US" dirty="0"/>
                    </a:p>
                  </a:txBody>
                  <a:tcPr/>
                </a:tc>
                <a:extLst>
                  <a:ext uri="{0D108BD9-81ED-4DB2-BD59-A6C34878D82A}">
                    <a16:rowId xmlns="" xmlns:a16="http://schemas.microsoft.com/office/drawing/2014/main" val="1226990240"/>
                  </a:ext>
                </a:extLst>
              </a:tr>
            </a:tbl>
          </a:graphicData>
        </a:graphic>
      </p:graphicFrame>
    </p:spTree>
    <p:extLst>
      <p:ext uri="{BB962C8B-B14F-4D97-AF65-F5344CB8AC3E}">
        <p14:creationId xmlns:p14="http://schemas.microsoft.com/office/powerpoint/2010/main" val="1327753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pitchFamily="49" charset="-122"/>
                <a:ea typeface="隶书" panose="02010509060101010101" pitchFamily="49" charset="-122"/>
              </a:rPr>
              <a:t>实验结果分析</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692696"/>
            <a:ext cx="8748464" cy="5760640"/>
          </a:xfrm>
        </p:spPr>
        <p:txBody>
          <a:bodyPr/>
          <a:lstStyle/>
          <a:p>
            <a:pPr>
              <a:defRPr/>
            </a:pPr>
            <a:r>
              <a:rPr lang="zh-CN" altLang="en-US" dirty="0"/>
              <a:t>误差：</a:t>
            </a:r>
            <a:endParaRPr lang="en-US" altLang="zh-CN" dirty="0"/>
          </a:p>
          <a:p>
            <a:pPr>
              <a:buFont typeface="Wingdings" pitchFamily="2" charset="2"/>
              <a:buChar char="l"/>
              <a:defRPr/>
            </a:pPr>
            <a:r>
              <a:rPr lang="zh-CN" altLang="en-US" b="0" dirty="0"/>
              <a:t>由于时间关系，实验的次数只有一次，可能由于运气原因或者服务器性能导致误差产生：</a:t>
            </a:r>
            <a:endParaRPr lang="en-US" altLang="zh-CN" b="0" dirty="0"/>
          </a:p>
          <a:p>
            <a:pPr>
              <a:buFont typeface="Wingdings" pitchFamily="2" charset="2"/>
              <a:buChar char="l"/>
              <a:defRPr/>
            </a:pPr>
            <a:endParaRPr lang="en-US" altLang="zh-CN" b="0" dirty="0"/>
          </a:p>
          <a:p>
            <a:pPr>
              <a:buFont typeface="Wingdings" charset="2"/>
              <a:buChar char="l"/>
              <a:defRPr/>
            </a:pPr>
            <a:r>
              <a:rPr lang="zh-CN" altLang="en-US" b="0" dirty="0"/>
              <a:t>在</a:t>
            </a:r>
            <a:r>
              <a:rPr lang="en-US" altLang="zh-CN" b="0" dirty="0"/>
              <a:t>《</a:t>
            </a:r>
            <a:r>
              <a:rPr lang="en" altLang="zh-CN" b="0" dirty="0"/>
              <a:t>Coverage-based Greybox Fuzzing as Markov Chain》</a:t>
            </a:r>
            <a:r>
              <a:rPr lang="zh-CN" altLang="en" b="0" dirty="0"/>
              <a:t>作者</a:t>
            </a:r>
            <a:r>
              <a:rPr lang="zh-CN" altLang="en-US" b="0" dirty="0"/>
              <a:t>使用</a:t>
            </a:r>
            <a:r>
              <a:rPr lang="en-US" altLang="zh-CN" b="0" dirty="0" err="1"/>
              <a:t>AFLfast</a:t>
            </a:r>
            <a:r>
              <a:rPr lang="zh-CN" altLang="en-US" b="0" dirty="0"/>
              <a:t>对</a:t>
            </a:r>
            <a:r>
              <a:rPr lang="en-US" altLang="zh-CN" b="0" dirty="0" err="1"/>
              <a:t>objdump</a:t>
            </a:r>
            <a:r>
              <a:rPr lang="zh-CN" altLang="en-US" b="0" dirty="0"/>
              <a:t>进行模糊测试</a:t>
            </a:r>
            <a:r>
              <a:rPr lang="en-US" altLang="zh-CN" b="0" dirty="0"/>
              <a:t>(</a:t>
            </a:r>
            <a:r>
              <a:rPr lang="zh-CN" altLang="en-US" b="0" dirty="0"/>
              <a:t>运行</a:t>
            </a:r>
            <a:r>
              <a:rPr lang="en-US" altLang="zh-CN" b="0" dirty="0"/>
              <a:t>6</a:t>
            </a:r>
            <a:r>
              <a:rPr lang="zh-CN" altLang="en-US" b="0" dirty="0"/>
              <a:t>个小时，</a:t>
            </a:r>
            <a:r>
              <a:rPr lang="en" altLang="zh-CN" dirty="0"/>
              <a:t> </a:t>
            </a:r>
            <a:r>
              <a:rPr lang="en-US" altLang="zh-CN" b="0" dirty="0"/>
              <a:t>64</a:t>
            </a:r>
            <a:r>
              <a:rPr lang="zh-CN" altLang="en-US" b="0" dirty="0"/>
              <a:t>位机</a:t>
            </a:r>
            <a:r>
              <a:rPr lang="zh-CN" altLang="en-US" dirty="0"/>
              <a:t> </a:t>
            </a:r>
            <a:r>
              <a:rPr lang="en" altLang="zh-CN" b="0" dirty="0"/>
              <a:t>40 cores (2.6 GHz IntelR XeonR E5- 2600), 64GB</a:t>
            </a:r>
            <a:r>
              <a:rPr lang="zh-CN" altLang="en" b="0" dirty="0"/>
              <a:t>内存</a:t>
            </a:r>
            <a:r>
              <a:rPr lang="en-US" altLang="zh-CN" b="0" dirty="0"/>
              <a:t>)</a:t>
            </a:r>
            <a:r>
              <a:rPr lang="zh-CN" altLang="en-US" b="0" dirty="0"/>
              <a:t>获得</a:t>
            </a:r>
            <a:r>
              <a:rPr lang="en-US" altLang="zh-CN" b="0" dirty="0"/>
              <a:t>30 unique</a:t>
            </a:r>
            <a:r>
              <a:rPr lang="zh-CN" altLang="en-US" b="0" dirty="0"/>
              <a:t> </a:t>
            </a:r>
            <a:r>
              <a:rPr lang="en-US" altLang="zh-CN" b="0" dirty="0"/>
              <a:t>crashes</a:t>
            </a:r>
            <a:r>
              <a:rPr lang="zh-CN" altLang="en-US" b="0" dirty="0"/>
              <a:t>，而在我们的实验中</a:t>
            </a:r>
            <a:r>
              <a:rPr lang="en-US" altLang="zh-CN" b="0" dirty="0" err="1"/>
              <a:t>AFLfast</a:t>
            </a:r>
            <a:r>
              <a:rPr lang="zh-CN" altLang="en-US" b="0" dirty="0"/>
              <a:t>没有产生任何结果。</a:t>
            </a:r>
            <a:endParaRPr altLang="zh-CN" b="0" dirty="0"/>
          </a:p>
        </p:txBody>
      </p:sp>
      <p:sp>
        <p:nvSpPr>
          <p:cNvPr id="4" name="灯片编号占位符 3">
            <a:extLst>
              <a:ext uri="{FF2B5EF4-FFF2-40B4-BE49-F238E27FC236}">
                <a16:creationId xmlns=""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29</a:t>
            </a:fld>
            <a:endParaRPr lang="zh-CN" altLang="en-US" dirty="0"/>
          </a:p>
        </p:txBody>
      </p:sp>
    </p:spTree>
    <p:extLst>
      <p:ext uri="{BB962C8B-B14F-4D97-AF65-F5344CB8AC3E}">
        <p14:creationId xmlns:p14="http://schemas.microsoft.com/office/powerpoint/2010/main" val="1055355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2"/>
          <p:cNvSpPr>
            <a:spLocks noGrp="1"/>
          </p:cNvSpPr>
          <p:nvPr/>
        </p:nvSpPr>
        <p:spPr>
          <a:xfrm>
            <a:off x="3419475" y="6021388"/>
            <a:ext cx="2432050" cy="425450"/>
          </a:xfrm>
          <a:prstGeom prst="rect">
            <a:avLst/>
          </a:prstGeom>
          <a:noFill/>
          <a:ln w="9525">
            <a:noFill/>
            <a:miter/>
          </a:ln>
        </p:spPr>
        <p:txBody>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endParaRPr lang="en-US" altLang="zh-CN" sz="2800" b="1" noProof="1">
              <a:solidFill>
                <a:schemeClr val="accent1">
                  <a:lumMod val="50000"/>
                </a:schemeClr>
              </a:solidFill>
              <a:effectLst>
                <a:outerShdw blurRad="38100" dist="38100" dir="2700000" algn="tl">
                  <a:srgbClr val="000000">
                    <a:alpha val="43137"/>
                  </a:srgbClr>
                </a:outerShdw>
              </a:effectLst>
              <a:latin typeface="Californian FB" pitchFamily="18" charset="0"/>
              <a:ea typeface="方正姚体" charset="0"/>
            </a:endParaRPr>
          </a:p>
        </p:txBody>
      </p:sp>
      <p:sp>
        <p:nvSpPr>
          <p:cNvPr id="9" name="文本框 8"/>
          <p:cNvSpPr txBox="1"/>
          <p:nvPr/>
        </p:nvSpPr>
        <p:spPr>
          <a:xfrm>
            <a:off x="1988" y="-72000"/>
            <a:ext cx="9142012" cy="523220"/>
          </a:xfrm>
          <a:prstGeom prst="rect">
            <a:avLst/>
          </a:prstGeom>
          <a:solidFill>
            <a:srgbClr val="D8F6F8"/>
          </a:solidFill>
        </p:spPr>
        <p:txBody>
          <a:bodyPr wrap="square">
            <a:spAutoFit/>
          </a:bodyPr>
          <a:lstStyle/>
          <a:p>
            <a:pPr algn="ctr" eaLnBrk="1" hangingPunct="1">
              <a:buFont typeface="Arial" panose="020B0604020202020204" pitchFamily="34" charset="0"/>
              <a:buNone/>
              <a:defRPr/>
            </a:pPr>
            <a:r>
              <a:rPr lang="zh-CN" altLang="en-US" sz="2800" b="1" noProof="1">
                <a:solidFill>
                  <a:srgbClr val="622820"/>
                </a:solidFill>
                <a:effectLst>
                  <a:outerShdw blurRad="38100" dist="38100" dir="2700000" algn="tl">
                    <a:srgbClr val="000000">
                      <a:alpha val="43137"/>
                    </a:srgbClr>
                  </a:outerShdw>
                </a:effectLst>
                <a:latin typeface="隶书" charset="0"/>
                <a:ea typeface="隶书" charset="0"/>
                <a:cs typeface="+mn-ea"/>
                <a:sym typeface="+mn-ea"/>
              </a:rPr>
              <a:t>中国科学院大学网络空间安全学院专业研讨课</a:t>
            </a:r>
            <a:endParaRPr lang="zh-CN" altLang="en-US" sz="2800" b="1" noProof="1">
              <a:solidFill>
                <a:srgbClr val="622820"/>
              </a:solidFill>
              <a:effectLst>
                <a:outerShdw blurRad="38100" dist="38100" dir="2700000" algn="tl">
                  <a:srgbClr val="000000">
                    <a:alpha val="43137"/>
                  </a:srgbClr>
                </a:outerShdw>
              </a:effectLst>
              <a:latin typeface="隶书" charset="0"/>
              <a:ea typeface="隶书" charset="0"/>
              <a:sym typeface="+mn-ea"/>
            </a:endParaRPr>
          </a:p>
        </p:txBody>
      </p:sp>
      <p:sp>
        <p:nvSpPr>
          <p:cNvPr id="10" name="副标题 2">
            <a:extLst>
              <a:ext uri="{FF2B5EF4-FFF2-40B4-BE49-F238E27FC236}">
                <a16:creationId xmlns="" xmlns:a16="http://schemas.microsoft.com/office/drawing/2014/main" id="{983AECA0-8A39-4344-B081-978A1FB8B3F5}"/>
              </a:ext>
            </a:extLst>
          </p:cNvPr>
          <p:cNvSpPr>
            <a:spLocks noGrp="1"/>
          </p:cNvSpPr>
          <p:nvPr/>
        </p:nvSpPr>
        <p:spPr>
          <a:xfrm>
            <a:off x="2843808" y="2487118"/>
            <a:ext cx="2880201" cy="1498600"/>
          </a:xfrm>
          <a:prstGeom prst="rect">
            <a:avLst/>
          </a:prstGeom>
          <a:noFill/>
          <a:ln w="9525">
            <a:noFill/>
            <a:miter/>
          </a:ln>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CN" sz="9600" b="1" spc="50" noProof="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ootlight MT Light" pitchFamily="18" charset="0"/>
                <a:ea typeface="楷体" charset="0"/>
              </a:rPr>
              <a:t>Q&amp;A</a:t>
            </a:r>
            <a:endParaRPr lang="zh-CN" altLang="en-US" sz="9600" b="1" spc="50" noProof="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ootlight MT Light" pitchFamily="18" charset="0"/>
              <a:ea typeface="楷体" charset="0"/>
            </a:endParaRPr>
          </a:p>
          <a:p>
            <a:pPr>
              <a:defRPr/>
            </a:pPr>
            <a:endParaRPr lang="zh-CN" altLang="en-US" sz="5400" b="1" spc="50" noProof="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楷体" charset="0"/>
              <a:ea typeface="楷体" charset="0"/>
            </a:endParaRPr>
          </a:p>
        </p:txBody>
      </p:sp>
      <p:sp>
        <p:nvSpPr>
          <p:cNvPr id="2" name="文本占位符 1"/>
          <p:cNvSpPr>
            <a:spLocks noGrp="1"/>
          </p:cNvSpPr>
          <p:nvPr>
            <p:ph type="body" idx="1"/>
          </p:nvPr>
        </p:nvSpPr>
        <p:spPr/>
        <p:txBody>
          <a:bodyPr/>
          <a:lstStyle/>
          <a:p>
            <a:endParaRPr lang="zh-CN" altLang="en-US"/>
          </a:p>
        </p:txBody>
      </p:sp>
      <p:sp>
        <p:nvSpPr>
          <p:cNvPr id="4" name="灯片编号占位符 3">
            <a:extLst>
              <a:ext uri="{FF2B5EF4-FFF2-40B4-BE49-F238E27FC236}">
                <a16:creationId xmlns="" xmlns:a16="http://schemas.microsoft.com/office/drawing/2014/main" id="{E8FE9FF6-9B70-BD47-867F-3191B749762A}"/>
              </a:ext>
            </a:extLst>
          </p:cNvPr>
          <p:cNvSpPr>
            <a:spLocks noGrp="1"/>
          </p:cNvSpPr>
          <p:nvPr>
            <p:ph type="sldNum" sz="quarter" idx="10"/>
          </p:nvPr>
        </p:nvSpPr>
        <p:spPr/>
        <p:txBody>
          <a:bodyPr/>
          <a:lstStyle/>
          <a:p>
            <a:fld id="{8A6D26B4-866C-4665-A6B1-E1D86A7FEB5A}" type="slidenum">
              <a:rPr lang="zh-CN" altLang="en-US" smtClean="0"/>
              <a:pPr/>
              <a:t>30</a:t>
            </a:fld>
            <a:endParaRPr lang="zh-CN" altLang="en-US" dirty="0"/>
          </a:p>
        </p:txBody>
      </p:sp>
    </p:spTree>
    <p:custDataLst>
      <p:tags r:id="rId1"/>
    </p:custDataLst>
    <p:extLst>
      <p:ext uri="{BB962C8B-B14F-4D97-AF65-F5344CB8AC3E}">
        <p14:creationId xmlns:p14="http://schemas.microsoft.com/office/powerpoint/2010/main" val="1863226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457"/>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457"/>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457"/>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457"/>
</p:tagLst>
</file>

<file path=ppt/tags/tag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457"/>
</p:tagLst>
</file>

<file path=ppt/theme/theme1.xml><?xml version="1.0" encoding="utf-8"?>
<a:theme xmlns:a="http://schemas.openxmlformats.org/drawingml/2006/main" name="A000120140530A99PPBG">
  <a:themeElements>
    <a:clrScheme name="457.17">
      <a:dk1>
        <a:srgbClr val="47494B"/>
      </a:dk1>
      <a:lt1>
        <a:srgbClr val="FFFFFF"/>
      </a:lt1>
      <a:dk2>
        <a:srgbClr val="454749"/>
      </a:dk2>
      <a:lt2>
        <a:srgbClr val="FFFFFF"/>
      </a:lt2>
      <a:accent1>
        <a:srgbClr val="22B1DE"/>
      </a:accent1>
      <a:accent2>
        <a:srgbClr val="0B99F9"/>
      </a:accent2>
      <a:accent3>
        <a:srgbClr val="7B93D7"/>
      </a:accent3>
      <a:accent4>
        <a:srgbClr val="8980CE"/>
      </a:accent4>
      <a:accent5>
        <a:srgbClr val="3DBFD1"/>
      </a:accent5>
      <a:accent6>
        <a:srgbClr val="FFC000"/>
      </a:accent6>
      <a:hlink>
        <a:srgbClr val="92D050"/>
      </a:hlink>
      <a:folHlink>
        <a:srgbClr val="AFB2B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软件安全与脆弱性分析2017秋季（高对比度，自用模板）" id="{94E05BF4-BF8E-413D-A4B3-622970EC04C7}" vid="{A615E6FF-DD63-489A-B130-35253202B7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软件安全原理(2018-2019秋季） 课程设计 zw 201806</Template>
  <TotalTime>16465</TotalTime>
  <Pages>0</Pages>
  <Words>1995</Words>
  <Characters>0</Characters>
  <Application>Microsoft Macintosh PowerPoint</Application>
  <DocSecurity>0</DocSecurity>
  <PresentationFormat>全屏显示(4:3)</PresentationFormat>
  <Lines>0</Lines>
  <Paragraphs>441</Paragraphs>
  <Slides>30</Slides>
  <Notes>18</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30</vt:i4>
      </vt:variant>
    </vt:vector>
  </HeadingPairs>
  <TitlesOfParts>
    <vt:vector size="48" baseType="lpstr">
      <vt:lpstr>Arial Narrow</vt:lpstr>
      <vt:lpstr>Bodoni MT Condensed</vt:lpstr>
      <vt:lpstr>Calibri</vt:lpstr>
      <vt:lpstr>Californian FB</vt:lpstr>
      <vt:lpstr>Cambria Math</vt:lpstr>
      <vt:lpstr>Footlight MT Light</vt:lpstr>
      <vt:lpstr>Times New Roman</vt:lpstr>
      <vt:lpstr>Wingdings</vt:lpstr>
      <vt:lpstr>方正姚体</vt:lpstr>
      <vt:lpstr>黑体</vt:lpstr>
      <vt:lpstr>华文中宋</vt:lpstr>
      <vt:lpstr>楷体</vt:lpstr>
      <vt:lpstr>隶书</vt:lpstr>
      <vt:lpstr>宋体</vt:lpstr>
      <vt:lpstr>微软雅黑</vt:lpstr>
      <vt:lpstr>幼圆</vt:lpstr>
      <vt:lpstr>Arial</vt:lpstr>
      <vt:lpstr>A000120140530A99PPBG</vt:lpstr>
      <vt:lpstr>PowerPoint 演示文稿</vt:lpstr>
      <vt:lpstr>PowerPoint 演示文稿</vt:lpstr>
      <vt:lpstr>PowerPoint 演示文稿</vt:lpstr>
      <vt:lpstr>AFL回顾</vt:lpstr>
      <vt:lpstr>AFL回顾</vt:lpstr>
      <vt:lpstr>AFL回顾：如何生成新的测试用例</vt:lpstr>
      <vt:lpstr>AFL改进</vt:lpstr>
      <vt:lpstr>AFL改进：AFLfast</vt:lpstr>
      <vt:lpstr>AFL改进：AFLfast</vt:lpstr>
      <vt:lpstr>AFLfast：选择策略</vt:lpstr>
      <vt:lpstr>AFLfast：能量分配策略</vt:lpstr>
      <vt:lpstr>AFLfast：能量分配策略</vt:lpstr>
      <vt:lpstr>AFL改进： Hawkeye</vt:lpstr>
      <vt:lpstr>AFL改进：Hawkeye</vt:lpstr>
      <vt:lpstr>Hawkeye：能量分配策略</vt:lpstr>
      <vt:lpstr>Hawkeye：能量分配策略</vt:lpstr>
      <vt:lpstr>实验</vt:lpstr>
      <vt:lpstr>实验设计</vt:lpstr>
      <vt:lpstr>AFL分析</vt:lpstr>
      <vt:lpstr>struct queue_entry</vt:lpstr>
      <vt:lpstr>update_bitmap_score()                    搜索策略</vt:lpstr>
      <vt:lpstr>calculate_score()                        能量分配</vt:lpstr>
      <vt:lpstr>实验</vt:lpstr>
      <vt:lpstr>实验结果</vt:lpstr>
      <vt:lpstr>实验：</vt:lpstr>
      <vt:lpstr>实验结果分析</vt:lpstr>
      <vt:lpstr>实验结果分析</vt:lpstr>
      <vt:lpstr>实验结果分析</vt:lpstr>
      <vt:lpstr>实验结果分析</vt:lpstr>
      <vt:lpstr>PowerPoint 演示文稿</vt:lpstr>
    </vt:vector>
  </TitlesOfParts>
  <LinksUpToDate>false</LinksUpToDate>
  <CharactersWithSpaces>0</CharactersWithSpaces>
  <SharedDoc>false</SharedDoc>
  <HyperlinksChanged>false</HyperlinksChanged>
  <AppVersion>15.0040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邹维</dc:creator>
  <cp:lastModifiedBy>Microsoft Office 用户</cp:lastModifiedBy>
  <cp:revision>244</cp:revision>
  <dcterms:created xsi:type="dcterms:W3CDTF">2018-06-26T07:11:17Z</dcterms:created>
  <dcterms:modified xsi:type="dcterms:W3CDTF">2019-10-15T10:48:14Z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